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notesMasterIdLst>
    <p:notesMasterId r:id="rId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minutes, 6 speakers. Slide 1 = speakers 1-3 (about 3:10).
SPEAKER 1 (45s) - WHERE WE STAND. Meridian is the account director on a 78 million euro, 60,000-cooler programme. Frostline has held this estate for twenty-two years and seventy per cent of it. We have one 900-unit pilot from 2021 and no relationship above middle management; our last meeting was seven months ago and we heard about the programme three weeks ago, second-hand. The point of the slide: two things forced this decision - the F-gas phase-down and a published 2030 emissions target - and neither of them is about coolers. Which is why the tender is not the contest. The eight weeks before it is.
SPEAKER 2 (75s) - BATTLE CARD, FROSTLINE. Their pitch is continuity at the lowest cost. Two genuinely strong claims: cheapest unit price plus existing integration with ABP's maintenance scheduling, and the only proven ability to swap units across 48,000 outlets without stopping chilled sales. Two real vulnerabilities: two of their three refrigerant platforms are hit by F-gas, so over five years the safe bid is the one carrying the regulatory risk; and they have no telemetry beyond an alarm contact, with an account team that has not been above Rousseau in four years. We surface both without naming them - read the three discovery questions. And the one proof point we must have before any of this lands: audited uptime and lost-volume data from our own Portugal estate, cross-checked against ABP's own service records.
SPEAKER 3 (70s) - FOUR CORNERS AND OUR APPROACH. Porter's harder question. Frostline assumes field operations decide and that price won in 2019 so price wins in 2026; and that ABP is buying coolers, not data. Both are wrong, because the decision was not triggered by equipment failure - it was triggered by regulation and a board emissions target, and the people who forced it are people Frostline has not met in four years. Their strength is their blind spot. So our approach is disruption, not domination - we do not have the resources for domination, and we are not the incumbent, so blocking is not available to us. We change the criteria before they are written: from unit price to five-year compliance-adjusted cost per outlet-day of availability. We are wrong if Beck and Marchand have already fixed the basis on price, or if Diallo's mandate carries no weight in the scoring. If we find that out, we switch to segmentation and bid a carve-out.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 speakers 4-6 (about 3:30).
SPEAKER 4 (70s) - THE BUYING CENTRE. Ten people, six formal votes - so the committee is not the buying centre. Power on one axis, interest in CHANGING the current arrangement on the other. Top left, high power and no interest in change: Marchand chairs the committee and ran the 2019 tender that awarded Frostline, so change means her own decision was wrong, and she is publicly committed to six per cent cost reduction; Rousseau has 400 technicians and says openly the estate works fine; Fontaine sees the recommendation once. Top right: Beck owns the budget and has not formed a view - he is the prize; Diallo has a board-level, non-negotiable mandate; Sanchez writes the document. Bottom right, high interest and little power: Kovac has a pilot budget, Lefebvre has the Friday-in-July problem and is our best source of evidence. Bottom left, the two late vetoes: Haddad on data terms, and the franchisor, who is not on the org chart at all and can veto anything that touches how the cooler looks. Three places the org chart is wrong: Sanchez sits four levels down and writes the requirement; Rousseau has no budget authority and can still kill us in evaluation; Diallo has no vote and is the reason the programme exists.
SPEAKER 5 (70s) - THE MENTOR. Amara Diallo. What she wants and cannot currently get: a costed, credible path to the 2030 target and the F-gas transition. She owns the outcome and holds neither budget nor vote - and note the detail in the case: she presented to the board in January, Beck was in the room, Marchand was not. The person chairing the evaluation was absent for the reason the programme exists. We ask her for two things: the two criteria that must be in the document, and an introduction to Beck. We give her something she can use internally - an estate-level F-gas and emissions cost model she tables in her own name. Now the trap. Kovac looks exactly like a mentor: enthusiastic, technical, already building a telemetry case, and she will take every meeting. But she is fourteen months in, has a pilot budget only, and has twice asked her own IT team about joining cooler data to outlet sales without ever raising it with procurement. Enthusiasm is not influence. How we find out: we ask her to spend capital, not time. Will you put the telemetry requirements to Sanchez in writing and co-sign them? A mentor spends internal capital; a fan gives you a meeting.
SPEAKER 6 (70s) - THE EIGHT WEEKS. Five moves, in order. One, Diallo: build the F-gas and cost-of-inaction model in her name - that makes compliance and emissions scored criteria rather than preferences. Two, test Kovac and then co-author the data specification - open API, door-open events, outlet-level join - which writes in requirements a basic alarm contact cannot meet. Three, neutralise Rousseau: not a pitch, his own technicians reading our Portugal uptime data on his terms. This one changes nothing in the document, and we have to justify it: without him neutral, the user buyer kills the winner during evaluation, so it protects the value of the other four. Four, re-base Beck's economics onto cost per outlet-day of availability over five years, which moves the evaluation off unit price. Five, Sanchez and Haddad: the bidder list, the Q&amp;A rules, and a data-processing annex offered before Legal is asked to block. Four of the five change the document. If we are still explaining our telemetry to Sanchez in week nine, we have already lost.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B33"/>
        </a:solidFill>
      </p:bgPr>
    </p:bg>
    <p:spTree>
      <p:nvGrpSpPr>
        <p:cNvPr id="1" name=""/>
        <p:cNvGrpSpPr/>
        <p:nvPr/>
      </p:nvGrpSpPr>
      <p:grpSpPr>
        <a:xfrm>
          <a:off x="0" y="0"/>
          <a:ext cx="0" cy="0"/>
          <a:chOff x="0" y="0"/>
          <a:chExt cx="0" cy="0"/>
        </a:xfrm>
      </p:grpSpPr>
      <p:sp>
        <p:nvSpPr>
          <p:cNvPr id="2" name="Text 0"/>
          <p:cNvSpPr txBox="1"/>
          <p:nvPr/>
        </p:nvSpPr>
        <p:spPr>
          <a:xfrm>
            <a:off x="502920" y="256032"/>
            <a:ext cx="7498080" cy="438912"/>
          </a:xfrm>
          <a:prstGeom prst="rect">
            <a:avLst/>
          </a:prstGeom>
          <a:noFill/>
          <a:ln/>
        </p:spPr>
        <p:txBody>
          <a:bodyPr wrap="square" lIns="0" tIns="0" rIns="0" bIns="0" rtlCol="0" anchor="ctr"/>
          <a:lstStyle/>
          <a:p>
            <a:pPr indent="0" marL="0">
              <a:buNone/>
            </a:pPr>
            <a:r>
              <a:rPr lang="en-US" sz="2700" b="1" dirty="0">
                <a:solidFill>
                  <a:srgbClr val="FFFFFF"/>
                </a:solidFill>
                <a:latin typeface="Cambria" pitchFamily="34" charset="0"/>
                <a:ea typeface="Cambria" pitchFamily="34" charset="-122"/>
                <a:cs typeface="Cambria" pitchFamily="34" charset="-120"/>
              </a:rPr>
              <a:t>The ABP Project</a:t>
            </a:r>
            <a:endParaRPr lang="en-US" sz="2700" dirty="0"/>
          </a:p>
        </p:txBody>
      </p:sp>
      <p:sp>
        <p:nvSpPr>
          <p:cNvPr id="3" name="Text 1"/>
          <p:cNvSpPr txBox="1"/>
          <p:nvPr/>
        </p:nvSpPr>
        <p:spPr>
          <a:xfrm>
            <a:off x="512064" y="694944"/>
            <a:ext cx="7498080" cy="237744"/>
          </a:xfrm>
          <a:prstGeom prst="rect">
            <a:avLst/>
          </a:prstGeom>
          <a:noFill/>
          <a:ln/>
        </p:spPr>
        <p:txBody>
          <a:bodyPr wrap="square" lIns="0" tIns="0" rIns="0" bIns="0" rtlCol="0" anchor="ctr"/>
          <a:lstStyle/>
          <a:p>
            <a:pPr indent="0" marL="0">
              <a:buNone/>
            </a:pPr>
            <a:r>
              <a:rPr lang="en-US" sz="1000" dirty="0">
                <a:solidFill>
                  <a:srgbClr val="8FB4BE"/>
                </a:solidFill>
                <a:latin typeface="Calibri" pitchFamily="34" charset="0"/>
                <a:ea typeface="Calibri" pitchFamily="34" charset="-122"/>
                <a:cs typeface="Calibri" pitchFamily="34" charset="-120"/>
              </a:rPr>
              <a:t>€ 78 m · 60,000 coolers · five years · the RFP has not been written yet</a:t>
            </a:r>
            <a:endParaRPr lang="en-US" sz="1000" dirty="0"/>
          </a:p>
        </p:txBody>
      </p:sp>
      <p:sp>
        <p:nvSpPr>
          <p:cNvPr id="4" name="Text 2"/>
          <p:cNvSpPr txBox="1"/>
          <p:nvPr/>
        </p:nvSpPr>
        <p:spPr>
          <a:xfrm>
            <a:off x="8138160" y="274320"/>
            <a:ext cx="3566160" cy="219456"/>
          </a:xfrm>
          <a:prstGeom prst="rect">
            <a:avLst/>
          </a:prstGeom>
          <a:noFill/>
          <a:ln/>
        </p:spPr>
        <p:txBody>
          <a:bodyPr wrap="square" lIns="0" tIns="0" rIns="0" bIns="0" rtlCol="0" anchor="ctr"/>
          <a:lstStyle/>
          <a:p>
            <a:pPr algn="r" indent="0" marL="0">
              <a:buNone/>
            </a:pPr>
            <a:r>
              <a:rPr lang="en-US" sz="850" b="1" spc="80" kern="0" dirty="0">
                <a:solidFill>
                  <a:srgbClr val="F2A33C"/>
                </a:solidFill>
                <a:latin typeface="Calibri" pitchFamily="34" charset="0"/>
                <a:ea typeface="Calibri" pitchFamily="34" charset="-122"/>
                <a:cs typeface="Calibri" pitchFamily="34" charset="-120"/>
              </a:rPr>
              <a:t>TASKS 1 &amp; 2  ·  COMPETITOR ANALYSIS AND APPROACH</a:t>
            </a:r>
            <a:endParaRPr lang="en-US" sz="850" dirty="0"/>
          </a:p>
        </p:txBody>
      </p:sp>
      <p:sp>
        <p:nvSpPr>
          <p:cNvPr id="5" name="Text 3"/>
          <p:cNvSpPr txBox="1"/>
          <p:nvPr/>
        </p:nvSpPr>
        <p:spPr>
          <a:xfrm>
            <a:off x="8138160" y="530352"/>
            <a:ext cx="3566160" cy="219456"/>
          </a:xfrm>
          <a:prstGeom prst="rect">
            <a:avLst/>
          </a:prstGeom>
          <a:noFill/>
          <a:ln/>
        </p:spPr>
        <p:txBody>
          <a:bodyPr wrap="square" lIns="0" tIns="0" rIns="0" bIns="0" rtlCol="0" anchor="ctr"/>
          <a:lstStyle/>
          <a:p>
            <a:pPr algn="r" indent="0" marL="0">
              <a:buNone/>
            </a:pPr>
            <a:r>
              <a:rPr lang="en-US" sz="750" dirty="0">
                <a:solidFill>
                  <a:srgbClr val="8FB4BE"/>
                </a:solidFill>
                <a:latin typeface="Calibri" pitchFamily="34" charset="0"/>
                <a:ea typeface="Calibri" pitchFamily="34" charset="-122"/>
                <a:cs typeface="Calibri" pitchFamily="34" charset="-120"/>
              </a:rPr>
              <a:t>MERIDIAN COLD CHAIN SOLUTIONS  ·  COMPLEX SALES, LESSON 2  ·  M2 NDC, EMLV  ·  1 / 2</a:t>
            </a:r>
            <a:endParaRPr lang="en-US" sz="750" dirty="0"/>
          </a:p>
        </p:txBody>
      </p:sp>
      <p:sp>
        <p:nvSpPr>
          <p:cNvPr id="6" name="Text 4"/>
          <p:cNvSpPr txBox="1"/>
          <p:nvPr/>
        </p:nvSpPr>
        <p:spPr>
          <a:xfrm>
            <a:off x="8156448" y="804672"/>
            <a:ext cx="1170432" cy="274320"/>
          </a:xfrm>
          <a:prstGeom prst="rect">
            <a:avLst/>
          </a:prstGeom>
          <a:noFill/>
          <a:ln/>
        </p:spPr>
        <p:txBody>
          <a:bodyPr wrap="square" lIns="0" tIns="0" rIns="0" bIns="0" rtlCol="0" anchor="ctr"/>
          <a:lstStyle/>
          <a:p>
            <a:pPr algn="r" indent="0" marL="0">
              <a:buNone/>
            </a:pPr>
            <a:r>
              <a:rPr lang="en-US" sz="1600" b="1" dirty="0">
                <a:solidFill>
                  <a:srgbClr val="F2A33C"/>
                </a:solidFill>
                <a:latin typeface="Cambria" pitchFamily="34" charset="0"/>
                <a:ea typeface="Cambria" pitchFamily="34" charset="-122"/>
                <a:cs typeface="Cambria" pitchFamily="34" charset="-120"/>
              </a:rPr>
              <a:t>70 %</a:t>
            </a:r>
            <a:endParaRPr lang="en-US" sz="1600" dirty="0"/>
          </a:p>
        </p:txBody>
      </p:sp>
      <p:sp>
        <p:nvSpPr>
          <p:cNvPr id="7" name="Text 5"/>
          <p:cNvSpPr txBox="1"/>
          <p:nvPr/>
        </p:nvSpPr>
        <p:spPr>
          <a:xfrm>
            <a:off x="8156448" y="1060704"/>
            <a:ext cx="1170432" cy="274320"/>
          </a:xfrm>
          <a:prstGeom prst="rect">
            <a:avLst/>
          </a:prstGeom>
          <a:noFill/>
          <a:ln/>
        </p:spPr>
        <p:txBody>
          <a:bodyPr wrap="square" lIns="0" tIns="0" rIns="0" bIns="0" rtlCol="0" anchor="ctr"/>
          <a:lstStyle/>
          <a:p>
            <a:pPr algn="r" indent="0" marL="0">
              <a:lnSpc>
                <a:spcPct val="95000"/>
              </a:lnSpc>
              <a:buNone/>
            </a:pPr>
            <a:r>
              <a:rPr lang="en-US" sz="700" dirty="0">
                <a:solidFill>
                  <a:srgbClr val="8FB4BE"/>
                </a:solidFill>
                <a:latin typeface="Calibri" pitchFamily="34" charset="0"/>
                <a:ea typeface="Calibri" pitchFamily="34" charset="-122"/>
                <a:cs typeface="Calibri" pitchFamily="34" charset="-120"/>
              </a:rPr>
              <a:t>of the estate is Frostline’s</a:t>
            </a:r>
            <a:endParaRPr lang="en-US" sz="700" dirty="0"/>
          </a:p>
        </p:txBody>
      </p:sp>
      <p:sp>
        <p:nvSpPr>
          <p:cNvPr id="8" name="Text 6"/>
          <p:cNvSpPr txBox="1"/>
          <p:nvPr/>
        </p:nvSpPr>
        <p:spPr>
          <a:xfrm>
            <a:off x="9418320" y="804672"/>
            <a:ext cx="1170432" cy="274320"/>
          </a:xfrm>
          <a:prstGeom prst="rect">
            <a:avLst/>
          </a:prstGeom>
          <a:noFill/>
          <a:ln/>
        </p:spPr>
        <p:txBody>
          <a:bodyPr wrap="square" lIns="0" tIns="0" rIns="0" bIns="0" rtlCol="0" anchor="ctr"/>
          <a:lstStyle/>
          <a:p>
            <a:pPr algn="r" indent="0" marL="0">
              <a:buNone/>
            </a:pPr>
            <a:r>
              <a:rPr lang="en-US" sz="1600" b="1" dirty="0">
                <a:solidFill>
                  <a:srgbClr val="F2A33C"/>
                </a:solidFill>
                <a:latin typeface="Cambria" pitchFamily="34" charset="0"/>
                <a:ea typeface="Cambria" pitchFamily="34" charset="-122"/>
                <a:cs typeface="Cambria" pitchFamily="34" charset="-120"/>
              </a:rPr>
              <a:t>3 wks</a:t>
            </a:r>
            <a:endParaRPr lang="en-US" sz="1600" dirty="0"/>
          </a:p>
        </p:txBody>
      </p:sp>
      <p:sp>
        <p:nvSpPr>
          <p:cNvPr id="9" name="Text 7"/>
          <p:cNvSpPr txBox="1"/>
          <p:nvPr/>
        </p:nvSpPr>
        <p:spPr>
          <a:xfrm>
            <a:off x="9418320" y="1060704"/>
            <a:ext cx="1170432" cy="274320"/>
          </a:xfrm>
          <a:prstGeom prst="rect">
            <a:avLst/>
          </a:prstGeom>
          <a:noFill/>
          <a:ln/>
        </p:spPr>
        <p:txBody>
          <a:bodyPr wrap="square" lIns="0" tIns="0" rIns="0" bIns="0" rtlCol="0" anchor="ctr"/>
          <a:lstStyle/>
          <a:p>
            <a:pPr algn="r" indent="0" marL="0">
              <a:lnSpc>
                <a:spcPct val="95000"/>
              </a:lnSpc>
              <a:buNone/>
            </a:pPr>
            <a:r>
              <a:rPr lang="en-US" sz="700" dirty="0">
                <a:solidFill>
                  <a:srgbClr val="8FB4BE"/>
                </a:solidFill>
                <a:latin typeface="Calibri" pitchFamily="34" charset="0"/>
                <a:ea typeface="Calibri" pitchFamily="34" charset="-122"/>
                <a:cs typeface="Calibri" pitchFamily="34" charset="-120"/>
              </a:rPr>
              <a:t>since we heard, second-hand</a:t>
            </a:r>
            <a:endParaRPr lang="en-US" sz="700" dirty="0"/>
          </a:p>
        </p:txBody>
      </p:sp>
      <p:sp>
        <p:nvSpPr>
          <p:cNvPr id="10" name="Text 8"/>
          <p:cNvSpPr txBox="1"/>
          <p:nvPr/>
        </p:nvSpPr>
        <p:spPr>
          <a:xfrm>
            <a:off x="10680192" y="804672"/>
            <a:ext cx="1170432" cy="274320"/>
          </a:xfrm>
          <a:prstGeom prst="rect">
            <a:avLst/>
          </a:prstGeom>
          <a:noFill/>
          <a:ln/>
        </p:spPr>
        <p:txBody>
          <a:bodyPr wrap="square" lIns="0" tIns="0" rIns="0" bIns="0" rtlCol="0" anchor="ctr"/>
          <a:lstStyle/>
          <a:p>
            <a:pPr algn="r" indent="0" marL="0">
              <a:buNone/>
            </a:pPr>
            <a:r>
              <a:rPr lang="en-US" sz="1600" b="1" dirty="0">
                <a:solidFill>
                  <a:srgbClr val="F2A33C"/>
                </a:solidFill>
                <a:latin typeface="Cambria" pitchFamily="34" charset="0"/>
                <a:ea typeface="Cambria" pitchFamily="34" charset="-122"/>
                <a:cs typeface="Cambria" pitchFamily="34" charset="-120"/>
              </a:rPr>
              <a:t>8–10</a:t>
            </a:r>
            <a:endParaRPr lang="en-US" sz="1600" dirty="0"/>
          </a:p>
        </p:txBody>
      </p:sp>
      <p:sp>
        <p:nvSpPr>
          <p:cNvPr id="11" name="Text 9"/>
          <p:cNvSpPr txBox="1"/>
          <p:nvPr/>
        </p:nvSpPr>
        <p:spPr>
          <a:xfrm>
            <a:off x="10680192" y="1060704"/>
            <a:ext cx="1170432" cy="274320"/>
          </a:xfrm>
          <a:prstGeom prst="rect">
            <a:avLst/>
          </a:prstGeom>
          <a:noFill/>
          <a:ln/>
        </p:spPr>
        <p:txBody>
          <a:bodyPr wrap="square" lIns="0" tIns="0" rIns="0" bIns="0" rtlCol="0" anchor="ctr"/>
          <a:lstStyle/>
          <a:p>
            <a:pPr algn="r" indent="0" marL="0">
              <a:lnSpc>
                <a:spcPct val="95000"/>
              </a:lnSpc>
              <a:buNone/>
            </a:pPr>
            <a:r>
              <a:rPr lang="en-US" sz="700" dirty="0">
                <a:solidFill>
                  <a:srgbClr val="8FB4BE"/>
                </a:solidFill>
                <a:latin typeface="Calibri" pitchFamily="34" charset="0"/>
                <a:ea typeface="Calibri" pitchFamily="34" charset="-122"/>
                <a:cs typeface="Calibri" pitchFamily="34" charset="-120"/>
              </a:rPr>
              <a:t>weeks left to shape it</a:t>
            </a:r>
            <a:endParaRPr lang="en-US" sz="700" dirty="0"/>
          </a:p>
        </p:txBody>
      </p:sp>
      <p:sp>
        <p:nvSpPr>
          <p:cNvPr id="12" name="Shape 10"/>
          <p:cNvSpPr/>
          <p:nvPr/>
        </p:nvSpPr>
        <p:spPr>
          <a:xfrm>
            <a:off x="502920" y="1389888"/>
            <a:ext cx="3246120" cy="5047488"/>
          </a:xfrm>
          <a:prstGeom prst="roundRect">
            <a:avLst>
              <a:gd name="adj" fmla="val 2535"/>
            </a:avLst>
          </a:prstGeom>
          <a:solidFill>
            <a:srgbClr val="123C48"/>
          </a:solidFill>
          <a:ln w="12700">
            <a:solidFill>
              <a:srgbClr val="123C48"/>
            </a:solidFill>
            <a:prstDash val="solid"/>
          </a:ln>
        </p:spPr>
      </p:sp>
      <p:sp>
        <p:nvSpPr>
          <p:cNvPr id="13" name="Shape 11"/>
          <p:cNvSpPr/>
          <p:nvPr/>
        </p:nvSpPr>
        <p:spPr>
          <a:xfrm>
            <a:off x="685800" y="1536192"/>
            <a:ext cx="274320" cy="274320"/>
          </a:xfrm>
          <a:prstGeom prst="ellipse">
            <a:avLst/>
          </a:prstGeom>
          <a:solidFill>
            <a:srgbClr val="F2A33C"/>
          </a:solidFill>
          <a:ln w="12700">
            <a:solidFill>
              <a:srgbClr val="F2A33C"/>
            </a:solidFill>
            <a:prstDash val="solid"/>
          </a:ln>
        </p:spPr>
      </p:sp>
      <p:sp>
        <p:nvSpPr>
          <p:cNvPr id="14" name="Text 12"/>
          <p:cNvSpPr txBox="1"/>
          <p:nvPr/>
        </p:nvSpPr>
        <p:spPr>
          <a:xfrm>
            <a:off x="685800" y="1536192"/>
            <a:ext cx="274320" cy="274320"/>
          </a:xfrm>
          <a:prstGeom prst="rect">
            <a:avLst/>
          </a:prstGeom>
          <a:noFill/>
          <a:ln/>
        </p:spPr>
        <p:txBody>
          <a:bodyPr wrap="square" lIns="0" tIns="0" rIns="0" bIns="0" rtlCol="0" anchor="ctr"/>
          <a:lstStyle/>
          <a:p>
            <a:pPr algn="ctr" indent="0" marL="0">
              <a:buNone/>
            </a:pPr>
            <a:r>
              <a:rPr lang="en-US" sz="1200" b="1" dirty="0">
                <a:solidFill>
                  <a:srgbClr val="0B2B33"/>
                </a:solidFill>
                <a:latin typeface="Calibri" pitchFamily="34" charset="0"/>
                <a:ea typeface="Calibri" pitchFamily="34" charset="-122"/>
                <a:cs typeface="Calibri" pitchFamily="34" charset="-120"/>
              </a:rPr>
              <a:t>1</a:t>
            </a:r>
            <a:endParaRPr lang="en-US" sz="1200" dirty="0"/>
          </a:p>
        </p:txBody>
      </p:sp>
      <p:sp>
        <p:nvSpPr>
          <p:cNvPr id="15" name="Text 13"/>
          <p:cNvSpPr txBox="1"/>
          <p:nvPr/>
        </p:nvSpPr>
        <p:spPr>
          <a:xfrm>
            <a:off x="1051560" y="1517904"/>
            <a:ext cx="1965960" cy="310896"/>
          </a:xfrm>
          <a:prstGeom prst="rect">
            <a:avLst/>
          </a:prstGeom>
          <a:noFill/>
          <a:ln/>
        </p:spPr>
        <p:txBody>
          <a:bodyPr wrap="square" lIns="0" tIns="0" rIns="0" bIns="0" rtlCol="0" anchor="ctr"/>
          <a:lstStyle/>
          <a:p>
            <a:pPr indent="0" marL="0">
              <a:buNone/>
            </a:pPr>
            <a:r>
              <a:rPr lang="en-US" sz="1350" b="1" dirty="0">
                <a:solidFill>
                  <a:srgbClr val="FFFFFF"/>
                </a:solidFill>
                <a:latin typeface="Cambria" pitchFamily="34" charset="0"/>
                <a:ea typeface="Cambria" pitchFamily="34" charset="-122"/>
                <a:cs typeface="Cambria" pitchFamily="34" charset="-120"/>
              </a:rPr>
              <a:t>WHERE WE STAND</a:t>
            </a:r>
            <a:endParaRPr lang="en-US" sz="1350" dirty="0"/>
          </a:p>
        </p:txBody>
      </p:sp>
      <p:sp>
        <p:nvSpPr>
          <p:cNvPr id="16" name="Text 14"/>
          <p:cNvSpPr txBox="1"/>
          <p:nvPr/>
        </p:nvSpPr>
        <p:spPr>
          <a:xfrm>
            <a:off x="3054096" y="1517904"/>
            <a:ext cx="502920" cy="310896"/>
          </a:xfrm>
          <a:prstGeom prst="rect">
            <a:avLst/>
          </a:prstGeom>
          <a:noFill/>
          <a:ln/>
        </p:spPr>
        <p:txBody>
          <a:bodyPr wrap="square" lIns="0" tIns="0" rIns="0" bIns="0" rtlCol="0" anchor="ctr"/>
          <a:lstStyle/>
          <a:p>
            <a:pPr algn="l" indent="0" marL="0">
              <a:buNone/>
            </a:pPr>
            <a:r>
              <a:rPr lang="en-US" sz="900" dirty="0">
                <a:solidFill>
                  <a:srgbClr val="8FB4BE"/>
                </a:solidFill>
                <a:latin typeface="Calibri" pitchFamily="34" charset="0"/>
                <a:ea typeface="Calibri" pitchFamily="34" charset="-122"/>
                <a:cs typeface="Calibri" pitchFamily="34" charset="-120"/>
              </a:rPr>
              <a:t>45 s</a:t>
            </a:r>
            <a:endParaRPr lang="en-US" sz="900" dirty="0"/>
          </a:p>
        </p:txBody>
      </p:sp>
      <p:sp>
        <p:nvSpPr>
          <p:cNvPr id="17" name="Text 15"/>
          <p:cNvSpPr txBox="1"/>
          <p:nvPr/>
        </p:nvSpPr>
        <p:spPr>
          <a:xfrm>
            <a:off x="685800" y="1938528"/>
            <a:ext cx="2880360" cy="1207008"/>
          </a:xfrm>
          <a:prstGeom prst="rect">
            <a:avLst/>
          </a:prstGeom>
          <a:noFill/>
          <a:ln/>
        </p:spPr>
        <p:txBody>
          <a:bodyPr wrap="square" lIns="0" tIns="0" rIns="0" bIns="0" rtlCol="0" anchor="t"/>
          <a:lstStyle/>
          <a:p>
            <a:pPr marL="139700" indent="-139700">
              <a:lnSpc>
                <a:spcPct val="102000"/>
              </a:lnSpc>
              <a:spcAft>
                <a:spcPts val="400"/>
              </a:spcAft>
              <a:buSzPct val="100000"/>
              <a:buChar char="•"/>
            </a:pPr>
            <a:r>
              <a:rPr lang="en-US" sz="950" dirty="0">
                <a:solidFill>
                  <a:srgbClr val="C3DDE3"/>
                </a:solidFill>
                <a:latin typeface="Calibri" pitchFamily="34" charset="0"/>
                <a:ea typeface="Calibri" pitchFamily="34" charset="-122"/>
                <a:cs typeface="Calibri" pitchFamily="34" charset="-120"/>
              </a:rPr>
              <a:t>Frostline: incumbent since 2004, ~70 % of the estate, lowest unit price in the market.</a:t>
            </a:r>
            <a:endParaRPr lang="en-US" sz="950" dirty="0"/>
          </a:p>
          <a:p>
            <a:pPr marL="139700" indent="-139700">
              <a:lnSpc>
                <a:spcPct val="102000"/>
              </a:lnSpc>
              <a:spcAft>
                <a:spcPts val="400"/>
              </a:spcAft>
              <a:buSzPct val="100000"/>
              <a:buChar char="•"/>
            </a:pPr>
            <a:r>
              <a:rPr lang="en-US" sz="950" dirty="0">
                <a:solidFill>
                  <a:srgbClr val="C3DDE3"/>
                </a:solidFill>
                <a:latin typeface="Calibri" pitchFamily="34" charset="0"/>
                <a:ea typeface="Calibri" pitchFamily="34" charset="-122"/>
                <a:cs typeface="Calibri" pitchFamily="34" charset="-120"/>
              </a:rPr>
              <a:t>Meridian: one 900-unit pilot, Portugal 2021, rated “good”. No relationship above middle management.</a:t>
            </a:r>
            <a:endParaRPr lang="en-US" sz="950" dirty="0"/>
          </a:p>
          <a:p>
            <a:pPr marL="139700" indent="-139700">
              <a:lnSpc>
                <a:spcPct val="102000"/>
              </a:lnSpc>
              <a:spcAft>
                <a:spcPts val="400"/>
              </a:spcAft>
              <a:buSzPct val="100000"/>
              <a:buChar char="•"/>
            </a:pPr>
            <a:r>
              <a:rPr lang="en-US" sz="950" dirty="0">
                <a:solidFill>
                  <a:srgbClr val="C3DDE3"/>
                </a:solidFill>
                <a:latin typeface="Calibri" pitchFamily="34" charset="0"/>
                <a:ea typeface="Calibri" pitchFamily="34" charset="-122"/>
                <a:cs typeface="Calibri" pitchFamily="34" charset="-120"/>
              </a:rPr>
              <a:t>Last meeting seven months ago. We heard about the programme three weeks ago, from a consultancy.</a:t>
            </a:r>
            <a:endParaRPr lang="en-US" sz="950" dirty="0"/>
          </a:p>
        </p:txBody>
      </p:sp>
      <p:sp>
        <p:nvSpPr>
          <p:cNvPr id="18" name="Text 16"/>
          <p:cNvSpPr txBox="1"/>
          <p:nvPr/>
        </p:nvSpPr>
        <p:spPr>
          <a:xfrm>
            <a:off x="685800" y="3218688"/>
            <a:ext cx="2880360" cy="155448"/>
          </a:xfrm>
          <a:prstGeom prst="rect">
            <a:avLst/>
          </a:prstGeom>
          <a:noFill/>
          <a:ln/>
        </p:spPr>
        <p:txBody>
          <a:bodyPr wrap="square" lIns="0" tIns="0" rIns="0" bIns="0" rtlCol="0" anchor="ctr"/>
          <a:lstStyle/>
          <a:p>
            <a:pPr indent="0" marL="0">
              <a:buNone/>
            </a:pPr>
            <a:r>
              <a:rPr lang="en-US" sz="800" b="1" spc="80" kern="0" dirty="0">
                <a:solidFill>
                  <a:srgbClr val="5AD9B3"/>
                </a:solidFill>
                <a:latin typeface="Calibri" pitchFamily="34" charset="0"/>
                <a:ea typeface="Calibri" pitchFamily="34" charset="-122"/>
                <a:cs typeface="Calibri" pitchFamily="34" charset="-120"/>
              </a:rPr>
              <a:t>WHAT ACTUALLY FORCED THE DECISION</a:t>
            </a:r>
            <a:endParaRPr lang="en-US" sz="800" dirty="0"/>
          </a:p>
        </p:txBody>
      </p:sp>
      <p:sp>
        <p:nvSpPr>
          <p:cNvPr id="19" name="Text 17"/>
          <p:cNvSpPr txBox="1"/>
          <p:nvPr/>
        </p:nvSpPr>
        <p:spPr>
          <a:xfrm>
            <a:off x="685800" y="3401568"/>
            <a:ext cx="2880360" cy="640080"/>
          </a:xfrm>
          <a:prstGeom prst="rect">
            <a:avLst/>
          </a:prstGeom>
          <a:noFill/>
          <a:ln/>
        </p:spPr>
        <p:txBody>
          <a:bodyPr wrap="square" lIns="0" tIns="0" rIns="0" bIns="0" rtlCol="0" anchor="ctr"/>
          <a:lstStyle/>
          <a:p>
            <a:pPr indent="0" marL="0">
              <a:lnSpc>
                <a:spcPct val="103000"/>
              </a:lnSpc>
              <a:buNone/>
            </a:pPr>
            <a:r>
              <a:rPr lang="en-US" sz="900" dirty="0">
                <a:solidFill>
                  <a:srgbClr val="C3DDE3"/>
                </a:solidFill>
                <a:latin typeface="Calibri" pitchFamily="34" charset="0"/>
                <a:ea typeface="Calibri" pitchFamily="34" charset="-122"/>
                <a:cs typeface="Calibri" pitchFamily="34" charset="-120"/>
              </a:rPr>
              <a:t>Not equipment failure. The F-gas phase-down (EU 2024/573) and a published 2030 emissions target — approved by the executive committee in March.</a:t>
            </a:r>
            <a:endParaRPr lang="en-US" sz="900" dirty="0"/>
          </a:p>
        </p:txBody>
      </p:sp>
      <p:sp>
        <p:nvSpPr>
          <p:cNvPr id="20" name="Shape 18"/>
          <p:cNvSpPr/>
          <p:nvPr/>
        </p:nvSpPr>
        <p:spPr>
          <a:xfrm>
            <a:off x="685800" y="4224528"/>
            <a:ext cx="2880360" cy="1024128"/>
          </a:xfrm>
          <a:prstGeom prst="roundRect">
            <a:avLst>
              <a:gd name="adj" fmla="val 8036"/>
            </a:avLst>
          </a:prstGeom>
          <a:solidFill>
            <a:srgbClr val="0E3641"/>
          </a:solidFill>
          <a:ln w="12700">
            <a:solidFill>
              <a:srgbClr val="0E3641"/>
            </a:solidFill>
            <a:prstDash val="solid"/>
          </a:ln>
        </p:spPr>
      </p:sp>
      <p:sp>
        <p:nvSpPr>
          <p:cNvPr id="21" name="Text 19"/>
          <p:cNvSpPr txBox="1"/>
          <p:nvPr/>
        </p:nvSpPr>
        <p:spPr>
          <a:xfrm>
            <a:off x="841248" y="4352544"/>
            <a:ext cx="2569464" cy="786384"/>
          </a:xfrm>
          <a:prstGeom prst="rect">
            <a:avLst/>
          </a:prstGeom>
          <a:noFill/>
          <a:ln/>
        </p:spPr>
        <p:txBody>
          <a:bodyPr wrap="square" lIns="0" tIns="0" rIns="0" bIns="0" rtlCol="0" anchor="ctr"/>
          <a:lstStyle/>
          <a:p>
            <a:pPr indent="0" marL="0">
              <a:lnSpc>
                <a:spcPct val="105000"/>
              </a:lnSpc>
              <a:buNone/>
            </a:pPr>
            <a:r>
              <a:rPr lang="en-US" sz="950" b="1" i="1" dirty="0">
                <a:solidFill>
                  <a:srgbClr val="FFFFFF"/>
                </a:solidFill>
                <a:latin typeface="Calibri" pitchFamily="34" charset="0"/>
                <a:ea typeface="Calibri" pitchFamily="34" charset="-122"/>
                <a:cs typeface="Calibri" pitchFamily="34" charset="-120"/>
              </a:rPr>
              <a:t>The tender is not the contest.</a:t>
            </a:r>
            <a:endParaRPr lang="en-US" sz="950" dirty="0"/>
          </a:p>
          <a:p>
            <a:pPr indent="0" marL="0">
              <a:lnSpc>
                <a:spcPct val="105000"/>
              </a:lnSpc>
              <a:buNone/>
            </a:pPr>
            <a:r>
              <a:rPr lang="en-US" sz="950" i="1" dirty="0">
                <a:solidFill>
                  <a:srgbClr val="C3DDE3"/>
                </a:solidFill>
                <a:latin typeface="Calibri" pitchFamily="34" charset="0"/>
                <a:ea typeface="Calibri" pitchFamily="34" charset="-122"/>
                <a:cs typeface="Calibri" pitchFamily="34" charset="-120"/>
              </a:rPr>
              <a:t>The eight weeks before it is. After the RFP is issued, we are answering someone else’s document.</a:t>
            </a:r>
            <a:endParaRPr lang="en-US" sz="950" dirty="0"/>
          </a:p>
        </p:txBody>
      </p:sp>
      <p:sp>
        <p:nvSpPr>
          <p:cNvPr id="22" name="Text 20"/>
          <p:cNvSpPr txBox="1"/>
          <p:nvPr/>
        </p:nvSpPr>
        <p:spPr>
          <a:xfrm>
            <a:off x="685800" y="5522976"/>
            <a:ext cx="2880360" cy="155448"/>
          </a:xfrm>
          <a:prstGeom prst="rect">
            <a:avLst/>
          </a:prstGeom>
          <a:noFill/>
          <a:ln/>
        </p:spPr>
        <p:txBody>
          <a:bodyPr wrap="square" lIns="0" tIns="0" rIns="0" bIns="0" rtlCol="0" anchor="ctr"/>
          <a:lstStyle/>
          <a:p>
            <a:pPr indent="0" marL="0">
              <a:buNone/>
            </a:pPr>
            <a:r>
              <a:rPr lang="en-US" sz="800" b="1" spc="80" kern="0" dirty="0">
                <a:solidFill>
                  <a:srgbClr val="F0736C"/>
                </a:solidFill>
                <a:latin typeface="Calibri" pitchFamily="34" charset="0"/>
                <a:ea typeface="Calibri" pitchFamily="34" charset="-122"/>
                <a:cs typeface="Calibri" pitchFamily="34" charset="-120"/>
              </a:rPr>
              <a:t>SO WE ARE NOT SELLING AGAINST A COMPETITOR</a:t>
            </a:r>
            <a:endParaRPr lang="en-US" sz="800" dirty="0"/>
          </a:p>
        </p:txBody>
      </p:sp>
      <p:sp>
        <p:nvSpPr>
          <p:cNvPr id="23" name="Text 21"/>
          <p:cNvSpPr txBox="1"/>
          <p:nvPr/>
        </p:nvSpPr>
        <p:spPr>
          <a:xfrm>
            <a:off x="685800" y="5705856"/>
            <a:ext cx="2880360" cy="640080"/>
          </a:xfrm>
          <a:prstGeom prst="rect">
            <a:avLst/>
          </a:prstGeom>
          <a:noFill/>
          <a:ln/>
        </p:spPr>
        <p:txBody>
          <a:bodyPr wrap="square" lIns="0" tIns="0" rIns="0" bIns="0" rtlCol="0" anchor="ctr"/>
          <a:lstStyle/>
          <a:p>
            <a:pPr indent="0" marL="0">
              <a:lnSpc>
                <a:spcPct val="103000"/>
              </a:lnSpc>
              <a:buNone/>
            </a:pPr>
            <a:r>
              <a:rPr lang="en-US" sz="900" dirty="0">
                <a:solidFill>
                  <a:srgbClr val="C3DDE3"/>
                </a:solidFill>
                <a:latin typeface="Calibri" pitchFamily="34" charset="0"/>
                <a:ea typeface="Calibri" pitchFamily="34" charset="-122"/>
                <a:cs typeface="Calibri" pitchFamily="34" charset="-120"/>
              </a:rPr>
              <a:t>We are selling against an arrangement that works — twenty-two years of it, and 400 technicians who have never had a reason to question it.</a:t>
            </a:r>
            <a:endParaRPr lang="en-US" sz="900" dirty="0"/>
          </a:p>
        </p:txBody>
      </p:sp>
      <p:sp>
        <p:nvSpPr>
          <p:cNvPr id="24" name="Shape 22"/>
          <p:cNvSpPr/>
          <p:nvPr/>
        </p:nvSpPr>
        <p:spPr>
          <a:xfrm>
            <a:off x="3977640" y="1389888"/>
            <a:ext cx="3977640" cy="5047488"/>
          </a:xfrm>
          <a:prstGeom prst="roundRect">
            <a:avLst>
              <a:gd name="adj" fmla="val 2069"/>
            </a:avLst>
          </a:prstGeom>
          <a:solidFill>
            <a:srgbClr val="123C48"/>
          </a:solidFill>
          <a:ln w="12700">
            <a:solidFill>
              <a:srgbClr val="123C48"/>
            </a:solidFill>
            <a:prstDash val="solid"/>
          </a:ln>
        </p:spPr>
      </p:sp>
      <p:sp>
        <p:nvSpPr>
          <p:cNvPr id="25" name="Shape 23"/>
          <p:cNvSpPr/>
          <p:nvPr/>
        </p:nvSpPr>
        <p:spPr>
          <a:xfrm>
            <a:off x="4160520" y="1536192"/>
            <a:ext cx="274320" cy="274320"/>
          </a:xfrm>
          <a:prstGeom prst="ellipse">
            <a:avLst/>
          </a:prstGeom>
          <a:solidFill>
            <a:srgbClr val="F2A33C"/>
          </a:solidFill>
          <a:ln w="12700">
            <a:solidFill>
              <a:srgbClr val="F2A33C"/>
            </a:solidFill>
            <a:prstDash val="solid"/>
          </a:ln>
        </p:spPr>
      </p:sp>
      <p:sp>
        <p:nvSpPr>
          <p:cNvPr id="26" name="Text 24"/>
          <p:cNvSpPr txBox="1"/>
          <p:nvPr/>
        </p:nvSpPr>
        <p:spPr>
          <a:xfrm>
            <a:off x="4160520" y="1536192"/>
            <a:ext cx="274320" cy="274320"/>
          </a:xfrm>
          <a:prstGeom prst="rect">
            <a:avLst/>
          </a:prstGeom>
          <a:noFill/>
          <a:ln/>
        </p:spPr>
        <p:txBody>
          <a:bodyPr wrap="square" lIns="0" tIns="0" rIns="0" bIns="0" rtlCol="0" anchor="ctr"/>
          <a:lstStyle/>
          <a:p>
            <a:pPr algn="ctr" indent="0" marL="0">
              <a:buNone/>
            </a:pPr>
            <a:r>
              <a:rPr lang="en-US" sz="1200" b="1" dirty="0">
                <a:solidFill>
                  <a:srgbClr val="0B2B33"/>
                </a:solidFill>
                <a:latin typeface="Calibri" pitchFamily="34" charset="0"/>
                <a:ea typeface="Calibri" pitchFamily="34" charset="-122"/>
                <a:cs typeface="Calibri" pitchFamily="34" charset="-120"/>
              </a:rPr>
              <a:t>2</a:t>
            </a:r>
            <a:endParaRPr lang="en-US" sz="1200" dirty="0"/>
          </a:p>
        </p:txBody>
      </p:sp>
      <p:sp>
        <p:nvSpPr>
          <p:cNvPr id="27" name="Text 25"/>
          <p:cNvSpPr txBox="1"/>
          <p:nvPr/>
        </p:nvSpPr>
        <p:spPr>
          <a:xfrm>
            <a:off x="4526280" y="1517904"/>
            <a:ext cx="3017520" cy="310896"/>
          </a:xfrm>
          <a:prstGeom prst="rect">
            <a:avLst/>
          </a:prstGeom>
          <a:noFill/>
          <a:ln/>
        </p:spPr>
        <p:txBody>
          <a:bodyPr wrap="square" lIns="0" tIns="0" rIns="0" bIns="0" rtlCol="0" anchor="ctr"/>
          <a:lstStyle/>
          <a:p>
            <a:pPr indent="0" marL="0">
              <a:buNone/>
            </a:pPr>
            <a:r>
              <a:rPr lang="en-US" sz="1350" b="1" dirty="0">
                <a:solidFill>
                  <a:srgbClr val="FFFFFF"/>
                </a:solidFill>
                <a:latin typeface="Cambria" pitchFamily="34" charset="0"/>
                <a:ea typeface="Cambria" pitchFamily="34" charset="-122"/>
                <a:cs typeface="Cambria" pitchFamily="34" charset="-120"/>
              </a:rPr>
              <a:t>BATTLE CARD  ·  FROSTLINE</a:t>
            </a:r>
            <a:endParaRPr lang="en-US" sz="1350" dirty="0"/>
          </a:p>
        </p:txBody>
      </p:sp>
      <p:sp>
        <p:nvSpPr>
          <p:cNvPr id="28" name="Text 26"/>
          <p:cNvSpPr txBox="1"/>
          <p:nvPr/>
        </p:nvSpPr>
        <p:spPr>
          <a:xfrm>
            <a:off x="7580376" y="1517904"/>
            <a:ext cx="502920" cy="310896"/>
          </a:xfrm>
          <a:prstGeom prst="rect">
            <a:avLst/>
          </a:prstGeom>
          <a:noFill/>
          <a:ln/>
        </p:spPr>
        <p:txBody>
          <a:bodyPr wrap="square" lIns="0" tIns="0" rIns="0" bIns="0" rtlCol="0" anchor="ctr"/>
          <a:lstStyle/>
          <a:p>
            <a:pPr algn="l" indent="0" marL="0">
              <a:buNone/>
            </a:pPr>
            <a:r>
              <a:rPr lang="en-US" sz="900" dirty="0">
                <a:solidFill>
                  <a:srgbClr val="8FB4BE"/>
                </a:solidFill>
                <a:latin typeface="Calibri" pitchFamily="34" charset="0"/>
                <a:ea typeface="Calibri" pitchFamily="34" charset="-122"/>
                <a:cs typeface="Calibri" pitchFamily="34" charset="-120"/>
              </a:rPr>
              <a:t>75 s</a:t>
            </a:r>
            <a:endParaRPr lang="en-US" sz="900" dirty="0"/>
          </a:p>
        </p:txBody>
      </p:sp>
      <p:sp>
        <p:nvSpPr>
          <p:cNvPr id="29" name="Text 27"/>
          <p:cNvSpPr txBox="1"/>
          <p:nvPr/>
        </p:nvSpPr>
        <p:spPr>
          <a:xfrm>
            <a:off x="4160520" y="1920240"/>
            <a:ext cx="3611880" cy="566928"/>
          </a:xfrm>
          <a:prstGeom prst="rect">
            <a:avLst/>
          </a:prstGeom>
          <a:noFill/>
          <a:ln/>
        </p:spPr>
        <p:txBody>
          <a:bodyPr wrap="square" lIns="0" tIns="0" rIns="0" bIns="0" rtlCol="0" anchor="ctr"/>
          <a:lstStyle/>
          <a:p>
            <a:pPr indent="0" marL="0">
              <a:lnSpc>
                <a:spcPct val="103000"/>
              </a:lnSpc>
              <a:buNone/>
            </a:pPr>
            <a:r>
              <a:rPr lang="en-US" sz="900" b="1" dirty="0">
                <a:solidFill>
                  <a:srgbClr val="F2A33C"/>
                </a:solidFill>
                <a:latin typeface="Calibri" pitchFamily="34" charset="0"/>
                <a:ea typeface="Calibri" pitchFamily="34" charset="-122"/>
                <a:cs typeface="Calibri" pitchFamily="34" charset="-120"/>
              </a:rPr>
              <a:t>How they will position themselves:  </a:t>
            </a:r>
            <a:pPr indent="0" marL="0">
              <a:lnSpc>
                <a:spcPct val="103000"/>
              </a:lnSpc>
              <a:buNone/>
            </a:pPr>
            <a:r>
              <a:rPr lang="en-US" sz="900" i="1" dirty="0">
                <a:solidFill>
                  <a:srgbClr val="C3DDE3"/>
                </a:solidFill>
                <a:latin typeface="Calibri" pitchFamily="34" charset="0"/>
                <a:ea typeface="Calibri" pitchFamily="34" charset="-122"/>
                <a:cs typeface="Calibri" pitchFamily="34" charset="-120"/>
              </a:rPr>
              <a:t>“Continuity at the lowest cost. We know the estate, we are already inside your maintenance scheduling, and we will phase the swap without breaking service.”</a:t>
            </a:r>
            <a:endParaRPr lang="en-US" sz="900" dirty="0"/>
          </a:p>
        </p:txBody>
      </p:sp>
      <p:sp>
        <p:nvSpPr>
          <p:cNvPr id="30" name="Text 28"/>
          <p:cNvSpPr txBox="1"/>
          <p:nvPr/>
        </p:nvSpPr>
        <p:spPr>
          <a:xfrm>
            <a:off x="4160520" y="2542032"/>
            <a:ext cx="3611880" cy="155448"/>
          </a:xfrm>
          <a:prstGeom prst="rect">
            <a:avLst/>
          </a:prstGeom>
          <a:noFill/>
          <a:ln/>
        </p:spPr>
        <p:txBody>
          <a:bodyPr wrap="square" lIns="0" tIns="0" rIns="0" bIns="0" rtlCol="0" anchor="ctr"/>
          <a:lstStyle/>
          <a:p>
            <a:pPr indent="0" marL="0">
              <a:buNone/>
            </a:pPr>
            <a:r>
              <a:rPr lang="en-US" sz="800" b="1" spc="80" kern="0" dirty="0">
                <a:solidFill>
                  <a:srgbClr val="5AD9B3"/>
                </a:solidFill>
                <a:latin typeface="Calibri" pitchFamily="34" charset="0"/>
                <a:ea typeface="Calibri" pitchFamily="34" charset="-122"/>
                <a:cs typeface="Calibri" pitchFamily="34" charset="-120"/>
              </a:rPr>
              <a:t>THEIR TWO STRONGEST CLAIMS</a:t>
            </a:r>
            <a:endParaRPr lang="en-US" sz="800" dirty="0"/>
          </a:p>
        </p:txBody>
      </p:sp>
      <p:sp>
        <p:nvSpPr>
          <p:cNvPr id="31" name="Text 29"/>
          <p:cNvSpPr txBox="1"/>
          <p:nvPr/>
        </p:nvSpPr>
        <p:spPr>
          <a:xfrm>
            <a:off x="4160520" y="2724912"/>
            <a:ext cx="3611880" cy="841248"/>
          </a:xfrm>
          <a:prstGeom prst="rect">
            <a:avLst/>
          </a:prstGeom>
          <a:noFill/>
          <a:ln/>
        </p:spPr>
        <p:txBody>
          <a:bodyPr wrap="square" lIns="0" tIns="0" rIns="0" bIns="0" rtlCol="0" anchor="t"/>
          <a:lstStyle/>
          <a:p>
            <a:pPr marL="139700" indent="-139700">
              <a:lnSpc>
                <a:spcPct val="102000"/>
              </a:lnSpc>
              <a:spcAft>
                <a:spcPts val="400"/>
              </a:spcAft>
              <a:buSzPct val="100000"/>
              <a:buChar char="•"/>
            </a:pPr>
            <a:r>
              <a:rPr lang="en-US" sz="900" dirty="0">
                <a:solidFill>
                  <a:srgbClr val="C3DDE3"/>
                </a:solidFill>
                <a:latin typeface="Calibri" pitchFamily="34" charset="0"/>
                <a:ea typeface="Calibri" pitchFamily="34" charset="-122"/>
                <a:cs typeface="Calibri" pitchFamily="34" charset="-120"/>
              </a:rPr>
              <a:t>Lowest unit price, and already integrated with ABP’s maintenance scheduling — the cheapest and the least disruptive bid.</a:t>
            </a:r>
            <a:endParaRPr lang="en-US" sz="900" dirty="0"/>
          </a:p>
          <a:p>
            <a:pPr marL="139700" indent="-139700">
              <a:lnSpc>
                <a:spcPct val="102000"/>
              </a:lnSpc>
              <a:spcAft>
                <a:spcPts val="400"/>
              </a:spcAft>
              <a:buSzPct val="100000"/>
              <a:buChar char="•"/>
            </a:pPr>
            <a:r>
              <a:rPr lang="en-US" sz="900" dirty="0">
                <a:solidFill>
                  <a:srgbClr val="C3DDE3"/>
                </a:solidFill>
                <a:latin typeface="Calibri" pitchFamily="34" charset="0"/>
                <a:ea typeface="Calibri" pitchFamily="34" charset="-122"/>
                <a:cs typeface="Calibri" pitchFamily="34" charset="-120"/>
              </a:rPr>
              <a:t>The only supplier that has swapped units across 48,000 outlets without stopping the sale of chilled product.</a:t>
            </a:r>
            <a:endParaRPr lang="en-US" sz="900" dirty="0"/>
          </a:p>
        </p:txBody>
      </p:sp>
      <p:sp>
        <p:nvSpPr>
          <p:cNvPr id="32" name="Text 30"/>
          <p:cNvSpPr txBox="1"/>
          <p:nvPr/>
        </p:nvSpPr>
        <p:spPr>
          <a:xfrm>
            <a:off x="4160520" y="3602736"/>
            <a:ext cx="3611880" cy="155448"/>
          </a:xfrm>
          <a:prstGeom prst="rect">
            <a:avLst/>
          </a:prstGeom>
          <a:noFill/>
          <a:ln/>
        </p:spPr>
        <p:txBody>
          <a:bodyPr wrap="square" lIns="0" tIns="0" rIns="0" bIns="0" rtlCol="0" anchor="ctr"/>
          <a:lstStyle/>
          <a:p>
            <a:pPr indent="0" marL="0">
              <a:buNone/>
            </a:pPr>
            <a:r>
              <a:rPr lang="en-US" sz="800" b="1" spc="80" kern="0" dirty="0">
                <a:solidFill>
                  <a:srgbClr val="F0736C"/>
                </a:solidFill>
                <a:latin typeface="Calibri" pitchFamily="34" charset="0"/>
                <a:ea typeface="Calibri" pitchFamily="34" charset="-122"/>
                <a:cs typeface="Calibri" pitchFamily="34" charset="-120"/>
              </a:rPr>
              <a:t>THEIR TWO REAL VULNERABILITIES</a:t>
            </a:r>
            <a:endParaRPr lang="en-US" sz="800" dirty="0"/>
          </a:p>
        </p:txBody>
      </p:sp>
      <p:sp>
        <p:nvSpPr>
          <p:cNvPr id="33" name="Text 31"/>
          <p:cNvSpPr txBox="1"/>
          <p:nvPr/>
        </p:nvSpPr>
        <p:spPr>
          <a:xfrm>
            <a:off x="4160520" y="3785616"/>
            <a:ext cx="3611880" cy="1060704"/>
          </a:xfrm>
          <a:prstGeom prst="rect">
            <a:avLst/>
          </a:prstGeom>
          <a:noFill/>
          <a:ln/>
        </p:spPr>
        <p:txBody>
          <a:bodyPr wrap="square" lIns="0" tIns="0" rIns="0" bIns="0" rtlCol="0" anchor="t"/>
          <a:lstStyle/>
          <a:p>
            <a:pPr marL="139700" indent="-139700">
              <a:lnSpc>
                <a:spcPct val="102000"/>
              </a:lnSpc>
              <a:spcAft>
                <a:spcPts val="400"/>
              </a:spcAft>
              <a:buSzPct val="100000"/>
              <a:buChar char="•"/>
            </a:pPr>
            <a:r>
              <a:rPr lang="en-US" sz="900" dirty="0">
                <a:solidFill>
                  <a:srgbClr val="C3DDE3"/>
                </a:solidFill>
                <a:latin typeface="Calibri" pitchFamily="34" charset="0"/>
                <a:ea typeface="Calibri" pitchFamily="34" charset="-122"/>
                <a:cs typeface="Calibri" pitchFamily="34" charset="-120"/>
              </a:rPr>
              <a:t>Two of their three refrigerant platforms are hit by the F-gas phase-down. Over five years, the “safe” bid is the one carrying regulatory and residual-value risk.</a:t>
            </a:r>
            <a:endParaRPr lang="en-US" sz="900" dirty="0"/>
          </a:p>
          <a:p>
            <a:pPr marL="139700" indent="-139700">
              <a:lnSpc>
                <a:spcPct val="102000"/>
              </a:lnSpc>
              <a:spcAft>
                <a:spcPts val="400"/>
              </a:spcAft>
              <a:buSzPct val="100000"/>
              <a:buChar char="•"/>
            </a:pPr>
            <a:r>
              <a:rPr lang="en-US" sz="900" dirty="0">
                <a:solidFill>
                  <a:srgbClr val="C3DDE3"/>
                </a:solidFill>
                <a:latin typeface="Calibri" pitchFamily="34" charset="0"/>
                <a:ea typeface="Calibri" pitchFamily="34" charset="-122"/>
                <a:cs typeface="Calibri" pitchFamily="34" charset="-120"/>
              </a:rPr>
              <a:t>No telemetry beyond a basic alarm contact — and their account team has not met anyone above Rousseau in four years.</a:t>
            </a:r>
            <a:endParaRPr lang="en-US" sz="900" dirty="0"/>
          </a:p>
        </p:txBody>
      </p:sp>
      <p:sp>
        <p:nvSpPr>
          <p:cNvPr id="34" name="Text 32"/>
          <p:cNvSpPr txBox="1"/>
          <p:nvPr/>
        </p:nvSpPr>
        <p:spPr>
          <a:xfrm>
            <a:off x="4160520" y="4681728"/>
            <a:ext cx="3611880" cy="155448"/>
          </a:xfrm>
          <a:prstGeom prst="rect">
            <a:avLst/>
          </a:prstGeom>
          <a:noFill/>
          <a:ln/>
        </p:spPr>
        <p:txBody>
          <a:bodyPr wrap="square" lIns="0" tIns="0" rIns="0" bIns="0" rtlCol="0" anchor="ctr"/>
          <a:lstStyle/>
          <a:p>
            <a:pPr indent="0" marL="0">
              <a:buNone/>
            </a:pPr>
            <a:r>
              <a:rPr lang="en-US" sz="800" b="1" spc="80" kern="0" dirty="0">
                <a:solidFill>
                  <a:srgbClr val="F2A33C"/>
                </a:solidFill>
                <a:latin typeface="Calibri" pitchFamily="34" charset="0"/>
                <a:ea typeface="Calibri" pitchFamily="34" charset="-122"/>
                <a:cs typeface="Calibri" pitchFamily="34" charset="-120"/>
              </a:rPr>
              <a:t>THREE DISCOVERY QUESTIONS — WITHOUT NAMING THE WEAKNESS</a:t>
            </a:r>
            <a:endParaRPr lang="en-US" sz="800" dirty="0"/>
          </a:p>
        </p:txBody>
      </p:sp>
      <p:sp>
        <p:nvSpPr>
          <p:cNvPr id="35" name="Text 33"/>
          <p:cNvSpPr txBox="1"/>
          <p:nvPr/>
        </p:nvSpPr>
        <p:spPr>
          <a:xfrm>
            <a:off x="4160520" y="4855464"/>
            <a:ext cx="3611880" cy="1024128"/>
          </a:xfrm>
          <a:prstGeom prst="rect">
            <a:avLst/>
          </a:prstGeom>
          <a:noFill/>
          <a:ln/>
        </p:spPr>
        <p:txBody>
          <a:bodyPr wrap="square" lIns="0" tIns="0" rIns="0" bIns="0" rtlCol="0" anchor="t"/>
          <a:lstStyle/>
          <a:p>
            <a:pPr marL="139700" indent="-139700">
              <a:lnSpc>
                <a:spcPct val="102000"/>
              </a:lnSpc>
              <a:spcAft>
                <a:spcPts val="400"/>
              </a:spcAft>
              <a:buSzPct val="100000"/>
              <a:buChar char="•"/>
            </a:pPr>
            <a:r>
              <a:rPr lang="en-US" sz="900" dirty="0">
                <a:solidFill>
                  <a:srgbClr val="C3DDE3"/>
                </a:solidFill>
                <a:latin typeface="Calibri" pitchFamily="34" charset="0"/>
                <a:ea typeface="Calibri" pitchFamily="34" charset="-122"/>
                <a:cs typeface="Calibri" pitchFamily="34" charset="-120"/>
              </a:rPr>
              <a:t>“Which refrigerant platform will the units delivered in year four sit on — and who carries the cost if it is restricted?”</a:t>
            </a:r>
            <a:endParaRPr lang="en-US" sz="900" dirty="0"/>
          </a:p>
          <a:p>
            <a:pPr marL="139700" indent="-139700">
              <a:lnSpc>
                <a:spcPct val="102000"/>
              </a:lnSpc>
              <a:spcAft>
                <a:spcPts val="400"/>
              </a:spcAft>
              <a:buSzPct val="100000"/>
              <a:buChar char="•"/>
            </a:pPr>
            <a:r>
              <a:rPr lang="en-US" sz="900" dirty="0">
                <a:solidFill>
                  <a:srgbClr val="C3DDE3"/>
                </a:solidFill>
                <a:latin typeface="Calibri" pitchFamily="34" charset="0"/>
                <a:ea typeface="Calibri" pitchFamily="34" charset="-122"/>
                <a:cs typeface="Calibri" pitchFamily="34" charset="-120"/>
              </a:rPr>
              <a:t>“How do you find out today that a cooler has failed, and how long is it down first?”</a:t>
            </a:r>
            <a:endParaRPr lang="en-US" sz="900" dirty="0"/>
          </a:p>
          <a:p>
            <a:pPr marL="139700" indent="-139700">
              <a:lnSpc>
                <a:spcPct val="102000"/>
              </a:lnSpc>
              <a:spcAft>
                <a:spcPts val="400"/>
              </a:spcAft>
              <a:buSzPct val="100000"/>
              <a:buChar char="•"/>
            </a:pPr>
            <a:r>
              <a:rPr lang="en-US" sz="900" dirty="0">
                <a:solidFill>
                  <a:srgbClr val="C3DDE3"/>
                </a:solidFill>
                <a:latin typeface="Calibri" pitchFamily="34" charset="0"/>
                <a:ea typeface="Calibri" pitchFamily="34" charset="-122"/>
                <a:cs typeface="Calibri" pitchFamily="34" charset="-120"/>
              </a:rPr>
              <a:t>“How will compliance and emissions be weighted against unit price — and who sets that weighting?”</a:t>
            </a:r>
            <a:endParaRPr lang="en-US" sz="900" dirty="0"/>
          </a:p>
        </p:txBody>
      </p:sp>
      <p:sp>
        <p:nvSpPr>
          <p:cNvPr id="36" name="Text 34"/>
          <p:cNvSpPr txBox="1"/>
          <p:nvPr/>
        </p:nvSpPr>
        <p:spPr>
          <a:xfrm>
            <a:off x="4160520" y="5925312"/>
            <a:ext cx="3611880" cy="155448"/>
          </a:xfrm>
          <a:prstGeom prst="rect">
            <a:avLst/>
          </a:prstGeom>
          <a:noFill/>
          <a:ln/>
        </p:spPr>
        <p:txBody>
          <a:bodyPr wrap="square" lIns="0" tIns="0" rIns="0" bIns="0" rtlCol="0" anchor="ctr"/>
          <a:lstStyle/>
          <a:p>
            <a:pPr indent="0" marL="0">
              <a:buNone/>
            </a:pPr>
            <a:r>
              <a:rPr lang="en-US" sz="800" b="1" spc="80" kern="0" dirty="0">
                <a:solidFill>
                  <a:srgbClr val="5AD9B3"/>
                </a:solidFill>
                <a:latin typeface="Calibri" pitchFamily="34" charset="0"/>
                <a:ea typeface="Calibri" pitchFamily="34" charset="-122"/>
                <a:cs typeface="Calibri" pitchFamily="34" charset="-120"/>
              </a:rPr>
              <a:t>THE ONE PROOF POINT WE MUST HAVE</a:t>
            </a:r>
            <a:endParaRPr lang="en-US" sz="800" dirty="0"/>
          </a:p>
        </p:txBody>
      </p:sp>
      <p:sp>
        <p:nvSpPr>
          <p:cNvPr id="37" name="Text 35"/>
          <p:cNvSpPr txBox="1"/>
          <p:nvPr/>
        </p:nvSpPr>
        <p:spPr>
          <a:xfrm>
            <a:off x="4160520" y="6099048"/>
            <a:ext cx="3611880" cy="310896"/>
          </a:xfrm>
          <a:prstGeom prst="rect">
            <a:avLst/>
          </a:prstGeom>
          <a:noFill/>
          <a:ln/>
        </p:spPr>
        <p:txBody>
          <a:bodyPr wrap="square" lIns="0" tIns="0" rIns="0" bIns="0" rtlCol="0" anchor="ctr"/>
          <a:lstStyle/>
          <a:p>
            <a:pPr indent="0" marL="0">
              <a:lnSpc>
                <a:spcPct val="102000"/>
              </a:lnSpc>
              <a:buNone/>
            </a:pPr>
            <a:r>
              <a:rPr lang="en-US" sz="900" dirty="0">
                <a:solidFill>
                  <a:srgbClr val="C3DDE3"/>
                </a:solidFill>
                <a:latin typeface="Calibri" pitchFamily="34" charset="0"/>
                <a:ea typeface="Calibri" pitchFamily="34" charset="-122"/>
                <a:cs typeface="Calibri" pitchFamily="34" charset="-120"/>
              </a:rPr>
              <a:t>Audited uptime and lost-volume data from our own 900-unit Portugal estate, cross-checked against ABP’s own service records.</a:t>
            </a:r>
            <a:endParaRPr lang="en-US" sz="900" dirty="0"/>
          </a:p>
        </p:txBody>
      </p:sp>
      <p:sp>
        <p:nvSpPr>
          <p:cNvPr id="38" name="Shape 36"/>
          <p:cNvSpPr/>
          <p:nvPr/>
        </p:nvSpPr>
        <p:spPr>
          <a:xfrm>
            <a:off x="8183880" y="1389888"/>
            <a:ext cx="3520440" cy="5047488"/>
          </a:xfrm>
          <a:prstGeom prst="roundRect">
            <a:avLst>
              <a:gd name="adj" fmla="val 2338"/>
            </a:avLst>
          </a:prstGeom>
          <a:solidFill>
            <a:srgbClr val="123C48"/>
          </a:solidFill>
          <a:ln w="12700">
            <a:solidFill>
              <a:srgbClr val="123C48"/>
            </a:solidFill>
            <a:prstDash val="solid"/>
          </a:ln>
        </p:spPr>
      </p:sp>
      <p:sp>
        <p:nvSpPr>
          <p:cNvPr id="39" name="Shape 37"/>
          <p:cNvSpPr/>
          <p:nvPr/>
        </p:nvSpPr>
        <p:spPr>
          <a:xfrm>
            <a:off x="8366760" y="1536192"/>
            <a:ext cx="274320" cy="274320"/>
          </a:xfrm>
          <a:prstGeom prst="ellipse">
            <a:avLst/>
          </a:prstGeom>
          <a:solidFill>
            <a:srgbClr val="F2A33C"/>
          </a:solidFill>
          <a:ln w="12700">
            <a:solidFill>
              <a:srgbClr val="F2A33C"/>
            </a:solidFill>
            <a:prstDash val="solid"/>
          </a:ln>
        </p:spPr>
      </p:sp>
      <p:sp>
        <p:nvSpPr>
          <p:cNvPr id="40" name="Text 38"/>
          <p:cNvSpPr txBox="1"/>
          <p:nvPr/>
        </p:nvSpPr>
        <p:spPr>
          <a:xfrm>
            <a:off x="8366760" y="1536192"/>
            <a:ext cx="274320" cy="274320"/>
          </a:xfrm>
          <a:prstGeom prst="rect">
            <a:avLst/>
          </a:prstGeom>
          <a:noFill/>
          <a:ln/>
        </p:spPr>
        <p:txBody>
          <a:bodyPr wrap="square" lIns="0" tIns="0" rIns="0" bIns="0" rtlCol="0" anchor="ctr"/>
          <a:lstStyle/>
          <a:p>
            <a:pPr algn="ctr" indent="0" marL="0">
              <a:buNone/>
            </a:pPr>
            <a:r>
              <a:rPr lang="en-US" sz="1200" b="1" dirty="0">
                <a:solidFill>
                  <a:srgbClr val="0B2B33"/>
                </a:solidFill>
                <a:latin typeface="Calibri" pitchFamily="34" charset="0"/>
                <a:ea typeface="Calibri" pitchFamily="34" charset="-122"/>
                <a:cs typeface="Calibri" pitchFamily="34" charset="-120"/>
              </a:rPr>
              <a:t>3</a:t>
            </a:r>
            <a:endParaRPr lang="en-US" sz="1200" dirty="0"/>
          </a:p>
        </p:txBody>
      </p:sp>
      <p:sp>
        <p:nvSpPr>
          <p:cNvPr id="41" name="Text 39"/>
          <p:cNvSpPr txBox="1"/>
          <p:nvPr/>
        </p:nvSpPr>
        <p:spPr>
          <a:xfrm>
            <a:off x="8732520" y="1517904"/>
            <a:ext cx="1691640" cy="310896"/>
          </a:xfrm>
          <a:prstGeom prst="rect">
            <a:avLst/>
          </a:prstGeom>
          <a:noFill/>
          <a:ln/>
        </p:spPr>
        <p:txBody>
          <a:bodyPr wrap="square" lIns="0" tIns="0" rIns="0" bIns="0" rtlCol="0" anchor="ctr"/>
          <a:lstStyle/>
          <a:p>
            <a:pPr indent="0" marL="0">
              <a:buNone/>
            </a:pPr>
            <a:r>
              <a:rPr lang="en-US" sz="1350" b="1" dirty="0">
                <a:solidFill>
                  <a:srgbClr val="FFFFFF"/>
                </a:solidFill>
                <a:latin typeface="Cambria" pitchFamily="34" charset="0"/>
                <a:ea typeface="Cambria" pitchFamily="34" charset="-122"/>
                <a:cs typeface="Cambria" pitchFamily="34" charset="-120"/>
              </a:rPr>
              <a:t>FOUR CORNERS</a:t>
            </a:r>
            <a:endParaRPr lang="en-US" sz="1350" dirty="0"/>
          </a:p>
        </p:txBody>
      </p:sp>
      <p:sp>
        <p:nvSpPr>
          <p:cNvPr id="42" name="Text 40"/>
          <p:cNvSpPr txBox="1"/>
          <p:nvPr/>
        </p:nvSpPr>
        <p:spPr>
          <a:xfrm>
            <a:off x="10460736" y="1517904"/>
            <a:ext cx="502920" cy="310896"/>
          </a:xfrm>
          <a:prstGeom prst="rect">
            <a:avLst/>
          </a:prstGeom>
          <a:noFill/>
          <a:ln/>
        </p:spPr>
        <p:txBody>
          <a:bodyPr wrap="square" lIns="0" tIns="0" rIns="0" bIns="0" rtlCol="0" anchor="ctr"/>
          <a:lstStyle/>
          <a:p>
            <a:pPr algn="l" indent="0" marL="0">
              <a:buNone/>
            </a:pPr>
            <a:r>
              <a:rPr lang="en-US" sz="900" dirty="0">
                <a:solidFill>
                  <a:srgbClr val="8FB4BE"/>
                </a:solidFill>
                <a:latin typeface="Calibri" pitchFamily="34" charset="0"/>
                <a:ea typeface="Calibri" pitchFamily="34" charset="-122"/>
                <a:cs typeface="Calibri" pitchFamily="34" charset="-120"/>
              </a:rPr>
              <a:t>70 s</a:t>
            </a:r>
            <a:endParaRPr lang="en-US" sz="900" dirty="0"/>
          </a:p>
        </p:txBody>
      </p:sp>
      <p:sp>
        <p:nvSpPr>
          <p:cNvPr id="43" name="Text 41"/>
          <p:cNvSpPr txBox="1"/>
          <p:nvPr/>
        </p:nvSpPr>
        <p:spPr>
          <a:xfrm>
            <a:off x="8366760" y="1938528"/>
            <a:ext cx="3154680" cy="155448"/>
          </a:xfrm>
          <a:prstGeom prst="rect">
            <a:avLst/>
          </a:prstGeom>
          <a:noFill/>
          <a:ln/>
        </p:spPr>
        <p:txBody>
          <a:bodyPr wrap="square" lIns="0" tIns="0" rIns="0" bIns="0" rtlCol="0" anchor="ctr"/>
          <a:lstStyle/>
          <a:p>
            <a:pPr indent="0" marL="0">
              <a:buNone/>
            </a:pPr>
            <a:r>
              <a:rPr lang="en-US" sz="800" b="1" spc="80" kern="0" dirty="0">
                <a:solidFill>
                  <a:srgbClr val="F2A33C"/>
                </a:solidFill>
                <a:latin typeface="Calibri" pitchFamily="34" charset="0"/>
                <a:ea typeface="Calibri" pitchFamily="34" charset="-122"/>
                <a:cs typeface="Calibri" pitchFamily="34" charset="-120"/>
              </a:rPr>
              <a:t>WHAT FROSTLINE ASSUMES</a:t>
            </a:r>
            <a:endParaRPr lang="en-US" sz="800" dirty="0"/>
          </a:p>
        </p:txBody>
      </p:sp>
      <p:sp>
        <p:nvSpPr>
          <p:cNvPr id="44" name="Text 42"/>
          <p:cNvSpPr txBox="1"/>
          <p:nvPr/>
        </p:nvSpPr>
        <p:spPr>
          <a:xfrm>
            <a:off x="8366760" y="2121408"/>
            <a:ext cx="3154680" cy="786384"/>
          </a:xfrm>
          <a:prstGeom prst="rect">
            <a:avLst/>
          </a:prstGeom>
          <a:noFill/>
          <a:ln/>
        </p:spPr>
        <p:txBody>
          <a:bodyPr wrap="square" lIns="0" tIns="0" rIns="0" bIns="0" rtlCol="0" anchor="t"/>
          <a:lstStyle/>
          <a:p>
            <a:pPr marL="139700" indent="-139700">
              <a:lnSpc>
                <a:spcPct val="102000"/>
              </a:lnSpc>
              <a:spcAft>
                <a:spcPts val="400"/>
              </a:spcAft>
              <a:buSzPct val="100000"/>
              <a:buChar char="•"/>
            </a:pPr>
            <a:r>
              <a:rPr lang="en-US" sz="900" dirty="0">
                <a:solidFill>
                  <a:srgbClr val="C3DDE3"/>
                </a:solidFill>
                <a:latin typeface="Calibri" pitchFamily="34" charset="0"/>
                <a:ea typeface="Calibri" pitchFamily="34" charset="-122"/>
                <a:cs typeface="Calibri" pitchFamily="34" charset="-120"/>
              </a:rPr>
              <a:t>About itself: field operations decide, and price won in 2019, so price wins in 2026.</a:t>
            </a:r>
            <a:endParaRPr lang="en-US" sz="900" dirty="0"/>
          </a:p>
          <a:p>
            <a:pPr marL="139700" indent="-139700">
              <a:lnSpc>
                <a:spcPct val="102000"/>
              </a:lnSpc>
              <a:spcAft>
                <a:spcPts val="400"/>
              </a:spcAft>
              <a:buSzPct val="100000"/>
              <a:buChar char="•"/>
            </a:pPr>
            <a:r>
              <a:rPr lang="en-US" sz="900" dirty="0">
                <a:solidFill>
                  <a:srgbClr val="C3DDE3"/>
                </a:solidFill>
                <a:latin typeface="Calibri" pitchFamily="34" charset="0"/>
                <a:ea typeface="Calibri" pitchFamily="34" charset="-122"/>
                <a:cs typeface="Calibri" pitchFamily="34" charset="-120"/>
              </a:rPr>
              <a:t>About ABP: this is a repeat equipment purchase, and Rousseau speaks for the estate.</a:t>
            </a:r>
            <a:endParaRPr lang="en-US" sz="900" dirty="0"/>
          </a:p>
        </p:txBody>
      </p:sp>
      <p:sp>
        <p:nvSpPr>
          <p:cNvPr id="45" name="Text 43"/>
          <p:cNvSpPr txBox="1"/>
          <p:nvPr/>
        </p:nvSpPr>
        <p:spPr>
          <a:xfrm>
            <a:off x="8366760" y="2962656"/>
            <a:ext cx="3154680" cy="155448"/>
          </a:xfrm>
          <a:prstGeom prst="rect">
            <a:avLst/>
          </a:prstGeom>
          <a:noFill/>
          <a:ln/>
        </p:spPr>
        <p:txBody>
          <a:bodyPr wrap="square" lIns="0" tIns="0" rIns="0" bIns="0" rtlCol="0" anchor="ctr"/>
          <a:lstStyle/>
          <a:p>
            <a:pPr indent="0" marL="0">
              <a:buNone/>
            </a:pPr>
            <a:r>
              <a:rPr lang="en-US" sz="800" b="1" spc="80" kern="0" dirty="0">
                <a:solidFill>
                  <a:srgbClr val="F0736C"/>
                </a:solidFill>
                <a:latin typeface="Calibri" pitchFamily="34" charset="0"/>
                <a:ea typeface="Calibri" pitchFamily="34" charset="-122"/>
                <a:cs typeface="Calibri" pitchFamily="34" charset="-120"/>
              </a:rPr>
              <a:t>WHERE THOSE ASSUMPTIONS BREAK</a:t>
            </a:r>
            <a:endParaRPr lang="en-US" sz="800" dirty="0"/>
          </a:p>
        </p:txBody>
      </p:sp>
      <p:sp>
        <p:nvSpPr>
          <p:cNvPr id="46" name="Text 44"/>
          <p:cNvSpPr txBox="1"/>
          <p:nvPr/>
        </p:nvSpPr>
        <p:spPr>
          <a:xfrm>
            <a:off x="8366760" y="3145536"/>
            <a:ext cx="3154680" cy="1225296"/>
          </a:xfrm>
          <a:prstGeom prst="rect">
            <a:avLst/>
          </a:prstGeom>
          <a:noFill/>
          <a:ln/>
        </p:spPr>
        <p:txBody>
          <a:bodyPr wrap="square" lIns="0" tIns="0" rIns="0" bIns="0" rtlCol="0" anchor="t"/>
          <a:lstStyle/>
          <a:p>
            <a:pPr marL="139700" indent="-139700">
              <a:lnSpc>
                <a:spcPct val="102000"/>
              </a:lnSpc>
              <a:spcAft>
                <a:spcPts val="400"/>
              </a:spcAft>
              <a:buSzPct val="100000"/>
              <a:buChar char="•"/>
            </a:pPr>
            <a:r>
              <a:rPr lang="en-US" sz="900" dirty="0">
                <a:solidFill>
                  <a:srgbClr val="C3DDE3"/>
                </a:solidFill>
                <a:latin typeface="Calibri" pitchFamily="34" charset="0"/>
                <a:ea typeface="Calibri" pitchFamily="34" charset="-122"/>
                <a:cs typeface="Calibri" pitchFamily="34" charset="-120"/>
              </a:rPr>
              <a:t>The decision was forced by regulation and a board-level emissions target — not by equipment failure.</a:t>
            </a:r>
            <a:endParaRPr lang="en-US" sz="900" dirty="0"/>
          </a:p>
          <a:p>
            <a:pPr marL="139700" indent="-139700">
              <a:lnSpc>
                <a:spcPct val="102000"/>
              </a:lnSpc>
              <a:spcAft>
                <a:spcPts val="400"/>
              </a:spcAft>
              <a:buSzPct val="100000"/>
              <a:buChar char="•"/>
            </a:pPr>
            <a:r>
              <a:rPr lang="en-US" sz="900" dirty="0">
                <a:solidFill>
                  <a:srgbClr val="C3DDE3"/>
                </a:solidFill>
                <a:latin typeface="Calibri" pitchFamily="34" charset="0"/>
                <a:ea typeface="Calibri" pitchFamily="34" charset="-122"/>
                <a:cs typeface="Calibri" pitchFamily="34" charset="-120"/>
              </a:rPr>
              <a:t>The people who forced it — Diallo, Beck, the board — are people Frostline has not met in four years.</a:t>
            </a:r>
            <a:endParaRPr lang="en-US" sz="900" dirty="0"/>
          </a:p>
          <a:p>
            <a:pPr marL="139700" indent="-139700">
              <a:lnSpc>
                <a:spcPct val="102000"/>
              </a:lnSpc>
              <a:spcAft>
                <a:spcPts val="400"/>
              </a:spcAft>
              <a:buSzPct val="100000"/>
              <a:buChar char="•"/>
            </a:pPr>
            <a:r>
              <a:rPr lang="en-US" sz="900" dirty="0">
                <a:solidFill>
                  <a:srgbClr val="C3DDE3"/>
                </a:solidFill>
                <a:latin typeface="Calibri" pitchFamily="34" charset="0"/>
                <a:ea typeface="Calibri" pitchFamily="34" charset="-122"/>
                <a:cs typeface="Calibri" pitchFamily="34" charset="-120"/>
              </a:rPr>
              <a:t>Awareness, motivation, capability: twenty-two years of winning is why they will not see it coming.</a:t>
            </a:r>
            <a:endParaRPr lang="en-US" sz="900" dirty="0"/>
          </a:p>
        </p:txBody>
      </p:sp>
      <p:sp>
        <p:nvSpPr>
          <p:cNvPr id="47" name="Shape 45"/>
          <p:cNvSpPr/>
          <p:nvPr/>
        </p:nvSpPr>
        <p:spPr>
          <a:xfrm>
            <a:off x="8366760" y="4425696"/>
            <a:ext cx="3154680" cy="1005840"/>
          </a:xfrm>
          <a:prstGeom prst="roundRect">
            <a:avLst>
              <a:gd name="adj" fmla="val 8182"/>
            </a:avLst>
          </a:prstGeom>
          <a:solidFill>
            <a:srgbClr val="0E3641"/>
          </a:solidFill>
          <a:ln w="12700">
            <a:solidFill>
              <a:srgbClr val="0E3641"/>
            </a:solidFill>
            <a:prstDash val="solid"/>
          </a:ln>
        </p:spPr>
      </p:sp>
      <p:sp>
        <p:nvSpPr>
          <p:cNvPr id="48" name="Text 46"/>
          <p:cNvSpPr txBox="1"/>
          <p:nvPr/>
        </p:nvSpPr>
        <p:spPr>
          <a:xfrm>
            <a:off x="8522208" y="4517136"/>
            <a:ext cx="2843784" cy="219456"/>
          </a:xfrm>
          <a:prstGeom prst="rect">
            <a:avLst/>
          </a:prstGeom>
          <a:noFill/>
          <a:ln/>
        </p:spPr>
        <p:txBody>
          <a:bodyPr wrap="square" lIns="0" tIns="0" rIns="0" bIns="0" rtlCol="0" anchor="ctr"/>
          <a:lstStyle/>
          <a:p>
            <a:pPr indent="0" marL="0">
              <a:buNone/>
            </a:pPr>
            <a:r>
              <a:rPr lang="en-US" sz="1200" b="1" dirty="0">
                <a:solidFill>
                  <a:srgbClr val="F2A33C"/>
                </a:solidFill>
                <a:latin typeface="Cambria" pitchFamily="34" charset="0"/>
                <a:ea typeface="Cambria" pitchFamily="34" charset="-122"/>
                <a:cs typeface="Cambria" pitchFamily="34" charset="-120"/>
              </a:rPr>
              <a:t>OUR APPROACH  ·  DISRUPTION</a:t>
            </a:r>
            <a:endParaRPr lang="en-US" sz="1200" dirty="0"/>
          </a:p>
        </p:txBody>
      </p:sp>
      <p:sp>
        <p:nvSpPr>
          <p:cNvPr id="49" name="Text 47"/>
          <p:cNvSpPr txBox="1"/>
          <p:nvPr/>
        </p:nvSpPr>
        <p:spPr>
          <a:xfrm>
            <a:off x="8522208" y="4754880"/>
            <a:ext cx="2843784" cy="603504"/>
          </a:xfrm>
          <a:prstGeom prst="rect">
            <a:avLst/>
          </a:prstGeom>
          <a:noFill/>
          <a:ln/>
        </p:spPr>
        <p:txBody>
          <a:bodyPr wrap="square" lIns="0" tIns="0" rIns="0" bIns="0" rtlCol="0" anchor="ctr"/>
          <a:lstStyle/>
          <a:p>
            <a:pPr indent="0" marL="0">
              <a:lnSpc>
                <a:spcPct val="102000"/>
              </a:lnSpc>
              <a:buNone/>
            </a:pPr>
            <a:r>
              <a:rPr lang="en-US" sz="850" dirty="0">
                <a:solidFill>
                  <a:srgbClr val="C3DDE3"/>
                </a:solidFill>
                <a:latin typeface="Calibri" pitchFamily="34" charset="0"/>
                <a:ea typeface="Calibri" pitchFamily="34" charset="-122"/>
                <a:cs typeface="Calibri" pitchFamily="34" charset="-120"/>
              </a:rPr>
              <a:t>We cannot win on today’s criteria, so we change them before they are written: from lowest unit price to five-year, compliance-adjusted cost per outlet-day of availability.</a:t>
            </a:r>
            <a:endParaRPr lang="en-US" sz="850" dirty="0"/>
          </a:p>
        </p:txBody>
      </p:sp>
      <p:sp>
        <p:nvSpPr>
          <p:cNvPr id="50" name="Text 48"/>
          <p:cNvSpPr txBox="1"/>
          <p:nvPr/>
        </p:nvSpPr>
        <p:spPr>
          <a:xfrm>
            <a:off x="8366760" y="5541264"/>
            <a:ext cx="3154680" cy="155448"/>
          </a:xfrm>
          <a:prstGeom prst="rect">
            <a:avLst/>
          </a:prstGeom>
          <a:noFill/>
          <a:ln/>
        </p:spPr>
        <p:txBody>
          <a:bodyPr wrap="square" lIns="0" tIns="0" rIns="0" bIns="0" rtlCol="0" anchor="ctr"/>
          <a:lstStyle/>
          <a:p>
            <a:pPr indent="0" marL="0">
              <a:buNone/>
            </a:pPr>
            <a:r>
              <a:rPr lang="en-US" sz="800" b="1" spc="80" kern="0" dirty="0">
                <a:solidFill>
                  <a:srgbClr val="F0736C"/>
                </a:solidFill>
                <a:latin typeface="Calibri" pitchFamily="34" charset="0"/>
                <a:ea typeface="Calibri" pitchFamily="34" charset="-122"/>
                <a:cs typeface="Calibri" pitchFamily="34" charset="-120"/>
              </a:rPr>
              <a:t>WE ARE WRONG IF — AND THEN WE SEGMENT</a:t>
            </a:r>
            <a:endParaRPr lang="en-US" sz="800" dirty="0"/>
          </a:p>
        </p:txBody>
      </p:sp>
      <p:sp>
        <p:nvSpPr>
          <p:cNvPr id="51" name="Text 49"/>
          <p:cNvSpPr txBox="1"/>
          <p:nvPr/>
        </p:nvSpPr>
        <p:spPr>
          <a:xfrm>
            <a:off x="8366760" y="5724144"/>
            <a:ext cx="3154680" cy="694944"/>
          </a:xfrm>
          <a:prstGeom prst="rect">
            <a:avLst/>
          </a:prstGeom>
          <a:noFill/>
          <a:ln/>
        </p:spPr>
        <p:txBody>
          <a:bodyPr wrap="square" lIns="0" tIns="0" rIns="0" bIns="0" rtlCol="0" anchor="ctr"/>
          <a:lstStyle/>
          <a:p>
            <a:pPr indent="0" marL="0">
              <a:lnSpc>
                <a:spcPct val="102000"/>
              </a:lnSpc>
              <a:buNone/>
            </a:pPr>
            <a:r>
              <a:rPr lang="en-US" sz="850" dirty="0">
                <a:solidFill>
                  <a:srgbClr val="C3DDE3"/>
                </a:solidFill>
                <a:latin typeface="Calibri" pitchFamily="34" charset="0"/>
                <a:ea typeface="Calibri" pitchFamily="34" charset="-122"/>
                <a:cs typeface="Calibri" pitchFamily="34" charset="-120"/>
              </a:rPr>
              <a:t>Beck and Marchand have already fixed the evaluation on unit price, or Diallo’s mandate carries no weight in the scoring. Then we stop reframing and bid a carve-out: the 20,000 highest-failure outlets in the countries where we own the engineers.</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2B33"/>
        </a:solidFill>
      </p:bgPr>
    </p:bg>
    <p:spTree>
      <p:nvGrpSpPr>
        <p:cNvPr id="1" name=""/>
        <p:cNvGrpSpPr/>
        <p:nvPr/>
      </p:nvGrpSpPr>
      <p:grpSpPr>
        <a:xfrm>
          <a:off x="0" y="0"/>
          <a:ext cx="0" cy="0"/>
          <a:chOff x="0" y="0"/>
          <a:chExt cx="0" cy="0"/>
        </a:xfrm>
      </p:grpSpPr>
      <p:sp>
        <p:nvSpPr>
          <p:cNvPr id="2" name="Text 0"/>
          <p:cNvSpPr txBox="1"/>
          <p:nvPr/>
        </p:nvSpPr>
        <p:spPr>
          <a:xfrm>
            <a:off x="502920" y="256032"/>
            <a:ext cx="7498080" cy="438912"/>
          </a:xfrm>
          <a:prstGeom prst="rect">
            <a:avLst/>
          </a:prstGeom>
          <a:noFill/>
          <a:ln/>
        </p:spPr>
        <p:txBody>
          <a:bodyPr wrap="square" lIns="0" tIns="0" rIns="0" bIns="0" rtlCol="0" anchor="ctr"/>
          <a:lstStyle/>
          <a:p>
            <a:pPr indent="0" marL="0">
              <a:buNone/>
            </a:pPr>
            <a:r>
              <a:rPr lang="en-US" sz="2700" b="1" dirty="0">
                <a:solidFill>
                  <a:srgbClr val="FFFFFF"/>
                </a:solidFill>
                <a:latin typeface="Cambria" pitchFamily="34" charset="0"/>
                <a:ea typeface="Cambria" pitchFamily="34" charset="-122"/>
                <a:cs typeface="Cambria" pitchFamily="34" charset="-120"/>
              </a:rPr>
              <a:t>Who actually decides — and the eight weeks</a:t>
            </a:r>
            <a:endParaRPr lang="en-US" sz="2700" dirty="0"/>
          </a:p>
        </p:txBody>
      </p:sp>
      <p:sp>
        <p:nvSpPr>
          <p:cNvPr id="3" name="Text 1"/>
          <p:cNvSpPr txBox="1"/>
          <p:nvPr/>
        </p:nvSpPr>
        <p:spPr>
          <a:xfrm>
            <a:off x="512064" y="694944"/>
            <a:ext cx="7498080" cy="237744"/>
          </a:xfrm>
          <a:prstGeom prst="rect">
            <a:avLst/>
          </a:prstGeom>
          <a:noFill/>
          <a:ln/>
        </p:spPr>
        <p:txBody>
          <a:bodyPr wrap="square" lIns="0" tIns="0" rIns="0" bIns="0" rtlCol="0" anchor="ctr"/>
          <a:lstStyle/>
          <a:p>
            <a:pPr indent="0" marL="0">
              <a:buNone/>
            </a:pPr>
            <a:r>
              <a:rPr lang="en-US" sz="1000" dirty="0">
                <a:solidFill>
                  <a:srgbClr val="8FB4BE"/>
                </a:solidFill>
                <a:latin typeface="Calibri" pitchFamily="34" charset="0"/>
                <a:ea typeface="Calibri" pitchFamily="34" charset="-122"/>
                <a:cs typeface="Calibri" pitchFamily="34" charset="-120"/>
              </a:rPr>
              <a:t>Ten people, six votes, one document — and only one of them writes it</a:t>
            </a:r>
            <a:endParaRPr lang="en-US" sz="1000" dirty="0"/>
          </a:p>
        </p:txBody>
      </p:sp>
      <p:sp>
        <p:nvSpPr>
          <p:cNvPr id="4" name="Text 2"/>
          <p:cNvSpPr txBox="1"/>
          <p:nvPr/>
        </p:nvSpPr>
        <p:spPr>
          <a:xfrm>
            <a:off x="8138160" y="274320"/>
            <a:ext cx="3566160" cy="219456"/>
          </a:xfrm>
          <a:prstGeom prst="rect">
            <a:avLst/>
          </a:prstGeom>
          <a:noFill/>
          <a:ln/>
        </p:spPr>
        <p:txBody>
          <a:bodyPr wrap="square" lIns="0" tIns="0" rIns="0" bIns="0" rtlCol="0" anchor="ctr"/>
          <a:lstStyle/>
          <a:p>
            <a:pPr algn="r" indent="0" marL="0">
              <a:buNone/>
            </a:pPr>
            <a:r>
              <a:rPr lang="en-US" sz="850" b="1" spc="80" kern="0" dirty="0">
                <a:solidFill>
                  <a:srgbClr val="F2A33C"/>
                </a:solidFill>
                <a:latin typeface="Calibri" pitchFamily="34" charset="0"/>
                <a:ea typeface="Calibri" pitchFamily="34" charset="-122"/>
                <a:cs typeface="Calibri" pitchFamily="34" charset="-120"/>
              </a:rPr>
              <a:t>TASKS 3, 4 &amp; 5  ·  BUYING CENTRE, MENTOR, PLAN</a:t>
            </a:r>
            <a:endParaRPr lang="en-US" sz="850" dirty="0"/>
          </a:p>
        </p:txBody>
      </p:sp>
      <p:sp>
        <p:nvSpPr>
          <p:cNvPr id="5" name="Text 3"/>
          <p:cNvSpPr txBox="1"/>
          <p:nvPr/>
        </p:nvSpPr>
        <p:spPr>
          <a:xfrm>
            <a:off x="8138160" y="530352"/>
            <a:ext cx="3566160" cy="219456"/>
          </a:xfrm>
          <a:prstGeom prst="rect">
            <a:avLst/>
          </a:prstGeom>
          <a:noFill/>
          <a:ln/>
        </p:spPr>
        <p:txBody>
          <a:bodyPr wrap="square" lIns="0" tIns="0" rIns="0" bIns="0" rtlCol="0" anchor="ctr"/>
          <a:lstStyle/>
          <a:p>
            <a:pPr algn="r" indent="0" marL="0">
              <a:buNone/>
            </a:pPr>
            <a:r>
              <a:rPr lang="en-US" sz="750" dirty="0">
                <a:solidFill>
                  <a:srgbClr val="8FB4BE"/>
                </a:solidFill>
                <a:latin typeface="Calibri" pitchFamily="34" charset="0"/>
                <a:ea typeface="Calibri" pitchFamily="34" charset="-122"/>
                <a:cs typeface="Calibri" pitchFamily="34" charset="-120"/>
              </a:rPr>
              <a:t>MERIDIAN COLD CHAIN SOLUTIONS  ·  COMPLEX SALES, LESSON 2  ·  M2 NDC, EMLV  ·  2 / 2</a:t>
            </a:r>
            <a:endParaRPr lang="en-US" sz="750" dirty="0"/>
          </a:p>
        </p:txBody>
      </p:sp>
      <p:sp>
        <p:nvSpPr>
          <p:cNvPr id="6" name="Shape 4"/>
          <p:cNvSpPr/>
          <p:nvPr/>
        </p:nvSpPr>
        <p:spPr>
          <a:xfrm>
            <a:off x="502920" y="1143000"/>
            <a:ext cx="6446520" cy="3310128"/>
          </a:xfrm>
          <a:prstGeom prst="roundRect">
            <a:avLst>
              <a:gd name="adj" fmla="val 2486"/>
            </a:avLst>
          </a:prstGeom>
          <a:solidFill>
            <a:srgbClr val="123C48"/>
          </a:solidFill>
          <a:ln w="12700">
            <a:solidFill>
              <a:srgbClr val="123C48"/>
            </a:solidFill>
            <a:prstDash val="solid"/>
          </a:ln>
        </p:spPr>
      </p:sp>
      <p:sp>
        <p:nvSpPr>
          <p:cNvPr id="7" name="Shape 5"/>
          <p:cNvSpPr/>
          <p:nvPr/>
        </p:nvSpPr>
        <p:spPr>
          <a:xfrm>
            <a:off x="685800" y="1261872"/>
            <a:ext cx="274320" cy="274320"/>
          </a:xfrm>
          <a:prstGeom prst="ellipse">
            <a:avLst/>
          </a:prstGeom>
          <a:solidFill>
            <a:srgbClr val="F2A33C"/>
          </a:solidFill>
          <a:ln w="12700">
            <a:solidFill>
              <a:srgbClr val="F2A33C"/>
            </a:solidFill>
            <a:prstDash val="solid"/>
          </a:ln>
        </p:spPr>
      </p:sp>
      <p:sp>
        <p:nvSpPr>
          <p:cNvPr id="8" name="Text 6"/>
          <p:cNvSpPr txBox="1"/>
          <p:nvPr/>
        </p:nvSpPr>
        <p:spPr>
          <a:xfrm>
            <a:off x="685800" y="1261872"/>
            <a:ext cx="274320" cy="274320"/>
          </a:xfrm>
          <a:prstGeom prst="rect">
            <a:avLst/>
          </a:prstGeom>
          <a:noFill/>
          <a:ln/>
        </p:spPr>
        <p:txBody>
          <a:bodyPr wrap="square" lIns="0" tIns="0" rIns="0" bIns="0" rtlCol="0" anchor="ctr"/>
          <a:lstStyle/>
          <a:p>
            <a:pPr algn="ctr" indent="0" marL="0">
              <a:buNone/>
            </a:pPr>
            <a:r>
              <a:rPr lang="en-US" sz="1200" b="1" dirty="0">
                <a:solidFill>
                  <a:srgbClr val="0B2B33"/>
                </a:solidFill>
                <a:latin typeface="Calibri" pitchFamily="34" charset="0"/>
                <a:ea typeface="Calibri" pitchFamily="34" charset="-122"/>
                <a:cs typeface="Calibri" pitchFamily="34" charset="-120"/>
              </a:rPr>
              <a:t>4</a:t>
            </a:r>
            <a:endParaRPr lang="en-US" sz="1200" dirty="0"/>
          </a:p>
        </p:txBody>
      </p:sp>
      <p:sp>
        <p:nvSpPr>
          <p:cNvPr id="9" name="Text 7"/>
          <p:cNvSpPr txBox="1"/>
          <p:nvPr/>
        </p:nvSpPr>
        <p:spPr>
          <a:xfrm>
            <a:off x="1051560" y="1243584"/>
            <a:ext cx="2331720" cy="310896"/>
          </a:xfrm>
          <a:prstGeom prst="rect">
            <a:avLst/>
          </a:prstGeom>
          <a:noFill/>
          <a:ln/>
        </p:spPr>
        <p:txBody>
          <a:bodyPr wrap="square" lIns="0" tIns="0" rIns="0" bIns="0" rtlCol="0" anchor="ctr"/>
          <a:lstStyle/>
          <a:p>
            <a:pPr indent="0" marL="0">
              <a:buNone/>
            </a:pPr>
            <a:r>
              <a:rPr lang="en-US" sz="1350" b="1" dirty="0">
                <a:solidFill>
                  <a:srgbClr val="FFFFFF"/>
                </a:solidFill>
                <a:latin typeface="Cambria" pitchFamily="34" charset="0"/>
                <a:ea typeface="Cambria" pitchFamily="34" charset="-122"/>
                <a:cs typeface="Cambria" pitchFamily="34" charset="-120"/>
              </a:rPr>
              <a:t>THE BUYING CENTRE</a:t>
            </a:r>
            <a:endParaRPr lang="en-US" sz="1350" dirty="0"/>
          </a:p>
        </p:txBody>
      </p:sp>
      <p:sp>
        <p:nvSpPr>
          <p:cNvPr id="10" name="Text 8"/>
          <p:cNvSpPr txBox="1"/>
          <p:nvPr/>
        </p:nvSpPr>
        <p:spPr>
          <a:xfrm>
            <a:off x="3419856" y="1243584"/>
            <a:ext cx="502920" cy="310896"/>
          </a:xfrm>
          <a:prstGeom prst="rect">
            <a:avLst/>
          </a:prstGeom>
          <a:noFill/>
          <a:ln/>
        </p:spPr>
        <p:txBody>
          <a:bodyPr wrap="square" lIns="0" tIns="0" rIns="0" bIns="0" rtlCol="0" anchor="ctr"/>
          <a:lstStyle/>
          <a:p>
            <a:pPr algn="l" indent="0" marL="0">
              <a:buNone/>
            </a:pPr>
            <a:r>
              <a:rPr lang="en-US" sz="900" dirty="0">
                <a:solidFill>
                  <a:srgbClr val="8FB4BE"/>
                </a:solidFill>
                <a:latin typeface="Calibri" pitchFamily="34" charset="0"/>
                <a:ea typeface="Calibri" pitchFamily="34" charset="-122"/>
                <a:cs typeface="Calibri" pitchFamily="34" charset="-120"/>
              </a:rPr>
              <a:t>70 s</a:t>
            </a:r>
            <a:endParaRPr lang="en-US" sz="900" dirty="0"/>
          </a:p>
        </p:txBody>
      </p:sp>
      <p:sp>
        <p:nvSpPr>
          <p:cNvPr id="11" name="Text 9"/>
          <p:cNvSpPr txBox="1"/>
          <p:nvPr/>
        </p:nvSpPr>
        <p:spPr>
          <a:xfrm rot="16200000">
            <a:off x="73152" y="2487168"/>
            <a:ext cx="1463040" cy="219456"/>
          </a:xfrm>
          <a:prstGeom prst="rect">
            <a:avLst/>
          </a:prstGeom>
          <a:noFill/>
          <a:ln/>
        </p:spPr>
        <p:txBody>
          <a:bodyPr wrap="square" lIns="0" tIns="0" rIns="0" bIns="0" rtlCol="0" anchor="ctr"/>
          <a:lstStyle/>
          <a:p>
            <a:pPr algn="ctr" indent="0" marL="0">
              <a:buNone/>
            </a:pPr>
            <a:r>
              <a:rPr lang="en-US" sz="750" b="1" spc="80" kern="0" dirty="0">
                <a:solidFill>
                  <a:srgbClr val="8FB4BE"/>
                </a:solidFill>
                <a:latin typeface="Calibri" pitchFamily="34" charset="0"/>
                <a:ea typeface="Calibri" pitchFamily="34" charset="-122"/>
                <a:cs typeface="Calibri" pitchFamily="34" charset="-120"/>
              </a:rPr>
              <a:t>POWER →</a:t>
            </a:r>
            <a:endParaRPr lang="en-US" sz="750" dirty="0"/>
          </a:p>
        </p:txBody>
      </p:sp>
      <p:sp>
        <p:nvSpPr>
          <p:cNvPr id="12" name="Shape 10"/>
          <p:cNvSpPr/>
          <p:nvPr/>
        </p:nvSpPr>
        <p:spPr>
          <a:xfrm>
            <a:off x="1005840" y="1600200"/>
            <a:ext cx="2788920" cy="932688"/>
          </a:xfrm>
          <a:prstGeom prst="roundRect">
            <a:avLst>
              <a:gd name="adj" fmla="val 8824"/>
            </a:avLst>
          </a:prstGeom>
          <a:solidFill>
            <a:srgbClr val="0E3641"/>
          </a:solidFill>
          <a:ln w="12700">
            <a:solidFill>
              <a:srgbClr val="0E3641"/>
            </a:solidFill>
            <a:prstDash val="solid"/>
          </a:ln>
        </p:spPr>
      </p:sp>
      <p:sp>
        <p:nvSpPr>
          <p:cNvPr id="13" name="Text 11"/>
          <p:cNvSpPr txBox="1"/>
          <p:nvPr/>
        </p:nvSpPr>
        <p:spPr>
          <a:xfrm>
            <a:off x="1133856" y="1673352"/>
            <a:ext cx="2532888" cy="146304"/>
          </a:xfrm>
          <a:prstGeom prst="rect">
            <a:avLst/>
          </a:prstGeom>
          <a:noFill/>
          <a:ln/>
        </p:spPr>
        <p:txBody>
          <a:bodyPr wrap="square" lIns="0" tIns="0" rIns="0" bIns="0" rtlCol="0" anchor="ctr"/>
          <a:lstStyle/>
          <a:p>
            <a:pPr indent="0" marL="0">
              <a:buNone/>
            </a:pPr>
            <a:r>
              <a:rPr lang="en-US" sz="700" b="1" spc="60" kern="0" dirty="0">
                <a:solidFill>
                  <a:srgbClr val="F0736C"/>
                </a:solidFill>
                <a:latin typeface="Calibri" pitchFamily="34" charset="0"/>
                <a:ea typeface="Calibri" pitchFamily="34" charset="-122"/>
                <a:cs typeface="Calibri" pitchFamily="34" charset="-120"/>
              </a:rPr>
              <a:t>HIGH POWER  ·  LOW INTEREST</a:t>
            </a:r>
            <a:endParaRPr lang="en-US" sz="700" dirty="0"/>
          </a:p>
        </p:txBody>
      </p:sp>
      <p:sp>
        <p:nvSpPr>
          <p:cNvPr id="14" name="Text 12"/>
          <p:cNvSpPr txBox="1"/>
          <p:nvPr/>
        </p:nvSpPr>
        <p:spPr>
          <a:xfrm>
            <a:off x="1133856" y="1856232"/>
            <a:ext cx="2532888" cy="603504"/>
          </a:xfrm>
          <a:prstGeom prst="rect">
            <a:avLst/>
          </a:prstGeom>
          <a:noFill/>
          <a:ln/>
        </p:spPr>
        <p:txBody>
          <a:bodyPr wrap="square" lIns="0" tIns="0" rIns="0" bIns="0" rtlCol="0" anchor="t"/>
          <a:lstStyle/>
          <a:p>
            <a:pPr indent="0" marL="0">
              <a:lnSpc>
                <a:spcPct val="102000"/>
              </a:lnSpc>
              <a:spcAft>
                <a:spcPts val="200"/>
              </a:spcAft>
              <a:buNone/>
            </a:pPr>
            <a:r>
              <a:rPr lang="en-US" sz="800" b="1" dirty="0">
                <a:solidFill>
                  <a:srgbClr val="FFFFFF"/>
                </a:solidFill>
                <a:latin typeface="Calibri" pitchFamily="34" charset="0"/>
                <a:ea typeface="Calibri" pitchFamily="34" charset="-122"/>
                <a:cs typeface="Calibri" pitchFamily="34" charset="-120"/>
              </a:rPr>
              <a:t>Marchand</a:t>
            </a:r>
            <a:pPr indent="0" marL="0">
              <a:lnSpc>
                <a:spcPct val="102000"/>
              </a:lnSpc>
              <a:spcAft>
                <a:spcPts val="200"/>
              </a:spcAft>
              <a:buNone/>
            </a:pPr>
            <a:r>
              <a:rPr lang="en-US" sz="800" dirty="0">
                <a:solidFill>
                  <a:srgbClr val="C3DDE3"/>
                </a:solidFill>
                <a:latin typeface="Calibri" pitchFamily="34" charset="0"/>
                <a:ea typeface="Calibri" pitchFamily="34" charset="-122"/>
                <a:cs typeface="Calibri" pitchFamily="34" charset="-120"/>
              </a:rPr>
              <a:t> — chairs it; ran the 2019 award to Frostline</a:t>
            </a:r>
            <a:endParaRPr lang="en-US" sz="800" dirty="0"/>
          </a:p>
          <a:p>
            <a:pPr indent="0" marL="0">
              <a:lnSpc>
                <a:spcPct val="102000"/>
              </a:lnSpc>
              <a:spcAft>
                <a:spcPts val="200"/>
              </a:spcAft>
              <a:buNone/>
            </a:pPr>
            <a:r>
              <a:rPr lang="en-US" sz="800" b="1" dirty="0">
                <a:solidFill>
                  <a:srgbClr val="FFFFFF"/>
                </a:solidFill>
                <a:latin typeface="Calibri" pitchFamily="34" charset="0"/>
                <a:ea typeface="Calibri" pitchFamily="34" charset="-122"/>
                <a:cs typeface="Calibri" pitchFamily="34" charset="-120"/>
              </a:rPr>
              <a:t>Rousseau</a:t>
            </a:r>
            <a:pPr indent="0" marL="0">
              <a:lnSpc>
                <a:spcPct val="102000"/>
              </a:lnSpc>
              <a:spcAft>
                <a:spcPts val="200"/>
              </a:spcAft>
              <a:buNone/>
            </a:pPr>
            <a:r>
              <a:rPr lang="en-US" sz="800" dirty="0">
                <a:solidFill>
                  <a:srgbClr val="C3DDE3"/>
                </a:solidFill>
                <a:latin typeface="Calibri" pitchFamily="34" charset="0"/>
                <a:ea typeface="Calibri" pitchFamily="34" charset="-122"/>
                <a:cs typeface="Calibri" pitchFamily="34" charset="-120"/>
              </a:rPr>
              <a:t> — 400 technicians; “it works fine”</a:t>
            </a:r>
            <a:endParaRPr lang="en-US" sz="800" dirty="0"/>
          </a:p>
          <a:p>
            <a:pPr indent="0" marL="0">
              <a:lnSpc>
                <a:spcPct val="102000"/>
              </a:lnSpc>
              <a:spcAft>
                <a:spcPts val="200"/>
              </a:spcAft>
              <a:buNone/>
            </a:pPr>
            <a:r>
              <a:rPr lang="en-US" sz="800" b="1" dirty="0">
                <a:solidFill>
                  <a:srgbClr val="FFFFFF"/>
                </a:solidFill>
                <a:latin typeface="Calibri" pitchFamily="34" charset="0"/>
                <a:ea typeface="Calibri" pitchFamily="34" charset="-122"/>
                <a:cs typeface="Calibri" pitchFamily="34" charset="-120"/>
              </a:rPr>
              <a:t>Fontaine</a:t>
            </a:r>
            <a:pPr indent="0" marL="0">
              <a:lnSpc>
                <a:spcPct val="102000"/>
              </a:lnSpc>
              <a:spcAft>
                <a:spcPts val="200"/>
              </a:spcAft>
              <a:buNone/>
            </a:pPr>
            <a:r>
              <a:rPr lang="en-US" sz="800" dirty="0">
                <a:solidFill>
                  <a:srgbClr val="C3DDE3"/>
                </a:solidFill>
                <a:latin typeface="Calibri" pitchFamily="34" charset="0"/>
                <a:ea typeface="Calibri" pitchFamily="34" charset="-122"/>
                <a:cs typeface="Calibri" pitchFamily="34" charset="-120"/>
              </a:rPr>
              <a:t> — one signature, at the very end</a:t>
            </a:r>
            <a:endParaRPr lang="en-US" sz="800" dirty="0"/>
          </a:p>
        </p:txBody>
      </p:sp>
      <p:sp>
        <p:nvSpPr>
          <p:cNvPr id="15" name="Shape 13"/>
          <p:cNvSpPr/>
          <p:nvPr/>
        </p:nvSpPr>
        <p:spPr>
          <a:xfrm>
            <a:off x="3977640" y="1600200"/>
            <a:ext cx="2788920" cy="932688"/>
          </a:xfrm>
          <a:prstGeom prst="roundRect">
            <a:avLst>
              <a:gd name="adj" fmla="val 8824"/>
            </a:avLst>
          </a:prstGeom>
          <a:solidFill>
            <a:srgbClr val="0E3641"/>
          </a:solidFill>
          <a:ln w="12700">
            <a:solidFill>
              <a:srgbClr val="0E3641"/>
            </a:solidFill>
            <a:prstDash val="solid"/>
          </a:ln>
        </p:spPr>
      </p:sp>
      <p:sp>
        <p:nvSpPr>
          <p:cNvPr id="16" name="Text 14"/>
          <p:cNvSpPr txBox="1"/>
          <p:nvPr/>
        </p:nvSpPr>
        <p:spPr>
          <a:xfrm>
            <a:off x="4105656" y="1673352"/>
            <a:ext cx="2532888" cy="146304"/>
          </a:xfrm>
          <a:prstGeom prst="rect">
            <a:avLst/>
          </a:prstGeom>
          <a:noFill/>
          <a:ln/>
        </p:spPr>
        <p:txBody>
          <a:bodyPr wrap="square" lIns="0" tIns="0" rIns="0" bIns="0" rtlCol="0" anchor="ctr"/>
          <a:lstStyle/>
          <a:p>
            <a:pPr indent="0" marL="0">
              <a:buNone/>
            </a:pPr>
            <a:r>
              <a:rPr lang="en-US" sz="700" b="1" spc="60" kern="0" dirty="0">
                <a:solidFill>
                  <a:srgbClr val="5AD9B3"/>
                </a:solidFill>
                <a:latin typeface="Calibri" pitchFamily="34" charset="0"/>
                <a:ea typeface="Calibri" pitchFamily="34" charset="-122"/>
                <a:cs typeface="Calibri" pitchFamily="34" charset="-120"/>
              </a:rPr>
              <a:t>HIGH POWER  ·  HIGH INTEREST</a:t>
            </a:r>
            <a:endParaRPr lang="en-US" sz="700" dirty="0"/>
          </a:p>
        </p:txBody>
      </p:sp>
      <p:sp>
        <p:nvSpPr>
          <p:cNvPr id="17" name="Text 15"/>
          <p:cNvSpPr txBox="1"/>
          <p:nvPr/>
        </p:nvSpPr>
        <p:spPr>
          <a:xfrm>
            <a:off x="4105656" y="1856232"/>
            <a:ext cx="2532888" cy="603504"/>
          </a:xfrm>
          <a:prstGeom prst="rect">
            <a:avLst/>
          </a:prstGeom>
          <a:noFill/>
          <a:ln/>
        </p:spPr>
        <p:txBody>
          <a:bodyPr wrap="square" lIns="0" tIns="0" rIns="0" bIns="0" rtlCol="0" anchor="t"/>
          <a:lstStyle/>
          <a:p>
            <a:pPr indent="0" marL="0">
              <a:lnSpc>
                <a:spcPct val="102000"/>
              </a:lnSpc>
              <a:spcAft>
                <a:spcPts val="200"/>
              </a:spcAft>
              <a:buNone/>
            </a:pPr>
            <a:r>
              <a:rPr lang="en-US" sz="800" b="1" dirty="0">
                <a:solidFill>
                  <a:srgbClr val="FFFFFF"/>
                </a:solidFill>
                <a:latin typeface="Calibri" pitchFamily="34" charset="0"/>
                <a:ea typeface="Calibri" pitchFamily="34" charset="-122"/>
                <a:cs typeface="Calibri" pitchFamily="34" charset="-120"/>
              </a:rPr>
              <a:t>Beck</a:t>
            </a:r>
            <a:pPr indent="0" marL="0">
              <a:lnSpc>
                <a:spcPct val="102000"/>
              </a:lnSpc>
              <a:spcAft>
                <a:spcPts val="200"/>
              </a:spcAft>
              <a:buNone/>
            </a:pPr>
            <a:r>
              <a:rPr lang="en-US" sz="800" dirty="0">
                <a:solidFill>
                  <a:srgbClr val="C3DDE3"/>
                </a:solidFill>
                <a:latin typeface="Calibri" pitchFamily="34" charset="0"/>
                <a:ea typeface="Calibri" pitchFamily="34" charset="-122"/>
                <a:cs typeface="Calibri" pitchFamily="34" charset="-120"/>
              </a:rPr>
              <a:t> — owns the budget; no supplier view yet</a:t>
            </a:r>
            <a:endParaRPr lang="en-US" sz="800" dirty="0"/>
          </a:p>
          <a:p>
            <a:pPr indent="0" marL="0">
              <a:lnSpc>
                <a:spcPct val="102000"/>
              </a:lnSpc>
              <a:spcAft>
                <a:spcPts val="200"/>
              </a:spcAft>
              <a:buNone/>
            </a:pPr>
            <a:r>
              <a:rPr lang="en-US" sz="800" b="1" dirty="0">
                <a:solidFill>
                  <a:srgbClr val="FFFFFF"/>
                </a:solidFill>
                <a:latin typeface="Calibri" pitchFamily="34" charset="0"/>
                <a:ea typeface="Calibri" pitchFamily="34" charset="-122"/>
                <a:cs typeface="Calibri" pitchFamily="34" charset="-120"/>
              </a:rPr>
              <a:t>Diallo</a:t>
            </a:r>
            <a:pPr indent="0" marL="0">
              <a:lnSpc>
                <a:spcPct val="102000"/>
              </a:lnSpc>
              <a:spcAft>
                <a:spcPts val="200"/>
              </a:spcAft>
              <a:buNone/>
            </a:pPr>
            <a:r>
              <a:rPr lang="en-US" sz="800" dirty="0">
                <a:solidFill>
                  <a:srgbClr val="C3DDE3"/>
                </a:solidFill>
                <a:latin typeface="Calibri" pitchFamily="34" charset="0"/>
                <a:ea typeface="Calibri" pitchFamily="34" charset="-122"/>
                <a:cs typeface="Calibri" pitchFamily="34" charset="-120"/>
              </a:rPr>
              <a:t> — board mandate on F-gas; no budget, no vote</a:t>
            </a:r>
            <a:endParaRPr lang="en-US" sz="800" dirty="0"/>
          </a:p>
          <a:p>
            <a:pPr indent="0" marL="0">
              <a:lnSpc>
                <a:spcPct val="102000"/>
              </a:lnSpc>
              <a:spcAft>
                <a:spcPts val="200"/>
              </a:spcAft>
              <a:buNone/>
            </a:pPr>
            <a:r>
              <a:rPr lang="en-US" sz="800" b="1" dirty="0">
                <a:solidFill>
                  <a:srgbClr val="FFFFFF"/>
                </a:solidFill>
                <a:latin typeface="Calibri" pitchFamily="34" charset="0"/>
                <a:ea typeface="Calibri" pitchFamily="34" charset="-122"/>
                <a:cs typeface="Calibri" pitchFamily="34" charset="-120"/>
              </a:rPr>
              <a:t>Sanchez</a:t>
            </a:r>
            <a:pPr indent="0" marL="0">
              <a:lnSpc>
                <a:spcPct val="102000"/>
              </a:lnSpc>
              <a:spcAft>
                <a:spcPts val="200"/>
              </a:spcAft>
              <a:buNone/>
            </a:pPr>
            <a:r>
              <a:rPr lang="en-US" sz="800" dirty="0">
                <a:solidFill>
                  <a:srgbClr val="C3DDE3"/>
                </a:solidFill>
                <a:latin typeface="Calibri" pitchFamily="34" charset="0"/>
                <a:ea typeface="Calibri" pitchFamily="34" charset="-122"/>
                <a:cs typeface="Calibri" pitchFamily="34" charset="-120"/>
              </a:rPr>
              <a:t> — writes the RFP, the Q&amp;A, the bidder list</a:t>
            </a:r>
            <a:endParaRPr lang="en-US" sz="800" dirty="0"/>
          </a:p>
        </p:txBody>
      </p:sp>
      <p:sp>
        <p:nvSpPr>
          <p:cNvPr id="18" name="Shape 16"/>
          <p:cNvSpPr/>
          <p:nvPr/>
        </p:nvSpPr>
        <p:spPr>
          <a:xfrm>
            <a:off x="1005840" y="2615184"/>
            <a:ext cx="2788920" cy="932688"/>
          </a:xfrm>
          <a:prstGeom prst="roundRect">
            <a:avLst>
              <a:gd name="adj" fmla="val 8824"/>
            </a:avLst>
          </a:prstGeom>
          <a:solidFill>
            <a:srgbClr val="0E3641"/>
          </a:solidFill>
          <a:ln w="12700">
            <a:solidFill>
              <a:srgbClr val="0E3641"/>
            </a:solidFill>
            <a:prstDash val="solid"/>
          </a:ln>
        </p:spPr>
      </p:sp>
      <p:sp>
        <p:nvSpPr>
          <p:cNvPr id="19" name="Text 17"/>
          <p:cNvSpPr txBox="1"/>
          <p:nvPr/>
        </p:nvSpPr>
        <p:spPr>
          <a:xfrm>
            <a:off x="1133856" y="2688336"/>
            <a:ext cx="2532888" cy="146304"/>
          </a:xfrm>
          <a:prstGeom prst="rect">
            <a:avLst/>
          </a:prstGeom>
          <a:noFill/>
          <a:ln/>
        </p:spPr>
        <p:txBody>
          <a:bodyPr wrap="square" lIns="0" tIns="0" rIns="0" bIns="0" rtlCol="0" anchor="ctr"/>
          <a:lstStyle/>
          <a:p>
            <a:pPr indent="0" marL="0">
              <a:buNone/>
            </a:pPr>
            <a:r>
              <a:rPr lang="en-US" sz="700" b="1" spc="60" kern="0" dirty="0">
                <a:solidFill>
                  <a:srgbClr val="8FB4BE"/>
                </a:solidFill>
                <a:latin typeface="Calibri" pitchFamily="34" charset="0"/>
                <a:ea typeface="Calibri" pitchFamily="34" charset="-122"/>
                <a:cs typeface="Calibri" pitchFamily="34" charset="-120"/>
              </a:rPr>
              <a:t>LOW POWER  ·  LOW INTEREST</a:t>
            </a:r>
            <a:endParaRPr lang="en-US" sz="700" dirty="0"/>
          </a:p>
        </p:txBody>
      </p:sp>
      <p:sp>
        <p:nvSpPr>
          <p:cNvPr id="20" name="Text 18"/>
          <p:cNvSpPr txBox="1"/>
          <p:nvPr/>
        </p:nvSpPr>
        <p:spPr>
          <a:xfrm>
            <a:off x="1133856" y="2871216"/>
            <a:ext cx="2532888" cy="603504"/>
          </a:xfrm>
          <a:prstGeom prst="rect">
            <a:avLst/>
          </a:prstGeom>
          <a:noFill/>
          <a:ln/>
        </p:spPr>
        <p:txBody>
          <a:bodyPr wrap="square" lIns="0" tIns="0" rIns="0" bIns="0" rtlCol="0" anchor="t"/>
          <a:lstStyle/>
          <a:p>
            <a:pPr indent="0" marL="0">
              <a:lnSpc>
                <a:spcPct val="102000"/>
              </a:lnSpc>
              <a:spcAft>
                <a:spcPts val="200"/>
              </a:spcAft>
              <a:buNone/>
            </a:pPr>
            <a:r>
              <a:rPr lang="en-US" sz="800" b="1" dirty="0">
                <a:solidFill>
                  <a:srgbClr val="FFFFFF"/>
                </a:solidFill>
                <a:latin typeface="Calibri" pitchFamily="34" charset="0"/>
                <a:ea typeface="Calibri" pitchFamily="34" charset="-122"/>
                <a:cs typeface="Calibri" pitchFamily="34" charset="-120"/>
              </a:rPr>
              <a:t>Haddad</a:t>
            </a:r>
            <a:pPr indent="0" marL="0">
              <a:lnSpc>
                <a:spcPct val="102000"/>
              </a:lnSpc>
              <a:spcAft>
                <a:spcPts val="200"/>
              </a:spcAft>
              <a:buNone/>
            </a:pPr>
            <a:r>
              <a:rPr lang="en-US" sz="800" dirty="0">
                <a:solidFill>
                  <a:srgbClr val="C3DDE3"/>
                </a:solidFill>
                <a:latin typeface="Calibri" pitchFamily="34" charset="0"/>
                <a:ea typeface="Calibri" pitchFamily="34" charset="-122"/>
                <a:cs typeface="Calibri" pitchFamily="34" charset="-120"/>
              </a:rPr>
              <a:t> — data terms; a veto that arrives late</a:t>
            </a:r>
            <a:endParaRPr lang="en-US" sz="800" dirty="0"/>
          </a:p>
          <a:p>
            <a:pPr indent="0" marL="0">
              <a:lnSpc>
                <a:spcPct val="102000"/>
              </a:lnSpc>
              <a:spcAft>
                <a:spcPts val="200"/>
              </a:spcAft>
              <a:buNone/>
            </a:pPr>
            <a:r>
              <a:rPr lang="en-US" sz="800" b="1" dirty="0">
                <a:solidFill>
                  <a:srgbClr val="FFFFFF"/>
                </a:solidFill>
                <a:latin typeface="Calibri" pitchFamily="34" charset="0"/>
                <a:ea typeface="Calibri" pitchFamily="34" charset="-122"/>
                <a:cs typeface="Calibri" pitchFamily="34" charset="-120"/>
              </a:rPr>
              <a:t>Franchisor</a:t>
            </a:r>
            <a:pPr indent="0" marL="0">
              <a:lnSpc>
                <a:spcPct val="102000"/>
              </a:lnSpc>
              <a:spcAft>
                <a:spcPts val="200"/>
              </a:spcAft>
              <a:buNone/>
            </a:pPr>
            <a:r>
              <a:rPr lang="en-US" sz="800" dirty="0">
                <a:solidFill>
                  <a:srgbClr val="C3DDE3"/>
                </a:solidFill>
                <a:latin typeface="Calibri" pitchFamily="34" charset="0"/>
                <a:ea typeface="Calibri" pitchFamily="34" charset="-122"/>
                <a:cs typeface="Calibri" pitchFamily="34" charset="-120"/>
              </a:rPr>
              <a:t> — no vote, and an absolute veto</a:t>
            </a:r>
            <a:endParaRPr lang="en-US" sz="800" dirty="0"/>
          </a:p>
        </p:txBody>
      </p:sp>
      <p:sp>
        <p:nvSpPr>
          <p:cNvPr id="21" name="Shape 19"/>
          <p:cNvSpPr/>
          <p:nvPr/>
        </p:nvSpPr>
        <p:spPr>
          <a:xfrm>
            <a:off x="3977640" y="2615184"/>
            <a:ext cx="2788920" cy="932688"/>
          </a:xfrm>
          <a:prstGeom prst="roundRect">
            <a:avLst>
              <a:gd name="adj" fmla="val 8824"/>
            </a:avLst>
          </a:prstGeom>
          <a:solidFill>
            <a:srgbClr val="0E3641"/>
          </a:solidFill>
          <a:ln w="12700">
            <a:solidFill>
              <a:srgbClr val="0E3641"/>
            </a:solidFill>
            <a:prstDash val="solid"/>
          </a:ln>
        </p:spPr>
      </p:sp>
      <p:sp>
        <p:nvSpPr>
          <p:cNvPr id="22" name="Text 20"/>
          <p:cNvSpPr txBox="1"/>
          <p:nvPr/>
        </p:nvSpPr>
        <p:spPr>
          <a:xfrm>
            <a:off x="4105656" y="2688336"/>
            <a:ext cx="2532888" cy="146304"/>
          </a:xfrm>
          <a:prstGeom prst="rect">
            <a:avLst/>
          </a:prstGeom>
          <a:noFill/>
          <a:ln/>
        </p:spPr>
        <p:txBody>
          <a:bodyPr wrap="square" lIns="0" tIns="0" rIns="0" bIns="0" rtlCol="0" anchor="ctr"/>
          <a:lstStyle/>
          <a:p>
            <a:pPr indent="0" marL="0">
              <a:buNone/>
            </a:pPr>
            <a:r>
              <a:rPr lang="en-US" sz="700" b="1" spc="60" kern="0" dirty="0">
                <a:solidFill>
                  <a:srgbClr val="F2A33C"/>
                </a:solidFill>
                <a:latin typeface="Calibri" pitchFamily="34" charset="0"/>
                <a:ea typeface="Calibri" pitchFamily="34" charset="-122"/>
                <a:cs typeface="Calibri" pitchFamily="34" charset="-120"/>
              </a:rPr>
              <a:t>LOW POWER  ·  HIGH INTEREST</a:t>
            </a:r>
            <a:endParaRPr lang="en-US" sz="700" dirty="0"/>
          </a:p>
        </p:txBody>
      </p:sp>
      <p:sp>
        <p:nvSpPr>
          <p:cNvPr id="23" name="Text 21"/>
          <p:cNvSpPr txBox="1"/>
          <p:nvPr/>
        </p:nvSpPr>
        <p:spPr>
          <a:xfrm>
            <a:off x="4105656" y="2871216"/>
            <a:ext cx="2532888" cy="603504"/>
          </a:xfrm>
          <a:prstGeom prst="rect">
            <a:avLst/>
          </a:prstGeom>
          <a:noFill/>
          <a:ln/>
        </p:spPr>
        <p:txBody>
          <a:bodyPr wrap="square" lIns="0" tIns="0" rIns="0" bIns="0" rtlCol="0" anchor="t"/>
          <a:lstStyle/>
          <a:p>
            <a:pPr indent="0" marL="0">
              <a:lnSpc>
                <a:spcPct val="102000"/>
              </a:lnSpc>
              <a:spcAft>
                <a:spcPts val="200"/>
              </a:spcAft>
              <a:buNone/>
            </a:pPr>
            <a:r>
              <a:rPr lang="en-US" sz="800" b="1" dirty="0">
                <a:solidFill>
                  <a:srgbClr val="FFFFFF"/>
                </a:solidFill>
                <a:latin typeface="Calibri" pitchFamily="34" charset="0"/>
                <a:ea typeface="Calibri" pitchFamily="34" charset="-122"/>
                <a:cs typeface="Calibri" pitchFamily="34" charset="-120"/>
              </a:rPr>
              <a:t>Kovač</a:t>
            </a:r>
            <a:pPr indent="0" marL="0">
              <a:lnSpc>
                <a:spcPct val="102000"/>
              </a:lnSpc>
              <a:spcAft>
                <a:spcPts val="200"/>
              </a:spcAft>
              <a:buNone/>
            </a:pPr>
            <a:r>
              <a:rPr lang="en-US" sz="800" dirty="0">
                <a:solidFill>
                  <a:srgbClr val="C3DDE3"/>
                </a:solidFill>
                <a:latin typeface="Calibri" pitchFamily="34" charset="0"/>
                <a:ea typeface="Calibri" pitchFamily="34" charset="-122"/>
                <a:cs typeface="Calibri" pitchFamily="34" charset="-120"/>
              </a:rPr>
              <a:t> — pilot budget only; 14 months in</a:t>
            </a:r>
            <a:endParaRPr lang="en-US" sz="800" dirty="0"/>
          </a:p>
          <a:p>
            <a:pPr indent="0" marL="0">
              <a:lnSpc>
                <a:spcPct val="102000"/>
              </a:lnSpc>
              <a:spcAft>
                <a:spcPts val="200"/>
              </a:spcAft>
              <a:buNone/>
            </a:pPr>
            <a:r>
              <a:rPr lang="en-US" sz="800" b="1" dirty="0">
                <a:solidFill>
                  <a:srgbClr val="FFFFFF"/>
                </a:solidFill>
                <a:latin typeface="Calibri" pitchFamily="34" charset="0"/>
                <a:ea typeface="Calibri" pitchFamily="34" charset="-122"/>
                <a:cs typeface="Calibri" pitchFamily="34" charset="-120"/>
              </a:rPr>
              <a:t>Lefebvre</a:t>
            </a:r>
            <a:pPr indent="0" marL="0">
              <a:lnSpc>
                <a:spcPct val="102000"/>
              </a:lnSpc>
              <a:spcAft>
                <a:spcPts val="200"/>
              </a:spcAft>
              <a:buNone/>
            </a:pPr>
            <a:r>
              <a:rPr lang="en-US" sz="800" dirty="0">
                <a:solidFill>
                  <a:srgbClr val="C3DDE3"/>
                </a:solidFill>
                <a:latin typeface="Calibri" pitchFamily="34" charset="0"/>
                <a:ea typeface="Calibri" pitchFamily="34" charset="-122"/>
                <a:cs typeface="Calibri" pitchFamily="34" charset="-120"/>
              </a:rPr>
              <a:t> — a cooler down on a Friday in July</a:t>
            </a:r>
            <a:endParaRPr lang="en-US" sz="800" dirty="0"/>
          </a:p>
        </p:txBody>
      </p:sp>
      <p:sp>
        <p:nvSpPr>
          <p:cNvPr id="24" name="Text 22"/>
          <p:cNvSpPr txBox="1"/>
          <p:nvPr/>
        </p:nvSpPr>
        <p:spPr>
          <a:xfrm>
            <a:off x="1005840" y="3602736"/>
            <a:ext cx="5760720" cy="164592"/>
          </a:xfrm>
          <a:prstGeom prst="rect">
            <a:avLst/>
          </a:prstGeom>
          <a:noFill/>
          <a:ln/>
        </p:spPr>
        <p:txBody>
          <a:bodyPr wrap="square" lIns="0" tIns="0" rIns="0" bIns="0" rtlCol="0" anchor="ctr"/>
          <a:lstStyle/>
          <a:p>
            <a:pPr algn="ctr" indent="0" marL="0">
              <a:buNone/>
            </a:pPr>
            <a:r>
              <a:rPr lang="en-US" sz="750" b="1" spc="80" kern="0" dirty="0">
                <a:solidFill>
                  <a:srgbClr val="8FB4BE"/>
                </a:solidFill>
                <a:latin typeface="Calibri" pitchFamily="34" charset="0"/>
                <a:ea typeface="Calibri" pitchFamily="34" charset="-122"/>
                <a:cs typeface="Calibri" pitchFamily="34" charset="-120"/>
              </a:rPr>
              <a:t>INTEREST IN CHANGING THE CURRENT ARRANGEMENT →</a:t>
            </a:r>
            <a:endParaRPr lang="en-US" sz="750" dirty="0"/>
          </a:p>
        </p:txBody>
      </p:sp>
      <p:sp>
        <p:nvSpPr>
          <p:cNvPr id="25" name="Text 23"/>
          <p:cNvSpPr txBox="1"/>
          <p:nvPr/>
        </p:nvSpPr>
        <p:spPr>
          <a:xfrm>
            <a:off x="685800" y="3858768"/>
            <a:ext cx="6080760" cy="155448"/>
          </a:xfrm>
          <a:prstGeom prst="rect">
            <a:avLst/>
          </a:prstGeom>
          <a:noFill/>
          <a:ln/>
        </p:spPr>
        <p:txBody>
          <a:bodyPr wrap="square" lIns="0" tIns="0" rIns="0" bIns="0" rtlCol="0" anchor="ctr"/>
          <a:lstStyle/>
          <a:p>
            <a:pPr indent="0" marL="0">
              <a:buNone/>
            </a:pPr>
            <a:r>
              <a:rPr lang="en-US" sz="800" b="1" spc="80" kern="0" dirty="0">
                <a:solidFill>
                  <a:srgbClr val="F2A33C"/>
                </a:solidFill>
                <a:latin typeface="Calibri" pitchFamily="34" charset="0"/>
                <a:ea typeface="Calibri" pitchFamily="34" charset="-122"/>
                <a:cs typeface="Calibri" pitchFamily="34" charset="-120"/>
              </a:rPr>
              <a:t>WHERE THE ORG CHART AND THE MAP DISAGREE</a:t>
            </a:r>
            <a:endParaRPr lang="en-US" sz="800" dirty="0"/>
          </a:p>
        </p:txBody>
      </p:sp>
      <p:sp>
        <p:nvSpPr>
          <p:cNvPr id="26" name="Text 24"/>
          <p:cNvSpPr txBox="1"/>
          <p:nvPr/>
        </p:nvSpPr>
        <p:spPr>
          <a:xfrm>
            <a:off x="685800" y="4032504"/>
            <a:ext cx="6080760" cy="329184"/>
          </a:xfrm>
          <a:prstGeom prst="rect">
            <a:avLst/>
          </a:prstGeom>
          <a:noFill/>
          <a:ln/>
        </p:spPr>
        <p:txBody>
          <a:bodyPr wrap="square" lIns="0" tIns="0" rIns="0" bIns="0" rtlCol="0" anchor="t"/>
          <a:lstStyle/>
          <a:p>
            <a:pPr indent="0" marL="0">
              <a:lnSpc>
                <a:spcPct val="102000"/>
              </a:lnSpc>
              <a:buNone/>
            </a:pPr>
            <a:r>
              <a:rPr lang="en-US" sz="850" b="1" dirty="0">
                <a:solidFill>
                  <a:srgbClr val="FFFFFF"/>
                </a:solidFill>
                <a:latin typeface="Calibri" pitchFamily="34" charset="0"/>
                <a:ea typeface="Calibri" pitchFamily="34" charset="-122"/>
                <a:cs typeface="Calibri" pitchFamily="34" charset="-120"/>
              </a:rPr>
              <a:t>Sanchez</a:t>
            </a:r>
            <a:pPr indent="0" marL="0">
              <a:lnSpc>
                <a:spcPct val="102000"/>
              </a:lnSpc>
              <a:buNone/>
            </a:pPr>
            <a:r>
              <a:rPr lang="en-US" sz="850" dirty="0">
                <a:solidFill>
                  <a:srgbClr val="C3DDE3"/>
                </a:solidFill>
                <a:latin typeface="Calibri" pitchFamily="34" charset="0"/>
                <a:ea typeface="Calibri" pitchFamily="34" charset="-122"/>
                <a:cs typeface="Calibri" pitchFamily="34" charset="-120"/>
              </a:rPr>
              <a:t> sits four levels down and writes the requirement.   </a:t>
            </a:r>
            <a:pPr indent="0" marL="0">
              <a:lnSpc>
                <a:spcPct val="102000"/>
              </a:lnSpc>
              <a:buNone/>
            </a:pPr>
            <a:r>
              <a:rPr lang="en-US" sz="850" b="1" dirty="0">
                <a:solidFill>
                  <a:srgbClr val="FFFFFF"/>
                </a:solidFill>
                <a:latin typeface="Calibri" pitchFamily="34" charset="0"/>
                <a:ea typeface="Calibri" pitchFamily="34" charset="-122"/>
                <a:cs typeface="Calibri" pitchFamily="34" charset="-120"/>
              </a:rPr>
              <a:t>Rousseau</a:t>
            </a:r>
            <a:pPr indent="0" marL="0">
              <a:lnSpc>
                <a:spcPct val="102000"/>
              </a:lnSpc>
              <a:buNone/>
            </a:pPr>
            <a:r>
              <a:rPr lang="en-US" sz="850" dirty="0">
                <a:solidFill>
                  <a:srgbClr val="C3DDE3"/>
                </a:solidFill>
                <a:latin typeface="Calibri" pitchFamily="34" charset="0"/>
                <a:ea typeface="Calibri" pitchFamily="34" charset="-122"/>
                <a:cs typeface="Calibri" pitchFamily="34" charset="-120"/>
              </a:rPr>
              <a:t> has no budget authority and can still kill the winner in evaluation.   </a:t>
            </a:r>
            <a:pPr indent="0" marL="0">
              <a:lnSpc>
                <a:spcPct val="102000"/>
              </a:lnSpc>
              <a:buNone/>
            </a:pPr>
            <a:r>
              <a:rPr lang="en-US" sz="850" b="1" dirty="0">
                <a:solidFill>
                  <a:srgbClr val="FFFFFF"/>
                </a:solidFill>
                <a:latin typeface="Calibri" pitchFamily="34" charset="0"/>
                <a:ea typeface="Calibri" pitchFamily="34" charset="-122"/>
                <a:cs typeface="Calibri" pitchFamily="34" charset="-120"/>
              </a:rPr>
              <a:t>Diallo</a:t>
            </a:r>
            <a:pPr indent="0" marL="0">
              <a:lnSpc>
                <a:spcPct val="102000"/>
              </a:lnSpc>
              <a:buNone/>
            </a:pPr>
            <a:r>
              <a:rPr lang="en-US" sz="850" dirty="0">
                <a:solidFill>
                  <a:srgbClr val="C3DDE3"/>
                </a:solidFill>
                <a:latin typeface="Calibri" pitchFamily="34" charset="0"/>
                <a:ea typeface="Calibri" pitchFamily="34" charset="-122"/>
                <a:cs typeface="Calibri" pitchFamily="34" charset="-120"/>
              </a:rPr>
              <a:t> has no vote and no budget, and is the reason the programme exists.</a:t>
            </a:r>
            <a:endParaRPr lang="en-US" sz="850" dirty="0"/>
          </a:p>
        </p:txBody>
      </p:sp>
      <p:sp>
        <p:nvSpPr>
          <p:cNvPr id="27" name="Shape 25"/>
          <p:cNvSpPr/>
          <p:nvPr/>
        </p:nvSpPr>
        <p:spPr>
          <a:xfrm>
            <a:off x="7132320" y="1143000"/>
            <a:ext cx="4572000" cy="3310128"/>
          </a:xfrm>
          <a:prstGeom prst="roundRect">
            <a:avLst>
              <a:gd name="adj" fmla="val 2486"/>
            </a:avLst>
          </a:prstGeom>
          <a:solidFill>
            <a:srgbClr val="123C48"/>
          </a:solidFill>
          <a:ln w="12700">
            <a:solidFill>
              <a:srgbClr val="123C48"/>
            </a:solidFill>
            <a:prstDash val="solid"/>
          </a:ln>
        </p:spPr>
      </p:sp>
      <p:sp>
        <p:nvSpPr>
          <p:cNvPr id="28" name="Shape 26"/>
          <p:cNvSpPr/>
          <p:nvPr/>
        </p:nvSpPr>
        <p:spPr>
          <a:xfrm>
            <a:off x="7315200" y="1261872"/>
            <a:ext cx="274320" cy="274320"/>
          </a:xfrm>
          <a:prstGeom prst="ellipse">
            <a:avLst/>
          </a:prstGeom>
          <a:solidFill>
            <a:srgbClr val="F2A33C"/>
          </a:solidFill>
          <a:ln w="12700">
            <a:solidFill>
              <a:srgbClr val="F2A33C"/>
            </a:solidFill>
            <a:prstDash val="solid"/>
          </a:ln>
        </p:spPr>
      </p:sp>
      <p:sp>
        <p:nvSpPr>
          <p:cNvPr id="29" name="Text 27"/>
          <p:cNvSpPr txBox="1"/>
          <p:nvPr/>
        </p:nvSpPr>
        <p:spPr>
          <a:xfrm>
            <a:off x="7315200" y="1261872"/>
            <a:ext cx="274320" cy="274320"/>
          </a:xfrm>
          <a:prstGeom prst="rect">
            <a:avLst/>
          </a:prstGeom>
          <a:noFill/>
          <a:ln/>
        </p:spPr>
        <p:txBody>
          <a:bodyPr wrap="square" lIns="0" tIns="0" rIns="0" bIns="0" rtlCol="0" anchor="ctr"/>
          <a:lstStyle/>
          <a:p>
            <a:pPr algn="ctr" indent="0" marL="0">
              <a:buNone/>
            </a:pPr>
            <a:r>
              <a:rPr lang="en-US" sz="1200" b="1" dirty="0">
                <a:solidFill>
                  <a:srgbClr val="0B2B33"/>
                </a:solidFill>
                <a:latin typeface="Calibri" pitchFamily="34" charset="0"/>
                <a:ea typeface="Calibri" pitchFamily="34" charset="-122"/>
                <a:cs typeface="Calibri" pitchFamily="34" charset="-120"/>
              </a:rPr>
              <a:t>5</a:t>
            </a:r>
            <a:endParaRPr lang="en-US" sz="1200" dirty="0"/>
          </a:p>
        </p:txBody>
      </p:sp>
      <p:sp>
        <p:nvSpPr>
          <p:cNvPr id="30" name="Text 28"/>
          <p:cNvSpPr txBox="1"/>
          <p:nvPr/>
        </p:nvSpPr>
        <p:spPr>
          <a:xfrm>
            <a:off x="7680960" y="1243584"/>
            <a:ext cx="1463040" cy="310896"/>
          </a:xfrm>
          <a:prstGeom prst="rect">
            <a:avLst/>
          </a:prstGeom>
          <a:noFill/>
          <a:ln/>
        </p:spPr>
        <p:txBody>
          <a:bodyPr wrap="square" lIns="0" tIns="0" rIns="0" bIns="0" rtlCol="0" anchor="ctr"/>
          <a:lstStyle/>
          <a:p>
            <a:pPr indent="0" marL="0">
              <a:buNone/>
            </a:pPr>
            <a:r>
              <a:rPr lang="en-US" sz="1350" b="1" dirty="0">
                <a:solidFill>
                  <a:srgbClr val="FFFFFF"/>
                </a:solidFill>
                <a:latin typeface="Cambria" pitchFamily="34" charset="0"/>
                <a:ea typeface="Cambria" pitchFamily="34" charset="-122"/>
                <a:cs typeface="Cambria" pitchFamily="34" charset="-120"/>
              </a:rPr>
              <a:t>OUR MENTOR</a:t>
            </a:r>
            <a:endParaRPr lang="en-US" sz="1350" dirty="0"/>
          </a:p>
        </p:txBody>
      </p:sp>
      <p:sp>
        <p:nvSpPr>
          <p:cNvPr id="31" name="Text 29"/>
          <p:cNvSpPr txBox="1"/>
          <p:nvPr/>
        </p:nvSpPr>
        <p:spPr>
          <a:xfrm>
            <a:off x="9180576" y="1243584"/>
            <a:ext cx="502920" cy="310896"/>
          </a:xfrm>
          <a:prstGeom prst="rect">
            <a:avLst/>
          </a:prstGeom>
          <a:noFill/>
          <a:ln/>
        </p:spPr>
        <p:txBody>
          <a:bodyPr wrap="square" lIns="0" tIns="0" rIns="0" bIns="0" rtlCol="0" anchor="ctr"/>
          <a:lstStyle/>
          <a:p>
            <a:pPr algn="l" indent="0" marL="0">
              <a:buNone/>
            </a:pPr>
            <a:r>
              <a:rPr lang="en-US" sz="900" dirty="0">
                <a:solidFill>
                  <a:srgbClr val="8FB4BE"/>
                </a:solidFill>
                <a:latin typeface="Calibri" pitchFamily="34" charset="0"/>
                <a:ea typeface="Calibri" pitchFamily="34" charset="-122"/>
                <a:cs typeface="Calibri" pitchFamily="34" charset="-120"/>
              </a:rPr>
              <a:t>70 s</a:t>
            </a:r>
            <a:endParaRPr lang="en-US" sz="900" dirty="0"/>
          </a:p>
        </p:txBody>
      </p:sp>
      <p:sp>
        <p:nvSpPr>
          <p:cNvPr id="32" name="Text 30"/>
          <p:cNvSpPr txBox="1"/>
          <p:nvPr/>
        </p:nvSpPr>
        <p:spPr>
          <a:xfrm>
            <a:off x="7315200" y="1655064"/>
            <a:ext cx="4206240" cy="237744"/>
          </a:xfrm>
          <a:prstGeom prst="rect">
            <a:avLst/>
          </a:prstGeom>
          <a:noFill/>
          <a:ln/>
        </p:spPr>
        <p:txBody>
          <a:bodyPr wrap="square" lIns="0" tIns="0" rIns="0" bIns="0" rtlCol="0" anchor="ctr"/>
          <a:lstStyle/>
          <a:p>
            <a:pPr indent="0" marL="0">
              <a:buNone/>
            </a:pPr>
            <a:r>
              <a:rPr lang="en-US" sz="1300" b="1" dirty="0">
                <a:solidFill>
                  <a:srgbClr val="F2A33C"/>
                </a:solidFill>
                <a:latin typeface="Cambria" pitchFamily="34" charset="0"/>
                <a:ea typeface="Cambria" pitchFamily="34" charset="-122"/>
                <a:cs typeface="Cambria" pitchFamily="34" charset="-120"/>
              </a:rPr>
              <a:t>AMARA DIALLO</a:t>
            </a:r>
            <a:pPr indent="0" marL="0">
              <a:buNone/>
            </a:pPr>
            <a:r>
              <a:rPr lang="en-US" sz="900" dirty="0">
                <a:solidFill>
                  <a:srgbClr val="8FB4BE"/>
                </a:solidFill>
                <a:latin typeface="Calibri" pitchFamily="34" charset="0"/>
                <a:ea typeface="Calibri" pitchFamily="34" charset="-122"/>
                <a:cs typeface="Calibri" pitchFamily="34" charset="-120"/>
              </a:rPr>
              <a:t>   Director of Sustainability &amp; ESG</a:t>
            </a:r>
            <a:endParaRPr lang="en-US" sz="1300" dirty="0"/>
          </a:p>
        </p:txBody>
      </p:sp>
      <p:sp>
        <p:nvSpPr>
          <p:cNvPr id="33" name="Text 31"/>
          <p:cNvSpPr txBox="1"/>
          <p:nvPr/>
        </p:nvSpPr>
        <p:spPr>
          <a:xfrm>
            <a:off x="7315200" y="1929384"/>
            <a:ext cx="4206240" cy="457200"/>
          </a:xfrm>
          <a:prstGeom prst="rect">
            <a:avLst/>
          </a:prstGeom>
          <a:noFill/>
          <a:ln/>
        </p:spPr>
        <p:txBody>
          <a:bodyPr wrap="square" lIns="0" tIns="0" rIns="0" bIns="0" rtlCol="0" anchor="t"/>
          <a:lstStyle/>
          <a:p>
            <a:pPr indent="0" marL="0">
              <a:lnSpc>
                <a:spcPct val="103000"/>
              </a:lnSpc>
              <a:buNone/>
            </a:pPr>
            <a:r>
              <a:rPr lang="en-US" sz="900" b="1" dirty="0">
                <a:solidFill>
                  <a:srgbClr val="F2A33C"/>
                </a:solidFill>
                <a:latin typeface="Calibri" pitchFamily="34" charset="0"/>
                <a:ea typeface="Calibri" pitchFamily="34" charset="-122"/>
                <a:cs typeface="Calibri" pitchFamily="34" charset="-120"/>
              </a:rPr>
              <a:t>Wants, and cannot get — </a:t>
            </a:r>
            <a:pPr indent="0" marL="0">
              <a:lnSpc>
                <a:spcPct val="103000"/>
              </a:lnSpc>
              <a:buNone/>
            </a:pPr>
            <a:r>
              <a:rPr lang="en-US" sz="900" dirty="0">
                <a:solidFill>
                  <a:srgbClr val="C3DDE3"/>
                </a:solidFill>
                <a:latin typeface="Calibri" pitchFamily="34" charset="0"/>
                <a:ea typeface="Calibri" pitchFamily="34" charset="-122"/>
                <a:cs typeface="Calibri" pitchFamily="34" charset="-120"/>
              </a:rPr>
              <a:t>a costed, credible path to the 2030 target. She owns the outcome, holds no budget and no vote, and the chair of the committee was not in the room for her January board presentation.</a:t>
            </a:r>
            <a:endParaRPr lang="en-US" sz="900" dirty="0"/>
          </a:p>
        </p:txBody>
      </p:sp>
      <p:sp>
        <p:nvSpPr>
          <p:cNvPr id="34" name="Text 32"/>
          <p:cNvSpPr txBox="1"/>
          <p:nvPr/>
        </p:nvSpPr>
        <p:spPr>
          <a:xfrm>
            <a:off x="7315200" y="2423160"/>
            <a:ext cx="4206240" cy="457200"/>
          </a:xfrm>
          <a:prstGeom prst="rect">
            <a:avLst/>
          </a:prstGeom>
          <a:noFill/>
          <a:ln/>
        </p:spPr>
        <p:txBody>
          <a:bodyPr wrap="square" lIns="0" tIns="0" rIns="0" bIns="0" rtlCol="0" anchor="t"/>
          <a:lstStyle/>
          <a:p>
            <a:pPr indent="0" marL="0">
              <a:lnSpc>
                <a:spcPct val="103000"/>
              </a:lnSpc>
              <a:buNone/>
            </a:pPr>
            <a:r>
              <a:rPr lang="en-US" sz="900" b="1" dirty="0">
                <a:solidFill>
                  <a:srgbClr val="F2A33C"/>
                </a:solidFill>
                <a:latin typeface="Calibri" pitchFamily="34" charset="0"/>
                <a:ea typeface="Calibri" pitchFamily="34" charset="-122"/>
                <a:cs typeface="Calibri" pitchFamily="34" charset="-120"/>
              </a:rPr>
              <a:t>We ask her for — </a:t>
            </a:r>
            <a:pPr indent="0" marL="0">
              <a:lnSpc>
                <a:spcPct val="103000"/>
              </a:lnSpc>
              <a:buNone/>
            </a:pPr>
            <a:r>
              <a:rPr lang="en-US" sz="900" dirty="0">
                <a:solidFill>
                  <a:srgbClr val="C3DDE3"/>
                </a:solidFill>
                <a:latin typeface="Calibri" pitchFamily="34" charset="0"/>
                <a:ea typeface="Calibri" pitchFamily="34" charset="-122"/>
                <a:cs typeface="Calibri" pitchFamily="34" charset="-120"/>
              </a:rPr>
              <a:t>the two criteria that must sit in the document: lifetime refrigerant compliance, and measured emissions per outlet. And an introduction to Beck.</a:t>
            </a:r>
            <a:endParaRPr lang="en-US" sz="900" dirty="0"/>
          </a:p>
        </p:txBody>
      </p:sp>
      <p:sp>
        <p:nvSpPr>
          <p:cNvPr id="35" name="Text 33"/>
          <p:cNvSpPr txBox="1"/>
          <p:nvPr/>
        </p:nvSpPr>
        <p:spPr>
          <a:xfrm>
            <a:off x="7315200" y="2916936"/>
            <a:ext cx="4206240" cy="310896"/>
          </a:xfrm>
          <a:prstGeom prst="rect">
            <a:avLst/>
          </a:prstGeom>
          <a:noFill/>
          <a:ln/>
        </p:spPr>
        <p:txBody>
          <a:bodyPr wrap="square" lIns="0" tIns="0" rIns="0" bIns="0" rtlCol="0" anchor="t"/>
          <a:lstStyle/>
          <a:p>
            <a:pPr indent="0" marL="0">
              <a:lnSpc>
                <a:spcPct val="103000"/>
              </a:lnSpc>
              <a:buNone/>
            </a:pPr>
            <a:r>
              <a:rPr lang="en-US" sz="900" b="1" dirty="0">
                <a:solidFill>
                  <a:srgbClr val="F2A33C"/>
                </a:solidFill>
                <a:latin typeface="Calibri" pitchFamily="34" charset="0"/>
                <a:ea typeface="Calibri" pitchFamily="34" charset="-122"/>
                <a:cs typeface="Calibri" pitchFamily="34" charset="-120"/>
              </a:rPr>
              <a:t>We give her — </a:t>
            </a:r>
            <a:pPr indent="0" marL="0">
              <a:lnSpc>
                <a:spcPct val="103000"/>
              </a:lnSpc>
              <a:buNone/>
            </a:pPr>
            <a:r>
              <a:rPr lang="en-US" sz="900" dirty="0">
                <a:solidFill>
                  <a:srgbClr val="C3DDE3"/>
                </a:solidFill>
                <a:latin typeface="Calibri" pitchFamily="34" charset="0"/>
                <a:ea typeface="Calibri" pitchFamily="34" charset="-122"/>
                <a:cs typeface="Calibri" pitchFamily="34" charset="-120"/>
              </a:rPr>
              <a:t>an estate-level F-gas and emissions cost model she tables in her own name.</a:t>
            </a:r>
            <a:endParaRPr lang="en-US" sz="900" dirty="0"/>
          </a:p>
        </p:txBody>
      </p:sp>
      <p:sp>
        <p:nvSpPr>
          <p:cNvPr id="36" name="Shape 34"/>
          <p:cNvSpPr/>
          <p:nvPr/>
        </p:nvSpPr>
        <p:spPr>
          <a:xfrm>
            <a:off x="7315200" y="3282696"/>
            <a:ext cx="4206240" cy="1078992"/>
          </a:xfrm>
          <a:prstGeom prst="roundRect">
            <a:avLst>
              <a:gd name="adj" fmla="val 7627"/>
            </a:avLst>
          </a:prstGeom>
          <a:solidFill>
            <a:srgbClr val="0E3641"/>
          </a:solidFill>
          <a:ln w="12700">
            <a:solidFill>
              <a:srgbClr val="0E3641"/>
            </a:solidFill>
            <a:prstDash val="solid"/>
          </a:ln>
        </p:spPr>
      </p:sp>
      <p:sp>
        <p:nvSpPr>
          <p:cNvPr id="37" name="Text 35"/>
          <p:cNvSpPr txBox="1"/>
          <p:nvPr/>
        </p:nvSpPr>
        <p:spPr>
          <a:xfrm>
            <a:off x="7461504" y="3374136"/>
            <a:ext cx="3913632" cy="155448"/>
          </a:xfrm>
          <a:prstGeom prst="rect">
            <a:avLst/>
          </a:prstGeom>
          <a:noFill/>
          <a:ln/>
        </p:spPr>
        <p:txBody>
          <a:bodyPr wrap="square" lIns="0" tIns="0" rIns="0" bIns="0" rtlCol="0" anchor="ctr"/>
          <a:lstStyle/>
          <a:p>
            <a:pPr indent="0" marL="0">
              <a:buNone/>
            </a:pPr>
            <a:r>
              <a:rPr lang="en-US" sz="800" b="1" spc="80" kern="0" dirty="0">
                <a:solidFill>
                  <a:srgbClr val="F0736C"/>
                </a:solidFill>
                <a:latin typeface="Calibri" pitchFamily="34" charset="0"/>
                <a:ea typeface="Calibri" pitchFamily="34" charset="-122"/>
                <a:cs typeface="Calibri" pitchFamily="34" charset="-120"/>
              </a:rPr>
              <a:t>LOOKS LIKE A MENTOR AND IS NOT  ·  ELENA KOVAČ</a:t>
            </a:r>
            <a:endParaRPr lang="en-US" sz="800" dirty="0"/>
          </a:p>
        </p:txBody>
      </p:sp>
      <p:sp>
        <p:nvSpPr>
          <p:cNvPr id="38" name="Text 36"/>
          <p:cNvSpPr txBox="1"/>
          <p:nvPr/>
        </p:nvSpPr>
        <p:spPr>
          <a:xfrm>
            <a:off x="7461504" y="3557016"/>
            <a:ext cx="3913632" cy="768096"/>
          </a:xfrm>
          <a:prstGeom prst="rect">
            <a:avLst/>
          </a:prstGeom>
          <a:noFill/>
          <a:ln/>
        </p:spPr>
        <p:txBody>
          <a:bodyPr wrap="square" lIns="0" tIns="0" rIns="0" bIns="0" rtlCol="0" anchor="t"/>
          <a:lstStyle/>
          <a:p>
            <a:pPr indent="0" marL="0">
              <a:lnSpc>
                <a:spcPct val="102000"/>
              </a:lnSpc>
              <a:spcAft>
                <a:spcPts val="300"/>
              </a:spcAft>
              <a:buNone/>
            </a:pPr>
            <a:r>
              <a:rPr lang="en-US" sz="850" dirty="0">
                <a:solidFill>
                  <a:srgbClr val="C3DDE3"/>
                </a:solidFill>
                <a:latin typeface="Calibri" pitchFamily="34" charset="0"/>
                <a:ea typeface="Calibri" pitchFamily="34" charset="-122"/>
                <a:cs typeface="Calibri" pitchFamily="34" charset="-120"/>
              </a:rPr>
              <a:t>Fourteen months in, enthusiastic, has twice asked her own IT team about joining cooler data to outlet sales — and never raised it with procurement. Pilot budget, no estate budget.</a:t>
            </a:r>
            <a:endParaRPr lang="en-US" sz="850" dirty="0"/>
          </a:p>
          <a:p>
            <a:pPr indent="0" marL="0">
              <a:lnSpc>
                <a:spcPct val="102000"/>
              </a:lnSpc>
              <a:spcAft>
                <a:spcPts val="300"/>
              </a:spcAft>
              <a:buNone/>
            </a:pPr>
            <a:r>
              <a:rPr lang="en-US" sz="850" i="1" dirty="0">
                <a:solidFill>
                  <a:srgbClr val="FFFFFF"/>
                </a:solidFill>
                <a:latin typeface="Calibri" pitchFamily="34" charset="0"/>
                <a:ea typeface="Calibri" pitchFamily="34" charset="-122"/>
                <a:cs typeface="Calibri" pitchFamily="34" charset="-120"/>
              </a:rPr>
              <a:t>The test: ask her to spend capital, not time. A mentor puts the telemetry requirements to Sanchez in writing; a fan gives you a meeting.</a:t>
            </a:r>
            <a:endParaRPr lang="en-US" sz="850" dirty="0"/>
          </a:p>
        </p:txBody>
      </p:sp>
      <p:sp>
        <p:nvSpPr>
          <p:cNvPr id="39" name="Shape 37"/>
          <p:cNvSpPr/>
          <p:nvPr/>
        </p:nvSpPr>
        <p:spPr>
          <a:xfrm>
            <a:off x="502920" y="4572000"/>
            <a:ext cx="11201400" cy="1865376"/>
          </a:xfrm>
          <a:prstGeom prst="roundRect">
            <a:avLst>
              <a:gd name="adj" fmla="val 4412"/>
            </a:avLst>
          </a:prstGeom>
          <a:solidFill>
            <a:srgbClr val="123C48"/>
          </a:solidFill>
          <a:ln w="12700">
            <a:solidFill>
              <a:srgbClr val="123C48"/>
            </a:solidFill>
            <a:prstDash val="solid"/>
          </a:ln>
        </p:spPr>
      </p:sp>
      <p:sp>
        <p:nvSpPr>
          <p:cNvPr id="40" name="Shape 38"/>
          <p:cNvSpPr/>
          <p:nvPr/>
        </p:nvSpPr>
        <p:spPr>
          <a:xfrm>
            <a:off x="685800" y="4645152"/>
            <a:ext cx="274320" cy="274320"/>
          </a:xfrm>
          <a:prstGeom prst="ellipse">
            <a:avLst/>
          </a:prstGeom>
          <a:solidFill>
            <a:srgbClr val="F2A33C"/>
          </a:solidFill>
          <a:ln w="12700">
            <a:solidFill>
              <a:srgbClr val="F2A33C"/>
            </a:solidFill>
            <a:prstDash val="solid"/>
          </a:ln>
        </p:spPr>
      </p:sp>
      <p:sp>
        <p:nvSpPr>
          <p:cNvPr id="41" name="Text 39"/>
          <p:cNvSpPr txBox="1"/>
          <p:nvPr/>
        </p:nvSpPr>
        <p:spPr>
          <a:xfrm>
            <a:off x="685800" y="4645152"/>
            <a:ext cx="274320" cy="274320"/>
          </a:xfrm>
          <a:prstGeom prst="rect">
            <a:avLst/>
          </a:prstGeom>
          <a:noFill/>
          <a:ln/>
        </p:spPr>
        <p:txBody>
          <a:bodyPr wrap="square" lIns="0" tIns="0" rIns="0" bIns="0" rtlCol="0" anchor="ctr"/>
          <a:lstStyle/>
          <a:p>
            <a:pPr algn="ctr" indent="0" marL="0">
              <a:buNone/>
            </a:pPr>
            <a:r>
              <a:rPr lang="en-US" sz="1200" b="1" dirty="0">
                <a:solidFill>
                  <a:srgbClr val="0B2B33"/>
                </a:solidFill>
                <a:latin typeface="Calibri" pitchFamily="34" charset="0"/>
                <a:ea typeface="Calibri" pitchFamily="34" charset="-122"/>
                <a:cs typeface="Calibri" pitchFamily="34" charset="-120"/>
              </a:rPr>
              <a:t>6</a:t>
            </a:r>
            <a:endParaRPr lang="en-US" sz="1200" dirty="0"/>
          </a:p>
        </p:txBody>
      </p:sp>
      <p:sp>
        <p:nvSpPr>
          <p:cNvPr id="42" name="Text 40"/>
          <p:cNvSpPr txBox="1"/>
          <p:nvPr/>
        </p:nvSpPr>
        <p:spPr>
          <a:xfrm>
            <a:off x="1051560" y="4626864"/>
            <a:ext cx="3291840" cy="310896"/>
          </a:xfrm>
          <a:prstGeom prst="rect">
            <a:avLst/>
          </a:prstGeom>
          <a:noFill/>
          <a:ln/>
        </p:spPr>
        <p:txBody>
          <a:bodyPr wrap="square" lIns="0" tIns="0" rIns="0" bIns="0" rtlCol="0" anchor="ctr"/>
          <a:lstStyle/>
          <a:p>
            <a:pPr indent="0" marL="0">
              <a:buNone/>
            </a:pPr>
            <a:r>
              <a:rPr lang="en-US" sz="1350" b="1" dirty="0">
                <a:solidFill>
                  <a:srgbClr val="FFFFFF"/>
                </a:solidFill>
                <a:latin typeface="Cambria" pitchFamily="34" charset="0"/>
                <a:ea typeface="Cambria" pitchFamily="34" charset="-122"/>
                <a:cs typeface="Cambria" pitchFamily="34" charset="-120"/>
              </a:rPr>
              <a:t>THE EIGHT WEEKS BEFORE THE RFP</a:t>
            </a:r>
            <a:endParaRPr lang="en-US" sz="1350" dirty="0"/>
          </a:p>
        </p:txBody>
      </p:sp>
      <p:sp>
        <p:nvSpPr>
          <p:cNvPr id="43" name="Text 41"/>
          <p:cNvSpPr txBox="1"/>
          <p:nvPr/>
        </p:nvSpPr>
        <p:spPr>
          <a:xfrm>
            <a:off x="4379976" y="4626864"/>
            <a:ext cx="502920" cy="310896"/>
          </a:xfrm>
          <a:prstGeom prst="rect">
            <a:avLst/>
          </a:prstGeom>
          <a:noFill/>
          <a:ln/>
        </p:spPr>
        <p:txBody>
          <a:bodyPr wrap="square" lIns="0" tIns="0" rIns="0" bIns="0" rtlCol="0" anchor="ctr"/>
          <a:lstStyle/>
          <a:p>
            <a:pPr algn="l" indent="0" marL="0">
              <a:buNone/>
            </a:pPr>
            <a:r>
              <a:rPr lang="en-US" sz="900" dirty="0">
                <a:solidFill>
                  <a:srgbClr val="8FB4BE"/>
                </a:solidFill>
                <a:latin typeface="Calibri" pitchFamily="34" charset="0"/>
                <a:ea typeface="Calibri" pitchFamily="34" charset="-122"/>
                <a:cs typeface="Calibri" pitchFamily="34" charset="-120"/>
              </a:rPr>
              <a:t>70 s</a:t>
            </a:r>
            <a:endParaRPr lang="en-US" sz="900" dirty="0"/>
          </a:p>
        </p:txBody>
      </p:sp>
      <p:sp>
        <p:nvSpPr>
          <p:cNvPr id="44" name="Text 42"/>
          <p:cNvSpPr txBox="1"/>
          <p:nvPr/>
        </p:nvSpPr>
        <p:spPr>
          <a:xfrm>
            <a:off x="6583680" y="4626864"/>
            <a:ext cx="4937760" cy="274320"/>
          </a:xfrm>
          <a:prstGeom prst="rect">
            <a:avLst/>
          </a:prstGeom>
          <a:noFill/>
          <a:ln/>
        </p:spPr>
        <p:txBody>
          <a:bodyPr wrap="square" lIns="0" tIns="0" rIns="0" bIns="0" rtlCol="0" anchor="ctr"/>
          <a:lstStyle/>
          <a:p>
            <a:pPr algn="r" indent="0" marL="0">
              <a:buNone/>
            </a:pPr>
            <a:r>
              <a:rPr lang="en-US" sz="850" i="1" dirty="0">
                <a:solidFill>
                  <a:srgbClr val="8FB4BE"/>
                </a:solidFill>
                <a:latin typeface="Calibri" pitchFamily="34" charset="0"/>
                <a:ea typeface="Calibri" pitchFamily="34" charset="-122"/>
                <a:cs typeface="Calibri" pitchFamily="34" charset="-120"/>
              </a:rPr>
              <a:t>Anything that does not change the document is time we have to justify.</a:t>
            </a:r>
            <a:endParaRPr lang="en-US" sz="850" dirty="0"/>
          </a:p>
        </p:txBody>
      </p:sp>
      <p:sp>
        <p:nvSpPr>
          <p:cNvPr id="45" name="Text 43"/>
          <p:cNvSpPr txBox="1"/>
          <p:nvPr/>
        </p:nvSpPr>
        <p:spPr>
          <a:xfrm>
            <a:off x="685800" y="4992624"/>
            <a:ext cx="256032" cy="237744"/>
          </a:xfrm>
          <a:prstGeom prst="rect">
            <a:avLst/>
          </a:prstGeom>
          <a:noFill/>
          <a:ln/>
        </p:spPr>
        <p:txBody>
          <a:bodyPr wrap="square" lIns="0" tIns="0" rIns="0" bIns="0" rtlCol="0" anchor="ctr"/>
          <a:lstStyle/>
          <a:p>
            <a:pPr indent="0" marL="0">
              <a:buNone/>
            </a:pPr>
            <a:r>
              <a:rPr lang="en-US" sz="1500" b="1" dirty="0">
                <a:solidFill>
                  <a:srgbClr val="F2A33C"/>
                </a:solidFill>
                <a:latin typeface="Cambria" pitchFamily="34" charset="0"/>
                <a:ea typeface="Cambria" pitchFamily="34" charset="-122"/>
                <a:cs typeface="Cambria" pitchFamily="34" charset="-120"/>
              </a:rPr>
              <a:t>1</a:t>
            </a:r>
            <a:endParaRPr lang="en-US" sz="1500" dirty="0"/>
          </a:p>
        </p:txBody>
      </p:sp>
      <p:sp>
        <p:nvSpPr>
          <p:cNvPr id="46" name="Text 44"/>
          <p:cNvSpPr txBox="1"/>
          <p:nvPr/>
        </p:nvSpPr>
        <p:spPr>
          <a:xfrm>
            <a:off x="960120" y="4992624"/>
            <a:ext cx="1783080" cy="237744"/>
          </a:xfrm>
          <a:prstGeom prst="rect">
            <a:avLst/>
          </a:prstGeom>
          <a:noFill/>
          <a:ln/>
        </p:spPr>
        <p:txBody>
          <a:bodyPr wrap="square" lIns="0" tIns="0" rIns="0" bIns="0" rtlCol="0" anchor="ctr"/>
          <a:lstStyle/>
          <a:p>
            <a:pPr indent="0" marL="0">
              <a:buNone/>
            </a:pPr>
            <a:r>
              <a:rPr lang="en-US" sz="750" b="1" spc="60" kern="0" dirty="0">
                <a:solidFill>
                  <a:srgbClr val="8FB4BE"/>
                </a:solidFill>
                <a:latin typeface="Calibri" pitchFamily="34" charset="0"/>
                <a:ea typeface="Calibri" pitchFamily="34" charset="-122"/>
                <a:cs typeface="Calibri" pitchFamily="34" charset="-120"/>
              </a:rPr>
              <a:t>WEEKS 1–2</a:t>
            </a:r>
            <a:endParaRPr lang="en-US" sz="750" dirty="0"/>
          </a:p>
        </p:txBody>
      </p:sp>
      <p:sp>
        <p:nvSpPr>
          <p:cNvPr id="47" name="Text 45"/>
          <p:cNvSpPr txBox="1"/>
          <p:nvPr/>
        </p:nvSpPr>
        <p:spPr>
          <a:xfrm>
            <a:off x="685800" y="5266944"/>
            <a:ext cx="2057400" cy="219456"/>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Diallo first</a:t>
            </a:r>
            <a:endParaRPr lang="en-US" sz="1000" dirty="0"/>
          </a:p>
        </p:txBody>
      </p:sp>
      <p:sp>
        <p:nvSpPr>
          <p:cNvPr id="48" name="Text 46"/>
          <p:cNvSpPr txBox="1"/>
          <p:nvPr/>
        </p:nvSpPr>
        <p:spPr>
          <a:xfrm>
            <a:off x="685800" y="5504688"/>
            <a:ext cx="2057400" cy="530352"/>
          </a:xfrm>
          <a:prstGeom prst="rect">
            <a:avLst/>
          </a:prstGeom>
          <a:noFill/>
          <a:ln/>
        </p:spPr>
        <p:txBody>
          <a:bodyPr wrap="square" lIns="0" tIns="0" rIns="0" bIns="0" rtlCol="0" anchor="t"/>
          <a:lstStyle/>
          <a:p>
            <a:pPr indent="0" marL="0">
              <a:lnSpc>
                <a:spcPct val="102000"/>
              </a:lnSpc>
              <a:buNone/>
            </a:pPr>
            <a:r>
              <a:rPr lang="en-US" sz="850" dirty="0">
                <a:solidFill>
                  <a:srgbClr val="C3DDE3"/>
                </a:solidFill>
                <a:latin typeface="Calibri" pitchFamily="34" charset="0"/>
                <a:ea typeface="Calibri" pitchFamily="34" charset="-122"/>
                <a:cs typeface="Calibri" pitchFamily="34" charset="-120"/>
              </a:rPr>
              <a:t>Build the F-gas and 2030 cost-of-inaction model for the estate — in her name, not ours.</a:t>
            </a:r>
            <a:endParaRPr lang="en-US" sz="850" dirty="0"/>
          </a:p>
        </p:txBody>
      </p:sp>
      <p:sp>
        <p:nvSpPr>
          <p:cNvPr id="49" name="Text 47"/>
          <p:cNvSpPr txBox="1"/>
          <p:nvPr/>
        </p:nvSpPr>
        <p:spPr>
          <a:xfrm>
            <a:off x="685800" y="6053328"/>
            <a:ext cx="2057400" cy="310896"/>
          </a:xfrm>
          <a:prstGeom prst="rect">
            <a:avLst/>
          </a:prstGeom>
          <a:noFill/>
          <a:ln/>
        </p:spPr>
        <p:txBody>
          <a:bodyPr wrap="square" lIns="0" tIns="0" rIns="0" bIns="0" rtlCol="0" anchor="t"/>
          <a:lstStyle/>
          <a:p>
            <a:pPr indent="0" marL="0">
              <a:lnSpc>
                <a:spcPct val="100000"/>
              </a:lnSpc>
              <a:buNone/>
            </a:pPr>
            <a:r>
              <a:rPr lang="en-US" sz="750" b="1" dirty="0">
                <a:solidFill>
                  <a:srgbClr val="5AD9B3"/>
                </a:solidFill>
                <a:latin typeface="Calibri" pitchFamily="34" charset="0"/>
                <a:ea typeface="Calibri" pitchFamily="34" charset="-122"/>
                <a:cs typeface="Calibri" pitchFamily="34" charset="-120"/>
              </a:rPr>
              <a:t>→ MAKES COMPLIANCE A SCORED CRITERION</a:t>
            </a:r>
            <a:endParaRPr lang="en-US" sz="750" dirty="0"/>
          </a:p>
        </p:txBody>
      </p:sp>
      <p:sp>
        <p:nvSpPr>
          <p:cNvPr id="50" name="Text 48"/>
          <p:cNvSpPr txBox="1"/>
          <p:nvPr/>
        </p:nvSpPr>
        <p:spPr>
          <a:xfrm>
            <a:off x="2880360" y="4992624"/>
            <a:ext cx="256032" cy="237744"/>
          </a:xfrm>
          <a:prstGeom prst="rect">
            <a:avLst/>
          </a:prstGeom>
          <a:noFill/>
          <a:ln/>
        </p:spPr>
        <p:txBody>
          <a:bodyPr wrap="square" lIns="0" tIns="0" rIns="0" bIns="0" rtlCol="0" anchor="ctr"/>
          <a:lstStyle/>
          <a:p>
            <a:pPr indent="0" marL="0">
              <a:buNone/>
            </a:pPr>
            <a:r>
              <a:rPr lang="en-US" sz="1500" b="1" dirty="0">
                <a:solidFill>
                  <a:srgbClr val="F2A33C"/>
                </a:solidFill>
                <a:latin typeface="Cambria" pitchFamily="34" charset="0"/>
                <a:ea typeface="Cambria" pitchFamily="34" charset="-122"/>
                <a:cs typeface="Cambria" pitchFamily="34" charset="-120"/>
              </a:rPr>
              <a:t>2</a:t>
            </a:r>
            <a:endParaRPr lang="en-US" sz="1500" dirty="0"/>
          </a:p>
        </p:txBody>
      </p:sp>
      <p:sp>
        <p:nvSpPr>
          <p:cNvPr id="51" name="Text 49"/>
          <p:cNvSpPr txBox="1"/>
          <p:nvPr/>
        </p:nvSpPr>
        <p:spPr>
          <a:xfrm>
            <a:off x="3154680" y="4992624"/>
            <a:ext cx="1783080" cy="237744"/>
          </a:xfrm>
          <a:prstGeom prst="rect">
            <a:avLst/>
          </a:prstGeom>
          <a:noFill/>
          <a:ln/>
        </p:spPr>
        <p:txBody>
          <a:bodyPr wrap="square" lIns="0" tIns="0" rIns="0" bIns="0" rtlCol="0" anchor="ctr"/>
          <a:lstStyle/>
          <a:p>
            <a:pPr indent="0" marL="0">
              <a:buNone/>
            </a:pPr>
            <a:r>
              <a:rPr lang="en-US" sz="750" b="1" spc="60" kern="0" dirty="0">
                <a:solidFill>
                  <a:srgbClr val="8FB4BE"/>
                </a:solidFill>
                <a:latin typeface="Calibri" pitchFamily="34" charset="0"/>
                <a:ea typeface="Calibri" pitchFamily="34" charset="-122"/>
                <a:cs typeface="Calibri" pitchFamily="34" charset="-120"/>
              </a:rPr>
              <a:t>WEEKS 2–3</a:t>
            </a:r>
            <a:endParaRPr lang="en-US" sz="750" dirty="0"/>
          </a:p>
        </p:txBody>
      </p:sp>
      <p:sp>
        <p:nvSpPr>
          <p:cNvPr id="52" name="Text 50"/>
          <p:cNvSpPr txBox="1"/>
          <p:nvPr/>
        </p:nvSpPr>
        <p:spPr>
          <a:xfrm>
            <a:off x="2880360" y="5266944"/>
            <a:ext cx="2057400" cy="219456"/>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Test Kovač, then use her</a:t>
            </a:r>
            <a:endParaRPr lang="en-US" sz="1000" dirty="0"/>
          </a:p>
        </p:txBody>
      </p:sp>
      <p:sp>
        <p:nvSpPr>
          <p:cNvPr id="53" name="Text 51"/>
          <p:cNvSpPr txBox="1"/>
          <p:nvPr/>
        </p:nvSpPr>
        <p:spPr>
          <a:xfrm>
            <a:off x="2880360" y="5504688"/>
            <a:ext cx="2057400" cy="530352"/>
          </a:xfrm>
          <a:prstGeom prst="rect">
            <a:avLst/>
          </a:prstGeom>
          <a:noFill/>
          <a:ln/>
        </p:spPr>
        <p:txBody>
          <a:bodyPr wrap="square" lIns="0" tIns="0" rIns="0" bIns="0" rtlCol="0" anchor="t"/>
          <a:lstStyle/>
          <a:p>
            <a:pPr indent="0" marL="0">
              <a:lnSpc>
                <a:spcPct val="102000"/>
              </a:lnSpc>
              <a:buNone/>
            </a:pPr>
            <a:r>
              <a:rPr lang="en-US" sz="850" dirty="0">
                <a:solidFill>
                  <a:srgbClr val="C3DDE3"/>
                </a:solidFill>
                <a:latin typeface="Calibri" pitchFamily="34" charset="0"/>
                <a:ea typeface="Calibri" pitchFamily="34" charset="-122"/>
                <a:cs typeface="Calibri" pitchFamily="34" charset="-120"/>
              </a:rPr>
              <a:t>Co-author the data spec: open API, door-open events, outlet-level sales join.</a:t>
            </a:r>
            <a:endParaRPr lang="en-US" sz="850" dirty="0"/>
          </a:p>
        </p:txBody>
      </p:sp>
      <p:sp>
        <p:nvSpPr>
          <p:cNvPr id="54" name="Text 52"/>
          <p:cNvSpPr txBox="1"/>
          <p:nvPr/>
        </p:nvSpPr>
        <p:spPr>
          <a:xfrm>
            <a:off x="2880360" y="6053328"/>
            <a:ext cx="2057400" cy="310896"/>
          </a:xfrm>
          <a:prstGeom prst="rect">
            <a:avLst/>
          </a:prstGeom>
          <a:noFill/>
          <a:ln/>
        </p:spPr>
        <p:txBody>
          <a:bodyPr wrap="square" lIns="0" tIns="0" rIns="0" bIns="0" rtlCol="0" anchor="t"/>
          <a:lstStyle/>
          <a:p>
            <a:pPr indent="0" marL="0">
              <a:lnSpc>
                <a:spcPct val="100000"/>
              </a:lnSpc>
              <a:buNone/>
            </a:pPr>
            <a:r>
              <a:rPr lang="en-US" sz="750" b="1" dirty="0">
                <a:solidFill>
                  <a:srgbClr val="5AD9B3"/>
                </a:solidFill>
                <a:latin typeface="Calibri" pitchFamily="34" charset="0"/>
                <a:ea typeface="Calibri" pitchFamily="34" charset="-122"/>
                <a:cs typeface="Calibri" pitchFamily="34" charset="-120"/>
              </a:rPr>
              <a:t>→ WRITES IN WHAT AN ALARM CONTACT CANNOT MEET</a:t>
            </a:r>
            <a:endParaRPr lang="en-US" sz="750" dirty="0"/>
          </a:p>
        </p:txBody>
      </p:sp>
      <p:sp>
        <p:nvSpPr>
          <p:cNvPr id="55" name="Text 53"/>
          <p:cNvSpPr txBox="1"/>
          <p:nvPr/>
        </p:nvSpPr>
        <p:spPr>
          <a:xfrm>
            <a:off x="5074920" y="4992624"/>
            <a:ext cx="256032" cy="237744"/>
          </a:xfrm>
          <a:prstGeom prst="rect">
            <a:avLst/>
          </a:prstGeom>
          <a:noFill/>
          <a:ln/>
        </p:spPr>
        <p:txBody>
          <a:bodyPr wrap="square" lIns="0" tIns="0" rIns="0" bIns="0" rtlCol="0" anchor="ctr"/>
          <a:lstStyle/>
          <a:p>
            <a:pPr indent="0" marL="0">
              <a:buNone/>
            </a:pPr>
            <a:r>
              <a:rPr lang="en-US" sz="1500" b="1" dirty="0">
                <a:solidFill>
                  <a:srgbClr val="F2A33C"/>
                </a:solidFill>
                <a:latin typeface="Cambria" pitchFamily="34" charset="0"/>
                <a:ea typeface="Cambria" pitchFamily="34" charset="-122"/>
                <a:cs typeface="Cambria" pitchFamily="34" charset="-120"/>
              </a:rPr>
              <a:t>3</a:t>
            </a:r>
            <a:endParaRPr lang="en-US" sz="1500" dirty="0"/>
          </a:p>
        </p:txBody>
      </p:sp>
      <p:sp>
        <p:nvSpPr>
          <p:cNvPr id="56" name="Text 54"/>
          <p:cNvSpPr txBox="1"/>
          <p:nvPr/>
        </p:nvSpPr>
        <p:spPr>
          <a:xfrm>
            <a:off x="5349240" y="4992624"/>
            <a:ext cx="1783080" cy="237744"/>
          </a:xfrm>
          <a:prstGeom prst="rect">
            <a:avLst/>
          </a:prstGeom>
          <a:noFill/>
          <a:ln/>
        </p:spPr>
        <p:txBody>
          <a:bodyPr wrap="square" lIns="0" tIns="0" rIns="0" bIns="0" rtlCol="0" anchor="ctr"/>
          <a:lstStyle/>
          <a:p>
            <a:pPr indent="0" marL="0">
              <a:buNone/>
            </a:pPr>
            <a:r>
              <a:rPr lang="en-US" sz="750" b="1" spc="60" kern="0" dirty="0">
                <a:solidFill>
                  <a:srgbClr val="8FB4BE"/>
                </a:solidFill>
                <a:latin typeface="Calibri" pitchFamily="34" charset="0"/>
                <a:ea typeface="Calibri" pitchFamily="34" charset="-122"/>
                <a:cs typeface="Calibri" pitchFamily="34" charset="-120"/>
              </a:rPr>
              <a:t>WEEKS 3–5</a:t>
            </a:r>
            <a:endParaRPr lang="en-US" sz="750" dirty="0"/>
          </a:p>
        </p:txBody>
      </p:sp>
      <p:sp>
        <p:nvSpPr>
          <p:cNvPr id="57" name="Text 55"/>
          <p:cNvSpPr txBox="1"/>
          <p:nvPr/>
        </p:nvSpPr>
        <p:spPr>
          <a:xfrm>
            <a:off x="5074920" y="5266944"/>
            <a:ext cx="2057400" cy="219456"/>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Neutralise Rousseau</a:t>
            </a:r>
            <a:endParaRPr lang="en-US" sz="1000" dirty="0"/>
          </a:p>
        </p:txBody>
      </p:sp>
      <p:sp>
        <p:nvSpPr>
          <p:cNvPr id="58" name="Text 56"/>
          <p:cNvSpPr txBox="1"/>
          <p:nvPr/>
        </p:nvSpPr>
        <p:spPr>
          <a:xfrm>
            <a:off x="5074920" y="5504688"/>
            <a:ext cx="2057400" cy="530352"/>
          </a:xfrm>
          <a:prstGeom prst="rect">
            <a:avLst/>
          </a:prstGeom>
          <a:noFill/>
          <a:ln/>
        </p:spPr>
        <p:txBody>
          <a:bodyPr wrap="square" lIns="0" tIns="0" rIns="0" bIns="0" rtlCol="0" anchor="t"/>
          <a:lstStyle/>
          <a:p>
            <a:pPr indent="0" marL="0">
              <a:lnSpc>
                <a:spcPct val="102000"/>
              </a:lnSpc>
              <a:buNone/>
            </a:pPr>
            <a:r>
              <a:rPr lang="en-US" sz="850" dirty="0">
                <a:solidFill>
                  <a:srgbClr val="C3DDE3"/>
                </a:solidFill>
                <a:latin typeface="Calibri" pitchFamily="34" charset="0"/>
                <a:ea typeface="Calibri" pitchFamily="34" charset="-122"/>
                <a:cs typeface="Calibri" pitchFamily="34" charset="-120"/>
              </a:rPr>
              <a:t>Not a pitch. His technicians, our Portugal uptime record, read on his terms.</a:t>
            </a:r>
            <a:endParaRPr lang="en-US" sz="850" dirty="0"/>
          </a:p>
        </p:txBody>
      </p:sp>
      <p:sp>
        <p:nvSpPr>
          <p:cNvPr id="59" name="Text 57"/>
          <p:cNvSpPr txBox="1"/>
          <p:nvPr/>
        </p:nvSpPr>
        <p:spPr>
          <a:xfrm>
            <a:off x="5074920" y="6053328"/>
            <a:ext cx="2057400" cy="310896"/>
          </a:xfrm>
          <a:prstGeom prst="rect">
            <a:avLst/>
          </a:prstGeom>
          <a:noFill/>
          <a:ln/>
        </p:spPr>
        <p:txBody>
          <a:bodyPr wrap="square" lIns="0" tIns="0" rIns="0" bIns="0" rtlCol="0" anchor="t"/>
          <a:lstStyle/>
          <a:p>
            <a:pPr indent="0" marL="0">
              <a:lnSpc>
                <a:spcPct val="100000"/>
              </a:lnSpc>
              <a:buNone/>
            </a:pPr>
            <a:r>
              <a:rPr lang="en-US" sz="750" b="1" dirty="0">
                <a:solidFill>
                  <a:srgbClr val="F0736C"/>
                </a:solidFill>
                <a:latin typeface="Calibri" pitchFamily="34" charset="0"/>
                <a:ea typeface="Calibri" pitchFamily="34" charset="-122"/>
                <a:cs typeface="Calibri" pitchFamily="34" charset="-120"/>
              </a:rPr>
              <a:t>→ CHANGES NO TEXT — IT PROTECTS THE OTHER FOUR</a:t>
            </a:r>
            <a:endParaRPr lang="en-US" sz="750" dirty="0"/>
          </a:p>
        </p:txBody>
      </p:sp>
      <p:sp>
        <p:nvSpPr>
          <p:cNvPr id="60" name="Text 58"/>
          <p:cNvSpPr txBox="1"/>
          <p:nvPr/>
        </p:nvSpPr>
        <p:spPr>
          <a:xfrm>
            <a:off x="7269480" y="4992624"/>
            <a:ext cx="256032" cy="237744"/>
          </a:xfrm>
          <a:prstGeom prst="rect">
            <a:avLst/>
          </a:prstGeom>
          <a:noFill/>
          <a:ln/>
        </p:spPr>
        <p:txBody>
          <a:bodyPr wrap="square" lIns="0" tIns="0" rIns="0" bIns="0" rtlCol="0" anchor="ctr"/>
          <a:lstStyle/>
          <a:p>
            <a:pPr indent="0" marL="0">
              <a:buNone/>
            </a:pPr>
            <a:r>
              <a:rPr lang="en-US" sz="1500" b="1" dirty="0">
                <a:solidFill>
                  <a:srgbClr val="F2A33C"/>
                </a:solidFill>
                <a:latin typeface="Cambria" pitchFamily="34" charset="0"/>
                <a:ea typeface="Cambria" pitchFamily="34" charset="-122"/>
                <a:cs typeface="Cambria" pitchFamily="34" charset="-120"/>
              </a:rPr>
              <a:t>4</a:t>
            </a:r>
            <a:endParaRPr lang="en-US" sz="1500" dirty="0"/>
          </a:p>
        </p:txBody>
      </p:sp>
      <p:sp>
        <p:nvSpPr>
          <p:cNvPr id="61" name="Text 59"/>
          <p:cNvSpPr txBox="1"/>
          <p:nvPr/>
        </p:nvSpPr>
        <p:spPr>
          <a:xfrm>
            <a:off x="7543800" y="4992624"/>
            <a:ext cx="1783080" cy="237744"/>
          </a:xfrm>
          <a:prstGeom prst="rect">
            <a:avLst/>
          </a:prstGeom>
          <a:noFill/>
          <a:ln/>
        </p:spPr>
        <p:txBody>
          <a:bodyPr wrap="square" lIns="0" tIns="0" rIns="0" bIns="0" rtlCol="0" anchor="ctr"/>
          <a:lstStyle/>
          <a:p>
            <a:pPr indent="0" marL="0">
              <a:buNone/>
            </a:pPr>
            <a:r>
              <a:rPr lang="en-US" sz="750" b="1" spc="60" kern="0" dirty="0">
                <a:solidFill>
                  <a:srgbClr val="8FB4BE"/>
                </a:solidFill>
                <a:latin typeface="Calibri" pitchFamily="34" charset="0"/>
                <a:ea typeface="Calibri" pitchFamily="34" charset="-122"/>
                <a:cs typeface="Calibri" pitchFamily="34" charset="-120"/>
              </a:rPr>
              <a:t>WEEKS 4–6</a:t>
            </a:r>
            <a:endParaRPr lang="en-US" sz="750" dirty="0"/>
          </a:p>
        </p:txBody>
      </p:sp>
      <p:sp>
        <p:nvSpPr>
          <p:cNvPr id="62" name="Text 60"/>
          <p:cNvSpPr txBox="1"/>
          <p:nvPr/>
        </p:nvSpPr>
        <p:spPr>
          <a:xfrm>
            <a:off x="7269480" y="5266944"/>
            <a:ext cx="2057400" cy="219456"/>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Re-base Beck’s economics</a:t>
            </a:r>
            <a:endParaRPr lang="en-US" sz="1000" dirty="0"/>
          </a:p>
        </p:txBody>
      </p:sp>
      <p:sp>
        <p:nvSpPr>
          <p:cNvPr id="63" name="Text 61"/>
          <p:cNvSpPr txBox="1"/>
          <p:nvPr/>
        </p:nvSpPr>
        <p:spPr>
          <a:xfrm>
            <a:off x="7269480" y="5504688"/>
            <a:ext cx="2057400" cy="530352"/>
          </a:xfrm>
          <a:prstGeom prst="rect">
            <a:avLst/>
          </a:prstGeom>
          <a:noFill/>
          <a:ln/>
        </p:spPr>
        <p:txBody>
          <a:bodyPr wrap="square" lIns="0" tIns="0" rIns="0" bIns="0" rtlCol="0" anchor="t"/>
          <a:lstStyle/>
          <a:p>
            <a:pPr indent="0" marL="0">
              <a:lnSpc>
                <a:spcPct val="102000"/>
              </a:lnSpc>
              <a:buNone/>
            </a:pPr>
            <a:r>
              <a:rPr lang="en-US" sz="850" dirty="0">
                <a:solidFill>
                  <a:srgbClr val="C3DDE3"/>
                </a:solidFill>
                <a:latin typeface="Calibri" pitchFamily="34" charset="0"/>
                <a:ea typeface="Calibri" pitchFamily="34" charset="-122"/>
                <a:cs typeface="Calibri" pitchFamily="34" charset="-120"/>
              </a:rPr>
              <a:t>Cost per outlet-day of availability over five years, not price per unit.</a:t>
            </a:r>
            <a:endParaRPr lang="en-US" sz="850" dirty="0"/>
          </a:p>
        </p:txBody>
      </p:sp>
      <p:sp>
        <p:nvSpPr>
          <p:cNvPr id="64" name="Text 62"/>
          <p:cNvSpPr txBox="1"/>
          <p:nvPr/>
        </p:nvSpPr>
        <p:spPr>
          <a:xfrm>
            <a:off x="7269480" y="6053328"/>
            <a:ext cx="2057400" cy="310896"/>
          </a:xfrm>
          <a:prstGeom prst="rect">
            <a:avLst/>
          </a:prstGeom>
          <a:noFill/>
          <a:ln/>
        </p:spPr>
        <p:txBody>
          <a:bodyPr wrap="square" lIns="0" tIns="0" rIns="0" bIns="0" rtlCol="0" anchor="t"/>
          <a:lstStyle/>
          <a:p>
            <a:pPr indent="0" marL="0">
              <a:lnSpc>
                <a:spcPct val="100000"/>
              </a:lnSpc>
              <a:buNone/>
            </a:pPr>
            <a:r>
              <a:rPr lang="en-US" sz="750" b="1" dirty="0">
                <a:solidFill>
                  <a:srgbClr val="5AD9B3"/>
                </a:solidFill>
                <a:latin typeface="Calibri" pitchFamily="34" charset="0"/>
                <a:ea typeface="Calibri" pitchFamily="34" charset="-122"/>
                <a:cs typeface="Calibri" pitchFamily="34" charset="-120"/>
              </a:rPr>
              <a:t>→ MOVES THE EVALUATION TO FIVE-YEAR COST</a:t>
            </a:r>
            <a:endParaRPr lang="en-US" sz="750" dirty="0"/>
          </a:p>
        </p:txBody>
      </p:sp>
      <p:sp>
        <p:nvSpPr>
          <p:cNvPr id="65" name="Text 63"/>
          <p:cNvSpPr txBox="1"/>
          <p:nvPr/>
        </p:nvSpPr>
        <p:spPr>
          <a:xfrm>
            <a:off x="9464040" y="4992624"/>
            <a:ext cx="256032" cy="237744"/>
          </a:xfrm>
          <a:prstGeom prst="rect">
            <a:avLst/>
          </a:prstGeom>
          <a:noFill/>
          <a:ln/>
        </p:spPr>
        <p:txBody>
          <a:bodyPr wrap="square" lIns="0" tIns="0" rIns="0" bIns="0" rtlCol="0" anchor="ctr"/>
          <a:lstStyle/>
          <a:p>
            <a:pPr indent="0" marL="0">
              <a:buNone/>
            </a:pPr>
            <a:r>
              <a:rPr lang="en-US" sz="1500" b="1" dirty="0">
                <a:solidFill>
                  <a:srgbClr val="F2A33C"/>
                </a:solidFill>
                <a:latin typeface="Cambria" pitchFamily="34" charset="0"/>
                <a:ea typeface="Cambria" pitchFamily="34" charset="-122"/>
                <a:cs typeface="Cambria" pitchFamily="34" charset="-120"/>
              </a:rPr>
              <a:t>5</a:t>
            </a:r>
            <a:endParaRPr lang="en-US" sz="1500" dirty="0"/>
          </a:p>
        </p:txBody>
      </p:sp>
      <p:sp>
        <p:nvSpPr>
          <p:cNvPr id="66" name="Text 64"/>
          <p:cNvSpPr txBox="1"/>
          <p:nvPr/>
        </p:nvSpPr>
        <p:spPr>
          <a:xfrm>
            <a:off x="9738360" y="4992624"/>
            <a:ext cx="1783080" cy="237744"/>
          </a:xfrm>
          <a:prstGeom prst="rect">
            <a:avLst/>
          </a:prstGeom>
          <a:noFill/>
          <a:ln/>
        </p:spPr>
        <p:txBody>
          <a:bodyPr wrap="square" lIns="0" tIns="0" rIns="0" bIns="0" rtlCol="0" anchor="ctr"/>
          <a:lstStyle/>
          <a:p>
            <a:pPr indent="0" marL="0">
              <a:buNone/>
            </a:pPr>
            <a:r>
              <a:rPr lang="en-US" sz="750" b="1" spc="60" kern="0" dirty="0">
                <a:solidFill>
                  <a:srgbClr val="8FB4BE"/>
                </a:solidFill>
                <a:latin typeface="Calibri" pitchFamily="34" charset="0"/>
                <a:ea typeface="Calibri" pitchFamily="34" charset="-122"/>
                <a:cs typeface="Calibri" pitchFamily="34" charset="-120"/>
              </a:rPr>
              <a:t>WEEKS 6–8</a:t>
            </a:r>
            <a:endParaRPr lang="en-US" sz="750" dirty="0"/>
          </a:p>
        </p:txBody>
      </p:sp>
      <p:sp>
        <p:nvSpPr>
          <p:cNvPr id="67" name="Text 65"/>
          <p:cNvSpPr txBox="1"/>
          <p:nvPr/>
        </p:nvSpPr>
        <p:spPr>
          <a:xfrm>
            <a:off x="9464040" y="5266944"/>
            <a:ext cx="2057400" cy="219456"/>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Sanchez, and Haddad early</a:t>
            </a:r>
            <a:endParaRPr lang="en-US" sz="1000" dirty="0"/>
          </a:p>
        </p:txBody>
      </p:sp>
      <p:sp>
        <p:nvSpPr>
          <p:cNvPr id="68" name="Text 66"/>
          <p:cNvSpPr txBox="1"/>
          <p:nvPr/>
        </p:nvSpPr>
        <p:spPr>
          <a:xfrm>
            <a:off x="9464040" y="5504688"/>
            <a:ext cx="2057400" cy="530352"/>
          </a:xfrm>
          <a:prstGeom prst="rect">
            <a:avLst/>
          </a:prstGeom>
          <a:noFill/>
          <a:ln/>
        </p:spPr>
        <p:txBody>
          <a:bodyPr wrap="square" lIns="0" tIns="0" rIns="0" bIns="0" rtlCol="0" anchor="t"/>
          <a:lstStyle/>
          <a:p>
            <a:pPr indent="0" marL="0">
              <a:lnSpc>
                <a:spcPct val="102000"/>
              </a:lnSpc>
              <a:buNone/>
            </a:pPr>
            <a:r>
              <a:rPr lang="en-US" sz="850" dirty="0">
                <a:solidFill>
                  <a:srgbClr val="C3DDE3"/>
                </a:solidFill>
                <a:latin typeface="Calibri" pitchFamily="34" charset="0"/>
                <a:ea typeface="Calibri" pitchFamily="34" charset="-122"/>
                <a:cs typeface="Calibri" pitchFamily="34" charset="-120"/>
              </a:rPr>
              <a:t>Bidder list, Q&amp;A rules, and a data-processing annex offered before Legal is asked to block.</a:t>
            </a:r>
            <a:endParaRPr lang="en-US" sz="850" dirty="0"/>
          </a:p>
        </p:txBody>
      </p:sp>
      <p:sp>
        <p:nvSpPr>
          <p:cNvPr id="69" name="Text 67"/>
          <p:cNvSpPr txBox="1"/>
          <p:nvPr/>
        </p:nvSpPr>
        <p:spPr>
          <a:xfrm>
            <a:off x="9464040" y="6053328"/>
            <a:ext cx="2057400" cy="310896"/>
          </a:xfrm>
          <a:prstGeom prst="rect">
            <a:avLst/>
          </a:prstGeom>
          <a:noFill/>
          <a:ln/>
        </p:spPr>
        <p:txBody>
          <a:bodyPr wrap="square" lIns="0" tIns="0" rIns="0" bIns="0" rtlCol="0" anchor="t"/>
          <a:lstStyle/>
          <a:p>
            <a:pPr indent="0" marL="0">
              <a:lnSpc>
                <a:spcPct val="100000"/>
              </a:lnSpc>
              <a:buNone/>
            </a:pPr>
            <a:r>
              <a:rPr lang="en-US" sz="750" b="1" dirty="0">
                <a:solidFill>
                  <a:srgbClr val="5AD9B3"/>
                </a:solidFill>
                <a:latin typeface="Calibri" pitchFamily="34" charset="0"/>
                <a:ea typeface="Calibri" pitchFamily="34" charset="-122"/>
                <a:cs typeface="Calibri" pitchFamily="34" charset="-120"/>
              </a:rPr>
              <a:t>→ THE TEXT, THE WEIGHTS, AND WHO ANSWERS</a:t>
            </a:r>
            <a:endParaRPr lang="en-US" sz="750" dirty="0"/>
          </a:p>
        </p:txBody>
      </p:sp>
      <p:sp>
        <p:nvSpPr>
          <p:cNvPr id="70" name="Text 68"/>
          <p:cNvSpPr txBox="1"/>
          <p:nvPr/>
        </p:nvSpPr>
        <p:spPr>
          <a:xfrm>
            <a:off x="502920" y="6510528"/>
            <a:ext cx="11201400" cy="201168"/>
          </a:xfrm>
          <a:prstGeom prst="rect">
            <a:avLst/>
          </a:prstGeom>
          <a:noFill/>
          <a:ln/>
        </p:spPr>
        <p:txBody>
          <a:bodyPr wrap="square" lIns="0" tIns="0" rIns="0" bIns="0" rtlCol="0" anchor="ctr"/>
          <a:lstStyle/>
          <a:p>
            <a:pPr indent="0" marL="0">
              <a:buNone/>
            </a:pPr>
            <a:r>
              <a:rPr lang="en-US" sz="700" dirty="0">
                <a:solidFill>
                  <a:srgbClr val="8FB4BE"/>
                </a:solidFill>
                <a:latin typeface="Calibri" pitchFamily="34" charset="0"/>
                <a:ea typeface="Calibri" pitchFamily="34" charset="-122"/>
                <a:cs typeface="Calibri" pitchFamily="34" charset="-120"/>
              </a:rPr>
              <a:t>Porter (1980) · Chen (1996) · Zahra &amp; Chaples (1993) · Webster &amp; Wind (1972) · Kohli (1989) · Ronchetto, Hutt &amp; Reingen (1989) · Mitchell, Agle &amp; Wood (1997) · Burnham, Frels &amp; Mahajan (2003)</a:t>
            </a:r>
            <a:endParaRPr lang="en-US" sz="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ABP Project — Complex Sales</dc:title>
  <dc:subject>PptxGenJS Presentation</dc:subject>
  <dc:creator>M2 NDC — EMLV</dc:creator>
  <cp:lastModifiedBy>M2 NDC — EMLV</cp:lastModifiedBy>
  <cp:revision>1</cp:revision>
  <dcterms:created xsi:type="dcterms:W3CDTF">2026-09-09T15:03:02Z</dcterms:created>
  <dcterms:modified xsi:type="dcterms:W3CDTF">2026-09-09T15:03:02Z</dcterms:modified>
</cp:coreProperties>
</file>