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minutes, 6 speakers. Slide 1 = speakers 1-3 (about 3:10). Everything below is spoken, not written on the slide.
SPEAKER 1 (45s) - WHERE WE STAND. We are Meridian, account director on a 78 million euro programme: 60,000 coolers replaced over five years, plus telemetry. Frostline has held this estate for twenty-two years and seventy per cent of it, at the lowest unit price in the market. We have one 900-unit pilot in Portugal from 2021, rated good - and no relationship above middle management. Our last meeting was seven months ago; we heard about the programme three weeks ago, and we heard it second-hand, from a consultancy. Now the important part: two things forced this decision at the same time - the F-gas phase-down and a published 2030 emissions target the group cannot reach on its current estate. Neither of them is about coolers. Which is why the tender is not the contest: the eight weeks before it is. After the RFP is issued we are answering someone else's document, and we are not selling against a competitor - we are selling against an arrangement that works.
SPEAKER 2 (75s) - BATTLE CARD, FROSTLINE. Their pitch will be continuity at the lowest cost, and it is a strong pitch. Two claims we cannot dismiss: they are the cheapest and they are already inside ABP's maintenance scheduling, so they are also the least disruptive; and they are the only bidder who has actually moved units across 48,000 outlets without stopping the sale of chilled product. But two real vulnerabilities. First, two of their three refrigerant platforms are hit by the F-gas phase-down - over a five-year rollout the safe bid is the one carrying regulatory and residual-value risk. Second, they have no telemetry beyond a basic alarm contact, and their account team has not met anyone above Rousseau in four years. We do not name either weakness. We ask three questions and let ABP find them: which platform will the year-four units sit on and who pays if it is restricted; how do you find out today that a cooler has failed and how long is it down; and how will compliance be weighted against price, and who decides that weighting. None of this lands without one proof point: audited uptime and lost-volume data from our own Portugal estate, cross-checked against ABP's own service records.
SPEAKER 3 (70s) - FOUR CORNERS AND OUR APPROACH. Porter's harder question is not what a competitor can do, it is what they assume. Frostline assumes field operations decide, and that price won in 2019 so price wins in 2026. And they assume ABP is buying coolers, not data. Both assumptions are wrong, for the same reason: this decision was not triggered by equipment failure, it was triggered by regulation and a board-level emissions target - and the people who forced it are people Frostline has not met in four years. Twenty-two years of winning is exactly why they will not see it coming. So our approach is disruption. Not domination - we have never won an estate this size. Not blocking - we are not the incumbent. We change the criteria before they are written: from lowest unit price to five-year, compliance-adjusted cost per outlet-day of availability. And we say what would make us wrong: if Beck and Marchand have already fixed the evaluation on unit price, or if Diallo's mandate carries no weight in the scoring, then reframing burns eight weeks. In that case we segment and bid a carve-out - the 20,000 highest-failure outlets in the countries where we own the engineers.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speakers 4-6 (about 3:30). Everything below is spoken, not written on the slide.
SPEAKER 4 (70s) - THE BUYING CENTRE. The evaluation committee has six formal members, but there are ten people on this map - because the committee is not the buying centre. Power on one axis, interest in CHANGING the current arrangement on the other. Top left, powerful and with no reason to change: Marchand chairs the committee and ran the 2019 tender that awarded Frostline - change means her own decision was wrong - and she is publicly committed to six per cent annual cost reduction. Rousseau has 400 technicians and says openly that the estate works fine. Fontaine signs once, at the end. Top right, powerful and open to change: Beck owns the budget and has not yet formed a view - he is the prize. Diallo carries a board-level, non-negotiable mandate. Sanchez writes the document. Bottom right, high interest and little power: Kovac has a pilot budget, Lefebvre has the Friday-in-July problem and is our best source of evidence. Bottom left, the two late vetoes: Haddad on telemetry data terms, and the franchisor, who is not on the org chart at all and can veto anything touching how the cooler looks. Three places the org chart is simply wrong: Sanchez sits four levels down and writes the requirement - process power beats position. Rousseau has no budget authority and can still kill the winner during evaluation. And Diallo has no vote and no budget, and she is the reason the programme exists.
SPEAKER 5 (70s) - THE MENTOR. Amara Diallo. What she wants and cannot currently get: a costed, credible path to the 2030 target and the F-gas transition. She owns the outcome and holds neither budget nor vote. And note the detail in the case: she presented the F-gas plan to the board in January. Beck was in the room. Marchand was not. The person chairing the evaluation was absent for the reason the programme exists - that gap is our opening. We ask her for two things: the two criteria that must appear in the document, and an introduction to Beck. We give her something she can use internally - an estate-level F-gas and emissions cost model she tables in her own name, not ours. Now the trap. Kovac looks exactly like a mentor: enthusiastic, technical, already building a telemetry business case, and she will take every meeting we offer. But she is fourteen months in, has budget for a pilot and not for a rollout, and has twice asked her own IT team about joining cooler data to outlet sales without ever raising it with procurement. Enthusiasm is not influence. So we test her: we ask her to spend capital, not time. Will you put the telemetry requirements to Sanchez in writing and co-sign them? A mentor spends internal capital. A fan gives you a meeting.
SPEAKER 6 (70s) - THE EIGHT WEEKS. Five moves, in order. One, Diallo: build the F-gas and cost-of-inaction model in her name, which makes compliance and emissions scored criteria rather than preferences. Two, test Kovac and then co-author the data specification - open API, door-open events, outlet-level sales join - which writes in requirements a basic alarm contact cannot meet. Three, neutralise Rousseau: not a pitch, his own technicians reading our Portugal uptime data on his terms. This one changes nothing in the document, and the case asks us to justify that: without Rousseau neutral, the user buyer kills the winner during evaluation, so this move protects the value of the other four. Four, re-base Beck's economics onto cost per outlet-day of availability over five years, which moves the evaluation off unit price and disarms Frostline's strongest claim. Five, Sanchez and Haddad: the bidder list, the Q&amp;A rules, and a data-processing annex offered before Legal is ever asked to block. Four of the five change the document. And the test of the whole plan is simple - if we are still explaining our telemetry to Sanchez in week nine, we have already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B33"/>
        </a:solidFill>
      </p:bgPr>
    </p:bg>
    <p:spTree>
      <p:nvGrpSpPr>
        <p:cNvPr id="1" name=""/>
        <p:cNvGrpSpPr/>
        <p:nvPr/>
      </p:nvGrpSpPr>
      <p:grpSpPr>
        <a:xfrm>
          <a:off x="0" y="0"/>
          <a:ext cx="0" cy="0"/>
          <a:chOff x="0" y="0"/>
          <a:chExt cx="0" cy="0"/>
        </a:xfrm>
      </p:grpSpPr>
      <p:sp>
        <p:nvSpPr>
          <p:cNvPr id="2" name="Text 0"/>
          <p:cNvSpPr txBox="1"/>
          <p:nvPr/>
        </p:nvSpPr>
        <p:spPr>
          <a:xfrm>
            <a:off x="502920" y="256032"/>
            <a:ext cx="7498080" cy="438912"/>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The ABP Project</a:t>
            </a:r>
            <a:endParaRPr lang="en-US" sz="2700" dirty="0"/>
          </a:p>
        </p:txBody>
      </p:sp>
      <p:sp>
        <p:nvSpPr>
          <p:cNvPr id="3" name="Text 1"/>
          <p:cNvSpPr txBox="1"/>
          <p:nvPr/>
        </p:nvSpPr>
        <p:spPr>
          <a:xfrm>
            <a:off x="512064" y="694944"/>
            <a:ext cx="7498080" cy="237744"/>
          </a:xfrm>
          <a:prstGeom prst="rect">
            <a:avLst/>
          </a:prstGeom>
          <a:noFill/>
          <a:ln/>
        </p:spPr>
        <p:txBody>
          <a:bodyPr wrap="square" lIns="0" tIns="0" rIns="0" bIns="0" rtlCol="0" anchor="ctr"/>
          <a:lstStyle/>
          <a:p>
            <a:pPr indent="0" marL="0">
              <a:buNone/>
            </a:pPr>
            <a:r>
              <a:rPr lang="en-US" sz="1050" dirty="0">
                <a:solidFill>
                  <a:srgbClr val="8FB4BE"/>
                </a:solidFill>
                <a:latin typeface="Calibri" pitchFamily="34" charset="0"/>
                <a:ea typeface="Calibri" pitchFamily="34" charset="-122"/>
                <a:cs typeface="Calibri" pitchFamily="34" charset="-120"/>
              </a:rPr>
              <a:t>€ 78 m · 60,000 coolers · and the RFP has not been written yet</a:t>
            </a:r>
            <a:endParaRPr lang="en-US" sz="1050" dirty="0"/>
          </a:p>
        </p:txBody>
      </p:sp>
      <p:sp>
        <p:nvSpPr>
          <p:cNvPr id="4" name="Text 2"/>
          <p:cNvSpPr txBox="1"/>
          <p:nvPr/>
        </p:nvSpPr>
        <p:spPr>
          <a:xfrm>
            <a:off x="8138160" y="274320"/>
            <a:ext cx="3566160" cy="219456"/>
          </a:xfrm>
          <a:prstGeom prst="rect">
            <a:avLst/>
          </a:prstGeom>
          <a:noFill/>
          <a:ln/>
        </p:spPr>
        <p:txBody>
          <a:bodyPr wrap="square" lIns="0" tIns="0" rIns="0" bIns="0" rtlCol="0" anchor="ctr"/>
          <a:lstStyle/>
          <a:p>
            <a:pPr algn="r" indent="0" marL="0">
              <a:buNone/>
            </a:pPr>
            <a:r>
              <a:rPr lang="en-US" sz="850" b="1" spc="80" kern="0" dirty="0">
                <a:solidFill>
                  <a:srgbClr val="F2A33C"/>
                </a:solidFill>
                <a:latin typeface="Calibri" pitchFamily="34" charset="0"/>
                <a:ea typeface="Calibri" pitchFamily="34" charset="-122"/>
                <a:cs typeface="Calibri" pitchFamily="34" charset="-120"/>
              </a:rPr>
              <a:t>TASKS 1 &amp; 2  ·  COMPETITOR ANALYSIS AND APPROACH</a:t>
            </a:r>
            <a:endParaRPr lang="en-US" sz="850" dirty="0"/>
          </a:p>
        </p:txBody>
      </p:sp>
      <p:sp>
        <p:nvSpPr>
          <p:cNvPr id="5" name="Text 3"/>
          <p:cNvSpPr txBox="1"/>
          <p:nvPr/>
        </p:nvSpPr>
        <p:spPr>
          <a:xfrm>
            <a:off x="8138160" y="530352"/>
            <a:ext cx="3566160" cy="219456"/>
          </a:xfrm>
          <a:prstGeom prst="rect">
            <a:avLst/>
          </a:prstGeom>
          <a:noFill/>
          <a:ln/>
        </p:spPr>
        <p:txBody>
          <a:bodyPr wrap="square" lIns="0" tIns="0" rIns="0" bIns="0" rtlCol="0" anchor="ctr"/>
          <a:lstStyle/>
          <a:p>
            <a:pPr algn="r" indent="0" marL="0">
              <a:buNone/>
            </a:pPr>
            <a:r>
              <a:rPr lang="en-US" sz="800" dirty="0">
                <a:solidFill>
                  <a:srgbClr val="8FB4BE"/>
                </a:solidFill>
                <a:latin typeface="Calibri" pitchFamily="34" charset="0"/>
                <a:ea typeface="Calibri" pitchFamily="34" charset="-122"/>
                <a:cs typeface="Calibri" pitchFamily="34" charset="-120"/>
              </a:rPr>
              <a:t>MERIDIAN COLD CHAIN SOLUTIONS  ·  M2 NDC, EMLV  ·  1 / 2</a:t>
            </a:r>
            <a:endParaRPr lang="en-US" sz="800" dirty="0"/>
          </a:p>
        </p:txBody>
      </p:sp>
      <p:sp>
        <p:nvSpPr>
          <p:cNvPr id="6" name="Text 4"/>
          <p:cNvSpPr txBox="1"/>
          <p:nvPr/>
        </p:nvSpPr>
        <p:spPr>
          <a:xfrm>
            <a:off x="8156448" y="786384"/>
            <a:ext cx="1170432" cy="292608"/>
          </a:xfrm>
          <a:prstGeom prst="rect">
            <a:avLst/>
          </a:prstGeom>
          <a:noFill/>
          <a:ln/>
        </p:spPr>
        <p:txBody>
          <a:bodyPr wrap="square" lIns="0" tIns="0" rIns="0" bIns="0" rtlCol="0" anchor="ctr"/>
          <a:lstStyle/>
          <a:p>
            <a:pPr algn="r" indent="0" marL="0">
              <a:buNone/>
            </a:pPr>
            <a:r>
              <a:rPr lang="en-US" sz="1700" b="1" dirty="0">
                <a:solidFill>
                  <a:srgbClr val="F2A33C"/>
                </a:solidFill>
                <a:latin typeface="Cambria" pitchFamily="34" charset="0"/>
                <a:ea typeface="Cambria" pitchFamily="34" charset="-122"/>
                <a:cs typeface="Cambria" pitchFamily="34" charset="-120"/>
              </a:rPr>
              <a:t>70 %</a:t>
            </a:r>
            <a:endParaRPr lang="en-US" sz="1700" dirty="0"/>
          </a:p>
        </p:txBody>
      </p:sp>
      <p:sp>
        <p:nvSpPr>
          <p:cNvPr id="7" name="Text 5"/>
          <p:cNvSpPr txBox="1"/>
          <p:nvPr/>
        </p:nvSpPr>
        <p:spPr>
          <a:xfrm>
            <a:off x="8156448" y="1060704"/>
            <a:ext cx="1170432" cy="274320"/>
          </a:xfrm>
          <a:prstGeom prst="rect">
            <a:avLst/>
          </a:prstGeom>
          <a:noFill/>
          <a:ln/>
        </p:spPr>
        <p:txBody>
          <a:bodyPr wrap="square" lIns="0" tIns="0" rIns="0" bIns="0" rtlCol="0" anchor="ctr"/>
          <a:lstStyle/>
          <a:p>
            <a:pPr algn="r" indent="0" marL="0">
              <a:lnSpc>
                <a:spcPct val="95000"/>
              </a:lnSpc>
              <a:buNone/>
            </a:pPr>
            <a:r>
              <a:rPr lang="en-US" sz="750" dirty="0">
                <a:solidFill>
                  <a:srgbClr val="8FB4BE"/>
                </a:solidFill>
                <a:latin typeface="Calibri" pitchFamily="34" charset="0"/>
                <a:ea typeface="Calibri" pitchFamily="34" charset="-122"/>
                <a:cs typeface="Calibri" pitchFamily="34" charset="-120"/>
              </a:rPr>
              <a:t>of the estate is Frostline’s</a:t>
            </a:r>
            <a:endParaRPr lang="en-US" sz="750" dirty="0"/>
          </a:p>
        </p:txBody>
      </p:sp>
      <p:sp>
        <p:nvSpPr>
          <p:cNvPr id="8" name="Text 6"/>
          <p:cNvSpPr txBox="1"/>
          <p:nvPr/>
        </p:nvSpPr>
        <p:spPr>
          <a:xfrm>
            <a:off x="9418320" y="786384"/>
            <a:ext cx="1170432" cy="292608"/>
          </a:xfrm>
          <a:prstGeom prst="rect">
            <a:avLst/>
          </a:prstGeom>
          <a:noFill/>
          <a:ln/>
        </p:spPr>
        <p:txBody>
          <a:bodyPr wrap="square" lIns="0" tIns="0" rIns="0" bIns="0" rtlCol="0" anchor="ctr"/>
          <a:lstStyle/>
          <a:p>
            <a:pPr algn="r" indent="0" marL="0">
              <a:buNone/>
            </a:pPr>
            <a:r>
              <a:rPr lang="en-US" sz="1700" b="1" dirty="0">
                <a:solidFill>
                  <a:srgbClr val="F2A33C"/>
                </a:solidFill>
                <a:latin typeface="Cambria" pitchFamily="34" charset="0"/>
                <a:ea typeface="Cambria" pitchFamily="34" charset="-122"/>
                <a:cs typeface="Cambria" pitchFamily="34" charset="-120"/>
              </a:rPr>
              <a:t>3 wks</a:t>
            </a:r>
            <a:endParaRPr lang="en-US" sz="1700" dirty="0"/>
          </a:p>
        </p:txBody>
      </p:sp>
      <p:sp>
        <p:nvSpPr>
          <p:cNvPr id="9" name="Text 7"/>
          <p:cNvSpPr txBox="1"/>
          <p:nvPr/>
        </p:nvSpPr>
        <p:spPr>
          <a:xfrm>
            <a:off x="9418320" y="1060704"/>
            <a:ext cx="1170432" cy="274320"/>
          </a:xfrm>
          <a:prstGeom prst="rect">
            <a:avLst/>
          </a:prstGeom>
          <a:noFill/>
          <a:ln/>
        </p:spPr>
        <p:txBody>
          <a:bodyPr wrap="square" lIns="0" tIns="0" rIns="0" bIns="0" rtlCol="0" anchor="ctr"/>
          <a:lstStyle/>
          <a:p>
            <a:pPr algn="r" indent="0" marL="0">
              <a:lnSpc>
                <a:spcPct val="95000"/>
              </a:lnSpc>
              <a:buNone/>
            </a:pPr>
            <a:r>
              <a:rPr lang="en-US" sz="750" dirty="0">
                <a:solidFill>
                  <a:srgbClr val="8FB4BE"/>
                </a:solidFill>
                <a:latin typeface="Calibri" pitchFamily="34" charset="0"/>
                <a:ea typeface="Calibri" pitchFamily="34" charset="-122"/>
                <a:cs typeface="Calibri" pitchFamily="34" charset="-120"/>
              </a:rPr>
              <a:t>since we heard of it</a:t>
            </a:r>
            <a:endParaRPr lang="en-US" sz="750" dirty="0"/>
          </a:p>
        </p:txBody>
      </p:sp>
      <p:sp>
        <p:nvSpPr>
          <p:cNvPr id="10" name="Text 8"/>
          <p:cNvSpPr txBox="1"/>
          <p:nvPr/>
        </p:nvSpPr>
        <p:spPr>
          <a:xfrm>
            <a:off x="10680192" y="786384"/>
            <a:ext cx="1170432" cy="292608"/>
          </a:xfrm>
          <a:prstGeom prst="rect">
            <a:avLst/>
          </a:prstGeom>
          <a:noFill/>
          <a:ln/>
        </p:spPr>
        <p:txBody>
          <a:bodyPr wrap="square" lIns="0" tIns="0" rIns="0" bIns="0" rtlCol="0" anchor="ctr"/>
          <a:lstStyle/>
          <a:p>
            <a:pPr algn="r" indent="0" marL="0">
              <a:buNone/>
            </a:pPr>
            <a:r>
              <a:rPr lang="en-US" sz="1700" b="1" dirty="0">
                <a:solidFill>
                  <a:srgbClr val="F2A33C"/>
                </a:solidFill>
                <a:latin typeface="Cambria" pitchFamily="34" charset="0"/>
                <a:ea typeface="Cambria" pitchFamily="34" charset="-122"/>
                <a:cs typeface="Cambria" pitchFamily="34" charset="-120"/>
              </a:rPr>
              <a:t>8–10</a:t>
            </a:r>
            <a:endParaRPr lang="en-US" sz="1700" dirty="0"/>
          </a:p>
        </p:txBody>
      </p:sp>
      <p:sp>
        <p:nvSpPr>
          <p:cNvPr id="11" name="Text 9"/>
          <p:cNvSpPr txBox="1"/>
          <p:nvPr/>
        </p:nvSpPr>
        <p:spPr>
          <a:xfrm>
            <a:off x="10680192" y="1060704"/>
            <a:ext cx="1170432" cy="274320"/>
          </a:xfrm>
          <a:prstGeom prst="rect">
            <a:avLst/>
          </a:prstGeom>
          <a:noFill/>
          <a:ln/>
        </p:spPr>
        <p:txBody>
          <a:bodyPr wrap="square" lIns="0" tIns="0" rIns="0" bIns="0" rtlCol="0" anchor="ctr"/>
          <a:lstStyle/>
          <a:p>
            <a:pPr algn="r" indent="0" marL="0">
              <a:lnSpc>
                <a:spcPct val="95000"/>
              </a:lnSpc>
              <a:buNone/>
            </a:pPr>
            <a:r>
              <a:rPr lang="en-US" sz="750" dirty="0">
                <a:solidFill>
                  <a:srgbClr val="8FB4BE"/>
                </a:solidFill>
                <a:latin typeface="Calibri" pitchFamily="34" charset="0"/>
                <a:ea typeface="Calibri" pitchFamily="34" charset="-122"/>
                <a:cs typeface="Calibri" pitchFamily="34" charset="-120"/>
              </a:rPr>
              <a:t>weeks left to shape it</a:t>
            </a:r>
            <a:endParaRPr lang="en-US" sz="750" dirty="0"/>
          </a:p>
        </p:txBody>
      </p:sp>
      <p:sp>
        <p:nvSpPr>
          <p:cNvPr id="12" name="Shape 10"/>
          <p:cNvSpPr/>
          <p:nvPr/>
        </p:nvSpPr>
        <p:spPr>
          <a:xfrm>
            <a:off x="502920" y="1389888"/>
            <a:ext cx="3246120" cy="5047488"/>
          </a:xfrm>
          <a:prstGeom prst="roundRect">
            <a:avLst>
              <a:gd name="adj" fmla="val 2535"/>
            </a:avLst>
          </a:prstGeom>
          <a:solidFill>
            <a:srgbClr val="123C48"/>
          </a:solidFill>
          <a:ln w="12700">
            <a:solidFill>
              <a:srgbClr val="123C48"/>
            </a:solidFill>
            <a:prstDash val="solid"/>
          </a:ln>
        </p:spPr>
      </p:sp>
      <p:sp>
        <p:nvSpPr>
          <p:cNvPr id="13" name="Shape 11"/>
          <p:cNvSpPr/>
          <p:nvPr/>
        </p:nvSpPr>
        <p:spPr>
          <a:xfrm>
            <a:off x="685800" y="1554480"/>
            <a:ext cx="292608" cy="292608"/>
          </a:xfrm>
          <a:prstGeom prst="ellipse">
            <a:avLst/>
          </a:prstGeom>
          <a:solidFill>
            <a:srgbClr val="F2A33C"/>
          </a:solidFill>
          <a:ln w="12700">
            <a:solidFill>
              <a:srgbClr val="F2A33C"/>
            </a:solidFill>
            <a:prstDash val="solid"/>
          </a:ln>
        </p:spPr>
      </p:sp>
      <p:sp>
        <p:nvSpPr>
          <p:cNvPr id="14" name="Text 12"/>
          <p:cNvSpPr txBox="1"/>
          <p:nvPr/>
        </p:nvSpPr>
        <p:spPr>
          <a:xfrm>
            <a:off x="685800" y="1554480"/>
            <a:ext cx="292608" cy="292608"/>
          </a:xfrm>
          <a:prstGeom prst="rect">
            <a:avLst/>
          </a:prstGeom>
          <a:noFill/>
          <a:ln/>
        </p:spPr>
        <p:txBody>
          <a:bodyPr wrap="square" lIns="0" tIns="0" rIns="0" bIns="0" rtlCol="0" anchor="ctr"/>
          <a:lstStyle/>
          <a:p>
            <a:pPr algn="ctr" indent="0" marL="0">
              <a:buNone/>
            </a:pPr>
            <a:r>
              <a:rPr lang="en-US" sz="1300" b="1" dirty="0">
                <a:solidFill>
                  <a:srgbClr val="0B2B33"/>
                </a:solidFill>
                <a:latin typeface="Calibri" pitchFamily="34" charset="0"/>
                <a:ea typeface="Calibri" pitchFamily="34" charset="-122"/>
                <a:cs typeface="Calibri" pitchFamily="34" charset="-120"/>
              </a:rPr>
              <a:t>1</a:t>
            </a:r>
            <a:endParaRPr lang="en-US" sz="1300" dirty="0"/>
          </a:p>
        </p:txBody>
      </p:sp>
      <p:sp>
        <p:nvSpPr>
          <p:cNvPr id="15" name="Text 13"/>
          <p:cNvSpPr txBox="1"/>
          <p:nvPr/>
        </p:nvSpPr>
        <p:spPr>
          <a:xfrm>
            <a:off x="1088136" y="1536192"/>
            <a:ext cx="2103120" cy="329184"/>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WHERE WE STAND</a:t>
            </a:r>
            <a:endParaRPr lang="en-US" sz="1450" dirty="0"/>
          </a:p>
        </p:txBody>
      </p:sp>
      <p:sp>
        <p:nvSpPr>
          <p:cNvPr id="16" name="Text 14"/>
          <p:cNvSpPr txBox="1"/>
          <p:nvPr/>
        </p:nvSpPr>
        <p:spPr>
          <a:xfrm>
            <a:off x="3227832" y="1536192"/>
            <a:ext cx="548640" cy="329184"/>
          </a:xfrm>
          <a:prstGeom prst="rect">
            <a:avLst/>
          </a:prstGeom>
          <a:noFill/>
          <a:ln/>
        </p:spPr>
        <p:txBody>
          <a:bodyPr wrap="square" lIns="0" tIns="0" rIns="0" bIns="0" rtlCol="0" anchor="ctr"/>
          <a:lstStyle/>
          <a:p>
            <a:pPr algn="l" indent="0" marL="0">
              <a:buNone/>
            </a:pPr>
            <a:r>
              <a:rPr lang="en-US" sz="950" dirty="0">
                <a:solidFill>
                  <a:srgbClr val="8FB4BE"/>
                </a:solidFill>
                <a:latin typeface="Calibri" pitchFamily="34" charset="0"/>
                <a:ea typeface="Calibri" pitchFamily="34" charset="-122"/>
                <a:cs typeface="Calibri" pitchFamily="34" charset="-120"/>
              </a:rPr>
              <a:t>45 s</a:t>
            </a:r>
            <a:endParaRPr lang="en-US" sz="950" dirty="0"/>
          </a:p>
        </p:txBody>
      </p:sp>
      <p:sp>
        <p:nvSpPr>
          <p:cNvPr id="17" name="Text 15"/>
          <p:cNvSpPr txBox="1"/>
          <p:nvPr/>
        </p:nvSpPr>
        <p:spPr>
          <a:xfrm>
            <a:off x="685800" y="2029968"/>
            <a:ext cx="2880360" cy="1234440"/>
          </a:xfrm>
          <a:prstGeom prst="rect">
            <a:avLst/>
          </a:prstGeom>
          <a:noFill/>
          <a:ln/>
        </p:spPr>
        <p:txBody>
          <a:bodyPr wrap="square" lIns="0" tIns="0" rIns="0" bIns="0" rtlCol="0" anchor="t"/>
          <a:lstStyle/>
          <a:p>
            <a:pPr marL="152400" indent="-152400">
              <a:lnSpc>
                <a:spcPct val="103000"/>
              </a:lnSpc>
              <a:spcAft>
                <a:spcPts val="500"/>
              </a:spcAft>
              <a:buSzPct val="100000"/>
              <a:buChar char="•"/>
            </a:pPr>
            <a:r>
              <a:rPr lang="en-US" sz="1050" dirty="0">
                <a:solidFill>
                  <a:srgbClr val="C9E2E8"/>
                </a:solidFill>
                <a:latin typeface="Calibri" pitchFamily="34" charset="0"/>
                <a:ea typeface="Calibri" pitchFamily="34" charset="-122"/>
                <a:cs typeface="Calibri" pitchFamily="34" charset="-120"/>
              </a:rPr>
              <a:t>Frostline: 22 years, ~70 % of the estate, the lowest unit price.</a:t>
            </a:r>
            <a:endParaRPr lang="en-US" sz="1050" dirty="0"/>
          </a:p>
          <a:p>
            <a:pPr marL="152400" indent="-152400">
              <a:lnSpc>
                <a:spcPct val="103000"/>
              </a:lnSpc>
              <a:spcAft>
                <a:spcPts val="500"/>
              </a:spcAft>
              <a:buSzPct val="100000"/>
              <a:buChar char="•"/>
            </a:pPr>
            <a:r>
              <a:rPr lang="en-US" sz="1050" dirty="0">
                <a:solidFill>
                  <a:srgbClr val="C9E2E8"/>
                </a:solidFill>
                <a:latin typeface="Calibri" pitchFamily="34" charset="0"/>
                <a:ea typeface="Calibri" pitchFamily="34" charset="-122"/>
                <a:cs typeface="Calibri" pitchFamily="34" charset="-120"/>
              </a:rPr>
              <a:t>Meridian: one 900-unit pilot. Nothing above middle management.</a:t>
            </a:r>
            <a:endParaRPr lang="en-US" sz="1050" dirty="0"/>
          </a:p>
          <a:p>
            <a:pPr marL="152400" indent="-152400">
              <a:lnSpc>
                <a:spcPct val="103000"/>
              </a:lnSpc>
              <a:spcAft>
                <a:spcPts val="500"/>
              </a:spcAft>
              <a:buSzPct val="100000"/>
              <a:buChar char="•"/>
            </a:pPr>
            <a:r>
              <a:rPr lang="en-US" sz="1050" dirty="0">
                <a:solidFill>
                  <a:srgbClr val="C9E2E8"/>
                </a:solidFill>
                <a:latin typeface="Calibri" pitchFamily="34" charset="0"/>
                <a:ea typeface="Calibri" pitchFamily="34" charset="-122"/>
                <a:cs typeface="Calibri" pitchFamily="34" charset="-120"/>
              </a:rPr>
              <a:t>We heard about the programme three weeks ago, second-hand.</a:t>
            </a:r>
            <a:endParaRPr lang="en-US" sz="1050" dirty="0"/>
          </a:p>
        </p:txBody>
      </p:sp>
      <p:sp>
        <p:nvSpPr>
          <p:cNvPr id="18" name="Shape 16"/>
          <p:cNvSpPr/>
          <p:nvPr/>
        </p:nvSpPr>
        <p:spPr>
          <a:xfrm>
            <a:off x="685800" y="3364992"/>
            <a:ext cx="2880360" cy="969264"/>
          </a:xfrm>
          <a:prstGeom prst="roundRect">
            <a:avLst>
              <a:gd name="adj" fmla="val 8491"/>
            </a:avLst>
          </a:prstGeom>
          <a:solidFill>
            <a:srgbClr val="0E3641"/>
          </a:solidFill>
          <a:ln w="12700">
            <a:solidFill>
              <a:srgbClr val="0E3641"/>
            </a:solidFill>
            <a:prstDash val="solid"/>
          </a:ln>
        </p:spPr>
      </p:sp>
      <p:sp>
        <p:nvSpPr>
          <p:cNvPr id="19" name="Text 17"/>
          <p:cNvSpPr txBox="1"/>
          <p:nvPr/>
        </p:nvSpPr>
        <p:spPr>
          <a:xfrm>
            <a:off x="841248" y="3483864"/>
            <a:ext cx="2569464" cy="164592"/>
          </a:xfrm>
          <a:prstGeom prst="rect">
            <a:avLst/>
          </a:prstGeom>
          <a:noFill/>
          <a:ln/>
        </p:spPr>
        <p:txBody>
          <a:bodyPr wrap="square" lIns="0" tIns="0" rIns="0" bIns="0" rtlCol="0" anchor="ctr"/>
          <a:lstStyle/>
          <a:p>
            <a:pPr indent="0" marL="0">
              <a:buNone/>
            </a:pPr>
            <a:r>
              <a:rPr lang="en-US" sz="850" b="1" spc="90" kern="0" dirty="0">
                <a:solidFill>
                  <a:srgbClr val="5AD9B3"/>
                </a:solidFill>
                <a:latin typeface="Calibri" pitchFamily="34" charset="0"/>
                <a:ea typeface="Calibri" pitchFamily="34" charset="-122"/>
                <a:cs typeface="Calibri" pitchFamily="34" charset="-120"/>
              </a:rPr>
              <a:t>WHAT FORCED THE DECISION</a:t>
            </a:r>
            <a:endParaRPr lang="en-US" sz="850" dirty="0"/>
          </a:p>
        </p:txBody>
      </p:sp>
      <p:sp>
        <p:nvSpPr>
          <p:cNvPr id="20" name="Text 18"/>
          <p:cNvSpPr txBox="1"/>
          <p:nvPr/>
        </p:nvSpPr>
        <p:spPr>
          <a:xfrm>
            <a:off x="841248" y="3685032"/>
            <a:ext cx="2569464" cy="548640"/>
          </a:xfrm>
          <a:prstGeom prst="rect">
            <a:avLst/>
          </a:prstGeom>
          <a:noFill/>
          <a:ln/>
        </p:spPr>
        <p:txBody>
          <a:bodyPr wrap="square" lIns="0" tIns="0" rIns="0" bIns="0" rtlCol="0" anchor="ctr"/>
          <a:lstStyle/>
          <a:p>
            <a:pPr indent="0" marL="0">
              <a:lnSpc>
                <a:spcPct val="103000"/>
              </a:lnSpc>
              <a:buNone/>
            </a:pPr>
            <a:r>
              <a:rPr lang="en-US" sz="1000" dirty="0">
                <a:solidFill>
                  <a:srgbClr val="C9E2E8"/>
                </a:solidFill>
                <a:latin typeface="Calibri" pitchFamily="34" charset="0"/>
                <a:ea typeface="Calibri" pitchFamily="34" charset="-122"/>
                <a:cs typeface="Calibri" pitchFamily="34" charset="-120"/>
              </a:rPr>
              <a:t>The F-gas phase-down and a published 2030 emissions target. Neither is about coolers.</a:t>
            </a:r>
            <a:endParaRPr lang="en-US" sz="1000" dirty="0"/>
          </a:p>
        </p:txBody>
      </p:sp>
      <p:sp>
        <p:nvSpPr>
          <p:cNvPr id="21" name="Shape 19"/>
          <p:cNvSpPr/>
          <p:nvPr/>
        </p:nvSpPr>
        <p:spPr>
          <a:xfrm>
            <a:off x="685800" y="4480560"/>
            <a:ext cx="2880360" cy="1152144"/>
          </a:xfrm>
          <a:prstGeom prst="roundRect">
            <a:avLst>
              <a:gd name="adj" fmla="val 7143"/>
            </a:avLst>
          </a:prstGeom>
          <a:solidFill>
            <a:srgbClr val="0E3641"/>
          </a:solidFill>
          <a:ln w="12700">
            <a:solidFill>
              <a:srgbClr val="0E3641"/>
            </a:solidFill>
            <a:prstDash val="solid"/>
          </a:ln>
        </p:spPr>
      </p:sp>
      <p:sp>
        <p:nvSpPr>
          <p:cNvPr id="22" name="Text 20"/>
          <p:cNvSpPr txBox="1"/>
          <p:nvPr/>
        </p:nvSpPr>
        <p:spPr>
          <a:xfrm>
            <a:off x="841248" y="4608576"/>
            <a:ext cx="2569464" cy="896112"/>
          </a:xfrm>
          <a:prstGeom prst="rect">
            <a:avLst/>
          </a:prstGeom>
          <a:noFill/>
          <a:ln/>
        </p:spPr>
        <p:txBody>
          <a:bodyPr wrap="square" lIns="0" tIns="0" rIns="0" bIns="0" rtlCol="0" anchor="ctr"/>
          <a:lstStyle/>
          <a:p>
            <a:pPr indent="0" marL="0">
              <a:lnSpc>
                <a:spcPct val="106000"/>
              </a:lnSpc>
              <a:buNone/>
            </a:pPr>
            <a:r>
              <a:rPr lang="en-US" sz="1250" b="1" dirty="0">
                <a:solidFill>
                  <a:srgbClr val="F2A33C"/>
                </a:solidFill>
                <a:latin typeface="Calibri" pitchFamily="34" charset="0"/>
                <a:ea typeface="Calibri" pitchFamily="34" charset="-122"/>
                <a:cs typeface="Calibri" pitchFamily="34" charset="-120"/>
              </a:rPr>
              <a:t>The tender is not the contest.</a:t>
            </a:r>
            <a:endParaRPr lang="en-US" sz="1250" dirty="0"/>
          </a:p>
          <a:p>
            <a:pPr indent="0" marL="0">
              <a:lnSpc>
                <a:spcPct val="106000"/>
              </a:lnSpc>
              <a:buNone/>
            </a:pPr>
            <a:r>
              <a:rPr lang="en-US" sz="1000" i="1" dirty="0">
                <a:solidFill>
                  <a:srgbClr val="C9E2E8"/>
                </a:solidFill>
                <a:latin typeface="Calibri" pitchFamily="34" charset="0"/>
                <a:ea typeface="Calibri" pitchFamily="34" charset="-122"/>
                <a:cs typeface="Calibri" pitchFamily="34" charset="-120"/>
              </a:rPr>
              <a:t>The eight weeks before it is. After the RFP is issued, we are answering someone else’s document.</a:t>
            </a:r>
            <a:endParaRPr lang="en-US" sz="1250" dirty="0"/>
          </a:p>
        </p:txBody>
      </p:sp>
      <p:sp>
        <p:nvSpPr>
          <p:cNvPr id="23" name="Text 21"/>
          <p:cNvSpPr txBox="1"/>
          <p:nvPr/>
        </p:nvSpPr>
        <p:spPr>
          <a:xfrm>
            <a:off x="685800" y="5797296"/>
            <a:ext cx="2880360" cy="164592"/>
          </a:xfrm>
          <a:prstGeom prst="rect">
            <a:avLst/>
          </a:prstGeom>
          <a:noFill/>
          <a:ln/>
        </p:spPr>
        <p:txBody>
          <a:bodyPr wrap="square" lIns="0" tIns="0" rIns="0" bIns="0" rtlCol="0" anchor="ctr"/>
          <a:lstStyle/>
          <a:p>
            <a:pPr indent="0" marL="0">
              <a:buNone/>
            </a:pPr>
            <a:r>
              <a:rPr lang="en-US" sz="850" b="1" spc="90" kern="0" dirty="0">
                <a:solidFill>
                  <a:srgbClr val="F0736C"/>
                </a:solidFill>
                <a:latin typeface="Calibri" pitchFamily="34" charset="0"/>
                <a:ea typeface="Calibri" pitchFamily="34" charset="-122"/>
                <a:cs typeface="Calibri" pitchFamily="34" charset="-120"/>
              </a:rPr>
              <a:t>SO WE ARE NOT SELLING AGAINST A COMPETITOR</a:t>
            </a:r>
            <a:endParaRPr lang="en-US" sz="850" dirty="0"/>
          </a:p>
        </p:txBody>
      </p:sp>
      <p:sp>
        <p:nvSpPr>
          <p:cNvPr id="24" name="Text 22"/>
          <p:cNvSpPr txBox="1"/>
          <p:nvPr/>
        </p:nvSpPr>
        <p:spPr>
          <a:xfrm>
            <a:off x="685800" y="5998464"/>
            <a:ext cx="2880360" cy="347472"/>
          </a:xfrm>
          <a:prstGeom prst="rect">
            <a:avLst/>
          </a:prstGeom>
          <a:noFill/>
          <a:ln/>
        </p:spPr>
        <p:txBody>
          <a:bodyPr wrap="square" lIns="0" tIns="0" rIns="0" bIns="0" rtlCol="0" anchor="ctr"/>
          <a:lstStyle/>
          <a:p>
            <a:pPr indent="0" marL="0">
              <a:lnSpc>
                <a:spcPct val="103000"/>
              </a:lnSpc>
              <a:buNone/>
            </a:pPr>
            <a:r>
              <a:rPr lang="en-US" sz="950" dirty="0">
                <a:solidFill>
                  <a:srgbClr val="C9E2E8"/>
                </a:solidFill>
                <a:latin typeface="Calibri" pitchFamily="34" charset="0"/>
                <a:ea typeface="Calibri" pitchFamily="34" charset="-122"/>
                <a:cs typeface="Calibri" pitchFamily="34" charset="-120"/>
              </a:rPr>
              <a:t>An arrangement that works — and 400 technicians who have never had a reason to question it.</a:t>
            </a:r>
            <a:endParaRPr lang="en-US" sz="950" dirty="0"/>
          </a:p>
        </p:txBody>
      </p:sp>
      <p:sp>
        <p:nvSpPr>
          <p:cNvPr id="25" name="Shape 23"/>
          <p:cNvSpPr/>
          <p:nvPr/>
        </p:nvSpPr>
        <p:spPr>
          <a:xfrm>
            <a:off x="3977640" y="1389888"/>
            <a:ext cx="3977640" cy="5047488"/>
          </a:xfrm>
          <a:prstGeom prst="roundRect">
            <a:avLst>
              <a:gd name="adj" fmla="val 2069"/>
            </a:avLst>
          </a:prstGeom>
          <a:solidFill>
            <a:srgbClr val="123C48"/>
          </a:solidFill>
          <a:ln w="12700">
            <a:solidFill>
              <a:srgbClr val="123C48"/>
            </a:solidFill>
            <a:prstDash val="solid"/>
          </a:ln>
        </p:spPr>
      </p:sp>
      <p:sp>
        <p:nvSpPr>
          <p:cNvPr id="26" name="Shape 24"/>
          <p:cNvSpPr/>
          <p:nvPr/>
        </p:nvSpPr>
        <p:spPr>
          <a:xfrm>
            <a:off x="4160520" y="1554480"/>
            <a:ext cx="292608" cy="292608"/>
          </a:xfrm>
          <a:prstGeom prst="ellipse">
            <a:avLst/>
          </a:prstGeom>
          <a:solidFill>
            <a:srgbClr val="F2A33C"/>
          </a:solidFill>
          <a:ln w="12700">
            <a:solidFill>
              <a:srgbClr val="F2A33C"/>
            </a:solidFill>
            <a:prstDash val="solid"/>
          </a:ln>
        </p:spPr>
      </p:sp>
      <p:sp>
        <p:nvSpPr>
          <p:cNvPr id="27" name="Text 25"/>
          <p:cNvSpPr txBox="1"/>
          <p:nvPr/>
        </p:nvSpPr>
        <p:spPr>
          <a:xfrm>
            <a:off x="4160520" y="1554480"/>
            <a:ext cx="292608" cy="292608"/>
          </a:xfrm>
          <a:prstGeom prst="rect">
            <a:avLst/>
          </a:prstGeom>
          <a:noFill/>
          <a:ln/>
        </p:spPr>
        <p:txBody>
          <a:bodyPr wrap="square" lIns="0" tIns="0" rIns="0" bIns="0" rtlCol="0" anchor="ctr"/>
          <a:lstStyle/>
          <a:p>
            <a:pPr algn="ctr" indent="0" marL="0">
              <a:buNone/>
            </a:pPr>
            <a:r>
              <a:rPr lang="en-US" sz="1300" b="1" dirty="0">
                <a:solidFill>
                  <a:srgbClr val="0B2B33"/>
                </a:solidFill>
                <a:latin typeface="Calibri" pitchFamily="34" charset="0"/>
                <a:ea typeface="Calibri" pitchFamily="34" charset="-122"/>
                <a:cs typeface="Calibri" pitchFamily="34" charset="-120"/>
              </a:rPr>
              <a:t>2</a:t>
            </a:r>
            <a:endParaRPr lang="en-US" sz="1300" dirty="0"/>
          </a:p>
        </p:txBody>
      </p:sp>
      <p:sp>
        <p:nvSpPr>
          <p:cNvPr id="28" name="Text 26"/>
          <p:cNvSpPr txBox="1"/>
          <p:nvPr/>
        </p:nvSpPr>
        <p:spPr>
          <a:xfrm>
            <a:off x="4562856" y="1536192"/>
            <a:ext cx="3063240" cy="329184"/>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BATTLE CARD  ·  FROSTLINE</a:t>
            </a:r>
            <a:endParaRPr lang="en-US" sz="1450" dirty="0"/>
          </a:p>
        </p:txBody>
      </p:sp>
      <p:sp>
        <p:nvSpPr>
          <p:cNvPr id="29" name="Text 27"/>
          <p:cNvSpPr txBox="1"/>
          <p:nvPr/>
        </p:nvSpPr>
        <p:spPr>
          <a:xfrm>
            <a:off x="7662672" y="1536192"/>
            <a:ext cx="548640" cy="329184"/>
          </a:xfrm>
          <a:prstGeom prst="rect">
            <a:avLst/>
          </a:prstGeom>
          <a:noFill/>
          <a:ln/>
        </p:spPr>
        <p:txBody>
          <a:bodyPr wrap="square" lIns="0" tIns="0" rIns="0" bIns="0" rtlCol="0" anchor="ctr"/>
          <a:lstStyle/>
          <a:p>
            <a:pPr algn="l" indent="0" marL="0">
              <a:buNone/>
            </a:pPr>
            <a:r>
              <a:rPr lang="en-US" sz="950" dirty="0">
                <a:solidFill>
                  <a:srgbClr val="8FB4BE"/>
                </a:solidFill>
                <a:latin typeface="Calibri" pitchFamily="34" charset="0"/>
                <a:ea typeface="Calibri" pitchFamily="34" charset="-122"/>
                <a:cs typeface="Calibri" pitchFamily="34" charset="-120"/>
              </a:rPr>
              <a:t>75 s</a:t>
            </a:r>
            <a:endParaRPr lang="en-US" sz="950" dirty="0"/>
          </a:p>
        </p:txBody>
      </p:sp>
      <p:sp>
        <p:nvSpPr>
          <p:cNvPr id="30" name="Text 28"/>
          <p:cNvSpPr txBox="1"/>
          <p:nvPr/>
        </p:nvSpPr>
        <p:spPr>
          <a:xfrm>
            <a:off x="4160520" y="2029968"/>
            <a:ext cx="3611880" cy="201168"/>
          </a:xfrm>
          <a:prstGeom prst="rect">
            <a:avLst/>
          </a:prstGeom>
          <a:noFill/>
          <a:ln/>
        </p:spPr>
        <p:txBody>
          <a:bodyPr wrap="square" lIns="0" tIns="0" rIns="0" bIns="0" rtlCol="0" anchor="ctr"/>
          <a:lstStyle/>
          <a:p>
            <a:pPr indent="0" marL="0">
              <a:lnSpc>
                <a:spcPct val="103000"/>
              </a:lnSpc>
              <a:buNone/>
            </a:pPr>
            <a:r>
              <a:rPr lang="en-US" sz="950" b="1" dirty="0">
                <a:solidFill>
                  <a:srgbClr val="F2A33C"/>
                </a:solidFill>
                <a:latin typeface="Calibri" pitchFamily="34" charset="0"/>
                <a:ea typeface="Calibri" pitchFamily="34" charset="-122"/>
                <a:cs typeface="Calibri" pitchFamily="34" charset="-120"/>
              </a:rPr>
              <a:t>Their pitch:  </a:t>
            </a:r>
            <a:pPr indent="0" marL="0">
              <a:lnSpc>
                <a:spcPct val="103000"/>
              </a:lnSpc>
              <a:buNone/>
            </a:pPr>
            <a:r>
              <a:rPr lang="en-US" sz="950" i="1" dirty="0">
                <a:solidFill>
                  <a:srgbClr val="C9E2E8"/>
                </a:solidFill>
                <a:latin typeface="Calibri" pitchFamily="34" charset="0"/>
                <a:ea typeface="Calibri" pitchFamily="34" charset="-122"/>
                <a:cs typeface="Calibri" pitchFamily="34" charset="-120"/>
              </a:rPr>
              <a:t>“Continuity at the lowest cost.”</a:t>
            </a:r>
            <a:endParaRPr lang="en-US" sz="950" dirty="0"/>
          </a:p>
        </p:txBody>
      </p:sp>
      <p:sp>
        <p:nvSpPr>
          <p:cNvPr id="31" name="Text 29"/>
          <p:cNvSpPr txBox="1"/>
          <p:nvPr/>
        </p:nvSpPr>
        <p:spPr>
          <a:xfrm>
            <a:off x="4160520" y="2304288"/>
            <a:ext cx="3611880" cy="164592"/>
          </a:xfrm>
          <a:prstGeom prst="rect">
            <a:avLst/>
          </a:prstGeom>
          <a:noFill/>
          <a:ln/>
        </p:spPr>
        <p:txBody>
          <a:bodyPr wrap="square" lIns="0" tIns="0" rIns="0" bIns="0" rtlCol="0" anchor="ctr"/>
          <a:lstStyle/>
          <a:p>
            <a:pPr indent="0" marL="0">
              <a:buNone/>
            </a:pPr>
            <a:r>
              <a:rPr lang="en-US" sz="850" b="1" spc="90" kern="0" dirty="0">
                <a:solidFill>
                  <a:srgbClr val="5AD9B3"/>
                </a:solidFill>
                <a:latin typeface="Calibri" pitchFamily="34" charset="0"/>
                <a:ea typeface="Calibri" pitchFamily="34" charset="-122"/>
                <a:cs typeface="Calibri" pitchFamily="34" charset="-120"/>
              </a:rPr>
              <a:t>TWO STRONGEST CLAIMS</a:t>
            </a:r>
            <a:endParaRPr lang="en-US" sz="850" dirty="0"/>
          </a:p>
        </p:txBody>
      </p:sp>
      <p:sp>
        <p:nvSpPr>
          <p:cNvPr id="32" name="Text 30"/>
          <p:cNvSpPr txBox="1"/>
          <p:nvPr/>
        </p:nvSpPr>
        <p:spPr>
          <a:xfrm>
            <a:off x="4160520" y="2505456"/>
            <a:ext cx="3611880" cy="731520"/>
          </a:xfrm>
          <a:prstGeom prst="rect">
            <a:avLst/>
          </a:prstGeom>
          <a:noFill/>
          <a:ln/>
        </p:spPr>
        <p:txBody>
          <a:bodyPr wrap="square" lIns="0" tIns="0" rIns="0" bIns="0" rtlCol="0" anchor="t"/>
          <a:lstStyle/>
          <a:p>
            <a:pPr marL="152400" indent="-152400">
              <a:lnSpc>
                <a:spcPct val="103000"/>
              </a:lnSpc>
              <a:spcAft>
                <a:spcPts val="500"/>
              </a:spcAft>
              <a:buSzPct val="100000"/>
              <a:buChar char="•"/>
            </a:pPr>
            <a:r>
              <a:rPr lang="en-US" sz="1000" dirty="0">
                <a:solidFill>
                  <a:srgbClr val="C9E2E8"/>
                </a:solidFill>
                <a:latin typeface="Calibri" pitchFamily="34" charset="0"/>
                <a:ea typeface="Calibri" pitchFamily="34" charset="-122"/>
                <a:cs typeface="Calibri" pitchFamily="34" charset="-120"/>
              </a:rPr>
              <a:t>Cheapest, and already integrated with ABP’s maintenance scheduling.</a:t>
            </a:r>
            <a:endParaRPr lang="en-US" sz="1000" dirty="0"/>
          </a:p>
          <a:p>
            <a:pPr marL="152400" indent="-152400">
              <a:lnSpc>
                <a:spcPct val="103000"/>
              </a:lnSpc>
              <a:spcAft>
                <a:spcPts val="500"/>
              </a:spcAft>
              <a:buSzPct val="100000"/>
              <a:buChar char="•"/>
            </a:pPr>
            <a:r>
              <a:rPr lang="en-US" sz="1000" dirty="0">
                <a:solidFill>
                  <a:srgbClr val="C9E2E8"/>
                </a:solidFill>
                <a:latin typeface="Calibri" pitchFamily="34" charset="0"/>
                <a:ea typeface="Calibri" pitchFamily="34" charset="-122"/>
                <a:cs typeface="Calibri" pitchFamily="34" charset="-120"/>
              </a:rPr>
              <a:t>Proven at 48,000-outlet scale without stopping chilled sales.</a:t>
            </a:r>
            <a:endParaRPr lang="en-US" sz="1000" dirty="0"/>
          </a:p>
        </p:txBody>
      </p:sp>
      <p:sp>
        <p:nvSpPr>
          <p:cNvPr id="33" name="Text 31"/>
          <p:cNvSpPr txBox="1"/>
          <p:nvPr/>
        </p:nvSpPr>
        <p:spPr>
          <a:xfrm>
            <a:off x="4160520" y="3337560"/>
            <a:ext cx="3611880" cy="164592"/>
          </a:xfrm>
          <a:prstGeom prst="rect">
            <a:avLst/>
          </a:prstGeom>
          <a:noFill/>
          <a:ln/>
        </p:spPr>
        <p:txBody>
          <a:bodyPr wrap="square" lIns="0" tIns="0" rIns="0" bIns="0" rtlCol="0" anchor="ctr"/>
          <a:lstStyle/>
          <a:p>
            <a:pPr indent="0" marL="0">
              <a:buNone/>
            </a:pPr>
            <a:r>
              <a:rPr lang="en-US" sz="850" b="1" spc="90" kern="0" dirty="0">
                <a:solidFill>
                  <a:srgbClr val="F0736C"/>
                </a:solidFill>
                <a:latin typeface="Calibri" pitchFamily="34" charset="0"/>
                <a:ea typeface="Calibri" pitchFamily="34" charset="-122"/>
                <a:cs typeface="Calibri" pitchFamily="34" charset="-120"/>
              </a:rPr>
              <a:t>TWO REAL VULNERABILITIES</a:t>
            </a:r>
            <a:endParaRPr lang="en-US" sz="850" dirty="0"/>
          </a:p>
        </p:txBody>
      </p:sp>
      <p:sp>
        <p:nvSpPr>
          <p:cNvPr id="34" name="Text 32"/>
          <p:cNvSpPr txBox="1"/>
          <p:nvPr/>
        </p:nvSpPr>
        <p:spPr>
          <a:xfrm>
            <a:off x="4160520" y="3538728"/>
            <a:ext cx="3611880" cy="731520"/>
          </a:xfrm>
          <a:prstGeom prst="rect">
            <a:avLst/>
          </a:prstGeom>
          <a:noFill/>
          <a:ln/>
        </p:spPr>
        <p:txBody>
          <a:bodyPr wrap="square" lIns="0" tIns="0" rIns="0" bIns="0" rtlCol="0" anchor="t"/>
          <a:lstStyle/>
          <a:p>
            <a:pPr marL="152400" indent="-152400">
              <a:lnSpc>
                <a:spcPct val="103000"/>
              </a:lnSpc>
              <a:spcAft>
                <a:spcPts val="500"/>
              </a:spcAft>
              <a:buSzPct val="100000"/>
              <a:buChar char="•"/>
            </a:pPr>
            <a:r>
              <a:rPr lang="en-US" sz="1000" dirty="0">
                <a:solidFill>
                  <a:srgbClr val="C9E2E8"/>
                </a:solidFill>
                <a:latin typeface="Calibri" pitchFamily="34" charset="0"/>
                <a:ea typeface="Calibri" pitchFamily="34" charset="-122"/>
                <a:cs typeface="Calibri" pitchFamily="34" charset="-120"/>
              </a:rPr>
              <a:t>Two of their three refrigerant platforms are hit by F-gas.</a:t>
            </a:r>
            <a:endParaRPr lang="en-US" sz="1000" dirty="0"/>
          </a:p>
          <a:p>
            <a:pPr marL="152400" indent="-152400">
              <a:lnSpc>
                <a:spcPct val="103000"/>
              </a:lnSpc>
              <a:spcAft>
                <a:spcPts val="500"/>
              </a:spcAft>
              <a:buSzPct val="100000"/>
              <a:buChar char="•"/>
            </a:pPr>
            <a:r>
              <a:rPr lang="en-US" sz="1000" dirty="0">
                <a:solidFill>
                  <a:srgbClr val="C9E2E8"/>
                </a:solidFill>
                <a:latin typeface="Calibri" pitchFamily="34" charset="0"/>
                <a:ea typeface="Calibri" pitchFamily="34" charset="-122"/>
                <a:cs typeface="Calibri" pitchFamily="34" charset="-120"/>
              </a:rPr>
              <a:t>No telemetry beyond an alarm contact — and no contact above Rousseau in four years.</a:t>
            </a:r>
            <a:endParaRPr lang="en-US" sz="1000" dirty="0"/>
          </a:p>
        </p:txBody>
      </p:sp>
      <p:sp>
        <p:nvSpPr>
          <p:cNvPr id="35" name="Text 33"/>
          <p:cNvSpPr txBox="1"/>
          <p:nvPr/>
        </p:nvSpPr>
        <p:spPr>
          <a:xfrm>
            <a:off x="4160520" y="4370832"/>
            <a:ext cx="3611880" cy="164592"/>
          </a:xfrm>
          <a:prstGeom prst="rect">
            <a:avLst/>
          </a:prstGeom>
          <a:noFill/>
          <a:ln/>
        </p:spPr>
        <p:txBody>
          <a:bodyPr wrap="square" lIns="0" tIns="0" rIns="0" bIns="0" rtlCol="0" anchor="ctr"/>
          <a:lstStyle/>
          <a:p>
            <a:pPr indent="0" marL="0">
              <a:buNone/>
            </a:pPr>
            <a:r>
              <a:rPr lang="en-US" sz="850" b="1" spc="90" kern="0" dirty="0">
                <a:solidFill>
                  <a:srgbClr val="F2A33C"/>
                </a:solidFill>
                <a:latin typeface="Calibri" pitchFamily="34" charset="0"/>
                <a:ea typeface="Calibri" pitchFamily="34" charset="-122"/>
                <a:cs typeface="Calibri" pitchFamily="34" charset="-120"/>
              </a:rPr>
              <a:t>THREE DISCOVERY QUESTIONS — WITHOUT NAMING THE WEAKNESS</a:t>
            </a:r>
            <a:endParaRPr lang="en-US" sz="850" dirty="0"/>
          </a:p>
        </p:txBody>
      </p:sp>
      <p:sp>
        <p:nvSpPr>
          <p:cNvPr id="36" name="Text 34"/>
          <p:cNvSpPr txBox="1"/>
          <p:nvPr/>
        </p:nvSpPr>
        <p:spPr>
          <a:xfrm>
            <a:off x="4160520" y="4572000"/>
            <a:ext cx="3611880" cy="1188720"/>
          </a:xfrm>
          <a:prstGeom prst="rect">
            <a:avLst/>
          </a:prstGeom>
          <a:noFill/>
          <a:ln/>
        </p:spPr>
        <p:txBody>
          <a:bodyPr wrap="square" lIns="0" tIns="0" rIns="0" bIns="0" rtlCol="0" anchor="t"/>
          <a:lstStyle/>
          <a:p>
            <a:pPr marL="152400" indent="-152400">
              <a:lnSpc>
                <a:spcPct val="103000"/>
              </a:lnSpc>
              <a:spcAft>
                <a:spcPts val="500"/>
              </a:spcAft>
              <a:buSzPct val="100000"/>
              <a:buChar char="•"/>
            </a:pPr>
            <a:r>
              <a:rPr lang="en-US" sz="1000" i="1" dirty="0">
                <a:solidFill>
                  <a:srgbClr val="C9E2E8"/>
                </a:solidFill>
                <a:latin typeface="Calibri" pitchFamily="34" charset="0"/>
                <a:ea typeface="Calibri" pitchFamily="34" charset="-122"/>
                <a:cs typeface="Calibri" pitchFamily="34" charset="-120"/>
              </a:rPr>
              <a:t>“Which platform will the year-four units sit on — and who pays if it is restricted?”</a:t>
            </a:r>
            <a:endParaRPr lang="en-US" sz="1000" dirty="0"/>
          </a:p>
          <a:p>
            <a:pPr marL="152400" indent="-152400">
              <a:lnSpc>
                <a:spcPct val="103000"/>
              </a:lnSpc>
              <a:spcAft>
                <a:spcPts val="500"/>
              </a:spcAft>
              <a:buSzPct val="100000"/>
              <a:buChar char="•"/>
            </a:pPr>
            <a:r>
              <a:rPr lang="en-US" sz="1000" i="1" dirty="0">
                <a:solidFill>
                  <a:srgbClr val="C9E2E8"/>
                </a:solidFill>
                <a:latin typeface="Calibri" pitchFamily="34" charset="0"/>
                <a:ea typeface="Calibri" pitchFamily="34" charset="-122"/>
                <a:cs typeface="Calibri" pitchFamily="34" charset="-120"/>
              </a:rPr>
              <a:t>“How do you find out a cooler has failed, and how long is it down?”</a:t>
            </a:r>
            <a:endParaRPr lang="en-US" sz="1000" dirty="0"/>
          </a:p>
          <a:p>
            <a:pPr marL="152400" indent="-152400">
              <a:lnSpc>
                <a:spcPct val="103000"/>
              </a:lnSpc>
              <a:spcAft>
                <a:spcPts val="500"/>
              </a:spcAft>
              <a:buSzPct val="100000"/>
              <a:buChar char="•"/>
            </a:pPr>
            <a:r>
              <a:rPr lang="en-US" sz="1000" i="1" dirty="0">
                <a:solidFill>
                  <a:srgbClr val="C9E2E8"/>
                </a:solidFill>
                <a:latin typeface="Calibri" pitchFamily="34" charset="0"/>
                <a:ea typeface="Calibri" pitchFamily="34" charset="-122"/>
                <a:cs typeface="Calibri" pitchFamily="34" charset="-120"/>
              </a:rPr>
              <a:t>“How will compliance be weighted against price — and who decides that?”</a:t>
            </a:r>
            <a:endParaRPr lang="en-US" sz="1000" dirty="0"/>
          </a:p>
        </p:txBody>
      </p:sp>
      <p:sp>
        <p:nvSpPr>
          <p:cNvPr id="37" name="Text 35"/>
          <p:cNvSpPr txBox="1"/>
          <p:nvPr/>
        </p:nvSpPr>
        <p:spPr>
          <a:xfrm>
            <a:off x="4160520" y="5815584"/>
            <a:ext cx="3611880" cy="164592"/>
          </a:xfrm>
          <a:prstGeom prst="rect">
            <a:avLst/>
          </a:prstGeom>
          <a:noFill/>
          <a:ln/>
        </p:spPr>
        <p:txBody>
          <a:bodyPr wrap="square" lIns="0" tIns="0" rIns="0" bIns="0" rtlCol="0" anchor="ctr"/>
          <a:lstStyle/>
          <a:p>
            <a:pPr indent="0" marL="0">
              <a:buNone/>
            </a:pPr>
            <a:r>
              <a:rPr lang="en-US" sz="850" b="1" spc="90" kern="0" dirty="0">
                <a:solidFill>
                  <a:srgbClr val="5AD9B3"/>
                </a:solidFill>
                <a:latin typeface="Calibri" pitchFamily="34" charset="0"/>
                <a:ea typeface="Calibri" pitchFamily="34" charset="-122"/>
                <a:cs typeface="Calibri" pitchFamily="34" charset="-120"/>
              </a:rPr>
              <a:t>THE PROOF POINT WE MUST HAVE</a:t>
            </a:r>
            <a:endParaRPr lang="en-US" sz="850" dirty="0"/>
          </a:p>
        </p:txBody>
      </p:sp>
      <p:sp>
        <p:nvSpPr>
          <p:cNvPr id="38" name="Text 36"/>
          <p:cNvSpPr txBox="1"/>
          <p:nvPr/>
        </p:nvSpPr>
        <p:spPr>
          <a:xfrm>
            <a:off x="4160520" y="6016752"/>
            <a:ext cx="3611880" cy="365760"/>
          </a:xfrm>
          <a:prstGeom prst="rect">
            <a:avLst/>
          </a:prstGeom>
          <a:noFill/>
          <a:ln/>
        </p:spPr>
        <p:txBody>
          <a:bodyPr wrap="square" lIns="0" tIns="0" rIns="0" bIns="0" rtlCol="0" anchor="ctr"/>
          <a:lstStyle/>
          <a:p>
            <a:pPr indent="0" marL="0">
              <a:lnSpc>
                <a:spcPct val="102000"/>
              </a:lnSpc>
              <a:buNone/>
            </a:pPr>
            <a:r>
              <a:rPr lang="en-US" sz="1000" dirty="0">
                <a:solidFill>
                  <a:srgbClr val="C9E2E8"/>
                </a:solidFill>
                <a:latin typeface="Calibri" pitchFamily="34" charset="0"/>
                <a:ea typeface="Calibri" pitchFamily="34" charset="-122"/>
                <a:cs typeface="Calibri" pitchFamily="34" charset="-120"/>
              </a:rPr>
              <a:t>Audited uptime from our own Portugal estate, checked against ABP’s own service records.</a:t>
            </a:r>
            <a:endParaRPr lang="en-US" sz="1000" dirty="0"/>
          </a:p>
        </p:txBody>
      </p:sp>
      <p:sp>
        <p:nvSpPr>
          <p:cNvPr id="39" name="Shape 37"/>
          <p:cNvSpPr/>
          <p:nvPr/>
        </p:nvSpPr>
        <p:spPr>
          <a:xfrm>
            <a:off x="8183880" y="1389888"/>
            <a:ext cx="3520440" cy="5047488"/>
          </a:xfrm>
          <a:prstGeom prst="roundRect">
            <a:avLst>
              <a:gd name="adj" fmla="val 2338"/>
            </a:avLst>
          </a:prstGeom>
          <a:solidFill>
            <a:srgbClr val="123C48"/>
          </a:solidFill>
          <a:ln w="12700">
            <a:solidFill>
              <a:srgbClr val="123C48"/>
            </a:solidFill>
            <a:prstDash val="solid"/>
          </a:ln>
        </p:spPr>
      </p:sp>
      <p:sp>
        <p:nvSpPr>
          <p:cNvPr id="40" name="Shape 38"/>
          <p:cNvSpPr/>
          <p:nvPr/>
        </p:nvSpPr>
        <p:spPr>
          <a:xfrm>
            <a:off x="8366760" y="1554480"/>
            <a:ext cx="292608" cy="292608"/>
          </a:xfrm>
          <a:prstGeom prst="ellipse">
            <a:avLst/>
          </a:prstGeom>
          <a:solidFill>
            <a:srgbClr val="F2A33C"/>
          </a:solidFill>
          <a:ln w="12700">
            <a:solidFill>
              <a:srgbClr val="F2A33C"/>
            </a:solidFill>
            <a:prstDash val="solid"/>
          </a:ln>
        </p:spPr>
      </p:sp>
      <p:sp>
        <p:nvSpPr>
          <p:cNvPr id="41" name="Text 39"/>
          <p:cNvSpPr txBox="1"/>
          <p:nvPr/>
        </p:nvSpPr>
        <p:spPr>
          <a:xfrm>
            <a:off x="8366760" y="1554480"/>
            <a:ext cx="292608" cy="292608"/>
          </a:xfrm>
          <a:prstGeom prst="rect">
            <a:avLst/>
          </a:prstGeom>
          <a:noFill/>
          <a:ln/>
        </p:spPr>
        <p:txBody>
          <a:bodyPr wrap="square" lIns="0" tIns="0" rIns="0" bIns="0" rtlCol="0" anchor="ctr"/>
          <a:lstStyle/>
          <a:p>
            <a:pPr algn="ctr" indent="0" marL="0">
              <a:buNone/>
            </a:pPr>
            <a:r>
              <a:rPr lang="en-US" sz="1300" b="1" dirty="0">
                <a:solidFill>
                  <a:srgbClr val="0B2B33"/>
                </a:solidFill>
                <a:latin typeface="Calibri" pitchFamily="34" charset="0"/>
                <a:ea typeface="Calibri" pitchFamily="34" charset="-122"/>
                <a:cs typeface="Calibri" pitchFamily="34" charset="-120"/>
              </a:rPr>
              <a:t>3</a:t>
            </a:r>
            <a:endParaRPr lang="en-US" sz="1300" dirty="0"/>
          </a:p>
        </p:txBody>
      </p:sp>
      <p:sp>
        <p:nvSpPr>
          <p:cNvPr id="42" name="Text 40"/>
          <p:cNvSpPr txBox="1"/>
          <p:nvPr/>
        </p:nvSpPr>
        <p:spPr>
          <a:xfrm>
            <a:off x="8769096" y="1536192"/>
            <a:ext cx="1783080" cy="329184"/>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FOUR CORNERS</a:t>
            </a:r>
            <a:endParaRPr lang="en-US" sz="1450" dirty="0"/>
          </a:p>
        </p:txBody>
      </p:sp>
      <p:sp>
        <p:nvSpPr>
          <p:cNvPr id="43" name="Text 41"/>
          <p:cNvSpPr txBox="1"/>
          <p:nvPr/>
        </p:nvSpPr>
        <p:spPr>
          <a:xfrm>
            <a:off x="10588752" y="1536192"/>
            <a:ext cx="548640" cy="329184"/>
          </a:xfrm>
          <a:prstGeom prst="rect">
            <a:avLst/>
          </a:prstGeom>
          <a:noFill/>
          <a:ln/>
        </p:spPr>
        <p:txBody>
          <a:bodyPr wrap="square" lIns="0" tIns="0" rIns="0" bIns="0" rtlCol="0" anchor="ctr"/>
          <a:lstStyle/>
          <a:p>
            <a:pPr algn="l" indent="0" marL="0">
              <a:buNone/>
            </a:pPr>
            <a:r>
              <a:rPr lang="en-US" sz="950" dirty="0">
                <a:solidFill>
                  <a:srgbClr val="8FB4BE"/>
                </a:solidFill>
                <a:latin typeface="Calibri" pitchFamily="34" charset="0"/>
                <a:ea typeface="Calibri" pitchFamily="34" charset="-122"/>
                <a:cs typeface="Calibri" pitchFamily="34" charset="-120"/>
              </a:rPr>
              <a:t>70 s</a:t>
            </a:r>
            <a:endParaRPr lang="en-US" sz="950" dirty="0"/>
          </a:p>
        </p:txBody>
      </p:sp>
      <p:sp>
        <p:nvSpPr>
          <p:cNvPr id="44" name="Text 42"/>
          <p:cNvSpPr txBox="1"/>
          <p:nvPr/>
        </p:nvSpPr>
        <p:spPr>
          <a:xfrm>
            <a:off x="8366760" y="2029968"/>
            <a:ext cx="3154680" cy="164592"/>
          </a:xfrm>
          <a:prstGeom prst="rect">
            <a:avLst/>
          </a:prstGeom>
          <a:noFill/>
          <a:ln/>
        </p:spPr>
        <p:txBody>
          <a:bodyPr wrap="square" lIns="0" tIns="0" rIns="0" bIns="0" rtlCol="0" anchor="ctr"/>
          <a:lstStyle/>
          <a:p>
            <a:pPr indent="0" marL="0">
              <a:buNone/>
            </a:pPr>
            <a:r>
              <a:rPr lang="en-US" sz="850" b="1" spc="90" kern="0" dirty="0">
                <a:solidFill>
                  <a:srgbClr val="F2A33C"/>
                </a:solidFill>
                <a:latin typeface="Calibri" pitchFamily="34" charset="0"/>
                <a:ea typeface="Calibri" pitchFamily="34" charset="-122"/>
                <a:cs typeface="Calibri" pitchFamily="34" charset="-120"/>
              </a:rPr>
              <a:t>WHAT FROSTLINE ASSUMES</a:t>
            </a:r>
            <a:endParaRPr lang="en-US" sz="850" dirty="0"/>
          </a:p>
        </p:txBody>
      </p:sp>
      <p:sp>
        <p:nvSpPr>
          <p:cNvPr id="45" name="Text 43"/>
          <p:cNvSpPr txBox="1"/>
          <p:nvPr/>
        </p:nvSpPr>
        <p:spPr>
          <a:xfrm>
            <a:off x="8366760" y="2231136"/>
            <a:ext cx="3154680" cy="658368"/>
          </a:xfrm>
          <a:prstGeom prst="rect">
            <a:avLst/>
          </a:prstGeom>
          <a:noFill/>
          <a:ln/>
        </p:spPr>
        <p:txBody>
          <a:bodyPr wrap="square" lIns="0" tIns="0" rIns="0" bIns="0" rtlCol="0" anchor="t"/>
          <a:lstStyle/>
          <a:p>
            <a:pPr marL="152400" indent="-152400">
              <a:lnSpc>
                <a:spcPct val="103000"/>
              </a:lnSpc>
              <a:spcAft>
                <a:spcPts val="500"/>
              </a:spcAft>
              <a:buSzPct val="100000"/>
              <a:buChar char="•"/>
            </a:pPr>
            <a:r>
              <a:rPr lang="en-US" sz="1050" dirty="0">
                <a:solidFill>
                  <a:srgbClr val="C9E2E8"/>
                </a:solidFill>
                <a:latin typeface="Calibri" pitchFamily="34" charset="0"/>
                <a:ea typeface="Calibri" pitchFamily="34" charset="-122"/>
                <a:cs typeface="Calibri" pitchFamily="34" charset="-120"/>
              </a:rPr>
              <a:t>Field operations decide, and price won in 2019.</a:t>
            </a:r>
            <a:endParaRPr lang="en-US" sz="1050" dirty="0"/>
          </a:p>
          <a:p>
            <a:pPr marL="152400" indent="-152400">
              <a:lnSpc>
                <a:spcPct val="103000"/>
              </a:lnSpc>
              <a:spcAft>
                <a:spcPts val="500"/>
              </a:spcAft>
              <a:buSzPct val="100000"/>
              <a:buChar char="•"/>
            </a:pPr>
            <a:r>
              <a:rPr lang="en-US" sz="1050" dirty="0">
                <a:solidFill>
                  <a:srgbClr val="C9E2E8"/>
                </a:solidFill>
                <a:latin typeface="Calibri" pitchFamily="34" charset="0"/>
                <a:ea typeface="Calibri" pitchFamily="34" charset="-122"/>
                <a:cs typeface="Calibri" pitchFamily="34" charset="-120"/>
              </a:rPr>
              <a:t>ABP is buying coolers, not data.</a:t>
            </a:r>
            <a:endParaRPr lang="en-US" sz="1050" dirty="0"/>
          </a:p>
        </p:txBody>
      </p:sp>
      <p:sp>
        <p:nvSpPr>
          <p:cNvPr id="46" name="Text 44"/>
          <p:cNvSpPr txBox="1"/>
          <p:nvPr/>
        </p:nvSpPr>
        <p:spPr>
          <a:xfrm>
            <a:off x="8366760" y="2962656"/>
            <a:ext cx="3154680" cy="164592"/>
          </a:xfrm>
          <a:prstGeom prst="rect">
            <a:avLst/>
          </a:prstGeom>
          <a:noFill/>
          <a:ln/>
        </p:spPr>
        <p:txBody>
          <a:bodyPr wrap="square" lIns="0" tIns="0" rIns="0" bIns="0" rtlCol="0" anchor="ctr"/>
          <a:lstStyle/>
          <a:p>
            <a:pPr indent="0" marL="0">
              <a:buNone/>
            </a:pPr>
            <a:r>
              <a:rPr lang="en-US" sz="850" b="1" spc="90" kern="0" dirty="0">
                <a:solidFill>
                  <a:srgbClr val="F0736C"/>
                </a:solidFill>
                <a:latin typeface="Calibri" pitchFamily="34" charset="0"/>
                <a:ea typeface="Calibri" pitchFamily="34" charset="-122"/>
                <a:cs typeface="Calibri" pitchFamily="34" charset="-120"/>
              </a:rPr>
              <a:t>WHY THAT IS WRONG</a:t>
            </a:r>
            <a:endParaRPr lang="en-US" sz="850" dirty="0"/>
          </a:p>
        </p:txBody>
      </p:sp>
      <p:sp>
        <p:nvSpPr>
          <p:cNvPr id="47" name="Text 45"/>
          <p:cNvSpPr txBox="1"/>
          <p:nvPr/>
        </p:nvSpPr>
        <p:spPr>
          <a:xfrm>
            <a:off x="8366760" y="3163824"/>
            <a:ext cx="3154680" cy="841248"/>
          </a:xfrm>
          <a:prstGeom prst="rect">
            <a:avLst/>
          </a:prstGeom>
          <a:noFill/>
          <a:ln/>
        </p:spPr>
        <p:txBody>
          <a:bodyPr wrap="square" lIns="0" tIns="0" rIns="0" bIns="0" rtlCol="0" anchor="t"/>
          <a:lstStyle/>
          <a:p>
            <a:pPr marL="152400" indent="-152400">
              <a:lnSpc>
                <a:spcPct val="103000"/>
              </a:lnSpc>
              <a:spcAft>
                <a:spcPts val="500"/>
              </a:spcAft>
              <a:buSzPct val="100000"/>
              <a:buChar char="•"/>
            </a:pPr>
            <a:r>
              <a:rPr lang="en-US" sz="1050" dirty="0">
                <a:solidFill>
                  <a:srgbClr val="C9E2E8"/>
                </a:solidFill>
                <a:latin typeface="Calibri" pitchFamily="34" charset="0"/>
                <a:ea typeface="Calibri" pitchFamily="34" charset="-122"/>
                <a:cs typeface="Calibri" pitchFamily="34" charset="-120"/>
              </a:rPr>
              <a:t>Regulation and a board target forced this — not equipment failure.</a:t>
            </a:r>
            <a:endParaRPr lang="en-US" sz="1050" dirty="0"/>
          </a:p>
          <a:p>
            <a:pPr marL="152400" indent="-152400">
              <a:lnSpc>
                <a:spcPct val="103000"/>
              </a:lnSpc>
              <a:spcAft>
                <a:spcPts val="500"/>
              </a:spcAft>
              <a:buSzPct val="100000"/>
              <a:buChar char="•"/>
            </a:pPr>
            <a:r>
              <a:rPr lang="en-US" sz="1050" dirty="0">
                <a:solidFill>
                  <a:srgbClr val="C9E2E8"/>
                </a:solidFill>
                <a:latin typeface="Calibri" pitchFamily="34" charset="0"/>
                <a:ea typeface="Calibri" pitchFamily="34" charset="-122"/>
                <a:cs typeface="Calibri" pitchFamily="34" charset="-120"/>
              </a:rPr>
              <a:t>The people who forced it, Frostline has not met in four years.</a:t>
            </a:r>
            <a:endParaRPr lang="en-US" sz="1050" dirty="0"/>
          </a:p>
        </p:txBody>
      </p:sp>
      <p:sp>
        <p:nvSpPr>
          <p:cNvPr id="48" name="Shape 46"/>
          <p:cNvSpPr/>
          <p:nvPr/>
        </p:nvSpPr>
        <p:spPr>
          <a:xfrm>
            <a:off x="8366760" y="4114800"/>
            <a:ext cx="3154680" cy="1188720"/>
          </a:xfrm>
          <a:prstGeom prst="roundRect">
            <a:avLst>
              <a:gd name="adj" fmla="val 6923"/>
            </a:avLst>
          </a:prstGeom>
          <a:solidFill>
            <a:srgbClr val="0E3641"/>
          </a:solidFill>
          <a:ln w="12700">
            <a:solidFill>
              <a:srgbClr val="0E3641"/>
            </a:solidFill>
            <a:prstDash val="solid"/>
          </a:ln>
        </p:spPr>
      </p:sp>
      <p:sp>
        <p:nvSpPr>
          <p:cNvPr id="49" name="Text 47"/>
          <p:cNvSpPr txBox="1"/>
          <p:nvPr/>
        </p:nvSpPr>
        <p:spPr>
          <a:xfrm>
            <a:off x="8522208" y="4224528"/>
            <a:ext cx="2843784" cy="237744"/>
          </a:xfrm>
          <a:prstGeom prst="rect">
            <a:avLst/>
          </a:prstGeom>
          <a:noFill/>
          <a:ln/>
        </p:spPr>
        <p:txBody>
          <a:bodyPr wrap="square" lIns="0" tIns="0" rIns="0" bIns="0" rtlCol="0" anchor="ctr"/>
          <a:lstStyle/>
          <a:p>
            <a:pPr indent="0" marL="0">
              <a:buNone/>
            </a:pPr>
            <a:r>
              <a:rPr lang="en-US" sz="1300" b="1" dirty="0">
                <a:solidFill>
                  <a:srgbClr val="F2A33C"/>
                </a:solidFill>
                <a:latin typeface="Cambria" pitchFamily="34" charset="0"/>
                <a:ea typeface="Cambria" pitchFamily="34" charset="-122"/>
                <a:cs typeface="Cambria" pitchFamily="34" charset="-120"/>
              </a:rPr>
              <a:t>OUR APPROACH  ·  DISRUPTION</a:t>
            </a:r>
            <a:endParaRPr lang="en-US" sz="1300" dirty="0"/>
          </a:p>
        </p:txBody>
      </p:sp>
      <p:sp>
        <p:nvSpPr>
          <p:cNvPr id="50" name="Text 48"/>
          <p:cNvSpPr txBox="1"/>
          <p:nvPr/>
        </p:nvSpPr>
        <p:spPr>
          <a:xfrm>
            <a:off x="8522208" y="4498848"/>
            <a:ext cx="2843784" cy="694944"/>
          </a:xfrm>
          <a:prstGeom prst="rect">
            <a:avLst/>
          </a:prstGeom>
          <a:noFill/>
          <a:ln/>
        </p:spPr>
        <p:txBody>
          <a:bodyPr wrap="square" lIns="0" tIns="0" rIns="0" bIns="0" rtlCol="0" anchor="ctr"/>
          <a:lstStyle/>
          <a:p>
            <a:pPr indent="0" marL="0">
              <a:lnSpc>
                <a:spcPct val="103000"/>
              </a:lnSpc>
              <a:buNone/>
            </a:pPr>
            <a:r>
              <a:rPr lang="en-US" sz="950" dirty="0">
                <a:solidFill>
                  <a:srgbClr val="C9E2E8"/>
                </a:solidFill>
                <a:latin typeface="Calibri" pitchFamily="34" charset="0"/>
                <a:ea typeface="Calibri" pitchFamily="34" charset="-122"/>
                <a:cs typeface="Calibri" pitchFamily="34" charset="-120"/>
              </a:rPr>
              <a:t>We cannot win on today’s criteria, so we change them before they are written: from unit price to five-year, compliance-adjusted cost per outlet-day.</a:t>
            </a:r>
            <a:endParaRPr lang="en-US" sz="950" dirty="0"/>
          </a:p>
        </p:txBody>
      </p:sp>
      <p:sp>
        <p:nvSpPr>
          <p:cNvPr id="51" name="Text 49"/>
          <p:cNvSpPr txBox="1"/>
          <p:nvPr/>
        </p:nvSpPr>
        <p:spPr>
          <a:xfrm>
            <a:off x="8366760" y="5449824"/>
            <a:ext cx="3154680" cy="164592"/>
          </a:xfrm>
          <a:prstGeom prst="rect">
            <a:avLst/>
          </a:prstGeom>
          <a:noFill/>
          <a:ln/>
        </p:spPr>
        <p:txBody>
          <a:bodyPr wrap="square" lIns="0" tIns="0" rIns="0" bIns="0" rtlCol="0" anchor="ctr"/>
          <a:lstStyle/>
          <a:p>
            <a:pPr indent="0" marL="0">
              <a:buNone/>
            </a:pPr>
            <a:r>
              <a:rPr lang="en-US" sz="850" b="1" spc="90" kern="0" dirty="0">
                <a:solidFill>
                  <a:srgbClr val="F0736C"/>
                </a:solidFill>
                <a:latin typeface="Calibri" pitchFamily="34" charset="0"/>
                <a:ea typeface="Calibri" pitchFamily="34" charset="-122"/>
                <a:cs typeface="Calibri" pitchFamily="34" charset="-120"/>
              </a:rPr>
              <a:t>WE ARE WRONG IF</a:t>
            </a:r>
            <a:endParaRPr lang="en-US" sz="850" dirty="0"/>
          </a:p>
        </p:txBody>
      </p:sp>
      <p:sp>
        <p:nvSpPr>
          <p:cNvPr id="52" name="Text 50"/>
          <p:cNvSpPr txBox="1"/>
          <p:nvPr/>
        </p:nvSpPr>
        <p:spPr>
          <a:xfrm>
            <a:off x="8366760" y="5650992"/>
            <a:ext cx="3154680" cy="731520"/>
          </a:xfrm>
          <a:prstGeom prst="rect">
            <a:avLst/>
          </a:prstGeom>
          <a:noFill/>
          <a:ln/>
        </p:spPr>
        <p:txBody>
          <a:bodyPr wrap="square" lIns="0" tIns="0" rIns="0" bIns="0" rtlCol="0" anchor="ctr"/>
          <a:lstStyle/>
          <a:p>
            <a:pPr indent="0" marL="0">
              <a:lnSpc>
                <a:spcPct val="103000"/>
              </a:lnSpc>
              <a:buNone/>
            </a:pPr>
            <a:r>
              <a:rPr lang="en-US" sz="950" dirty="0">
                <a:solidFill>
                  <a:srgbClr val="C9E2E8"/>
                </a:solidFill>
                <a:latin typeface="Calibri" pitchFamily="34" charset="0"/>
                <a:ea typeface="Calibri" pitchFamily="34" charset="-122"/>
                <a:cs typeface="Calibri" pitchFamily="34" charset="-120"/>
              </a:rPr>
              <a:t>The evaluation basis is already fixed on unit price. Then we stop reframing and segment: bid the 20,000 highest-failure outlets where we own the engineers.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2B33"/>
        </a:solidFill>
      </p:bgPr>
    </p:bg>
    <p:spTree>
      <p:nvGrpSpPr>
        <p:cNvPr id="1" name=""/>
        <p:cNvGrpSpPr/>
        <p:nvPr/>
      </p:nvGrpSpPr>
      <p:grpSpPr>
        <a:xfrm>
          <a:off x="0" y="0"/>
          <a:ext cx="0" cy="0"/>
          <a:chOff x="0" y="0"/>
          <a:chExt cx="0" cy="0"/>
        </a:xfrm>
      </p:grpSpPr>
      <p:sp>
        <p:nvSpPr>
          <p:cNvPr id="2" name="Text 0"/>
          <p:cNvSpPr txBox="1"/>
          <p:nvPr/>
        </p:nvSpPr>
        <p:spPr>
          <a:xfrm>
            <a:off x="502920" y="256032"/>
            <a:ext cx="7498080" cy="438912"/>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Who actually decides — and the eight weeks</a:t>
            </a:r>
            <a:endParaRPr lang="en-US" sz="2700" dirty="0"/>
          </a:p>
        </p:txBody>
      </p:sp>
      <p:sp>
        <p:nvSpPr>
          <p:cNvPr id="3" name="Text 1"/>
          <p:cNvSpPr txBox="1"/>
          <p:nvPr/>
        </p:nvSpPr>
        <p:spPr>
          <a:xfrm>
            <a:off x="512064" y="694944"/>
            <a:ext cx="7498080" cy="237744"/>
          </a:xfrm>
          <a:prstGeom prst="rect">
            <a:avLst/>
          </a:prstGeom>
          <a:noFill/>
          <a:ln/>
        </p:spPr>
        <p:txBody>
          <a:bodyPr wrap="square" lIns="0" tIns="0" rIns="0" bIns="0" rtlCol="0" anchor="ctr"/>
          <a:lstStyle/>
          <a:p>
            <a:pPr indent="0" marL="0">
              <a:buNone/>
            </a:pPr>
            <a:r>
              <a:rPr lang="en-US" sz="1050" dirty="0">
                <a:solidFill>
                  <a:srgbClr val="8FB4BE"/>
                </a:solidFill>
                <a:latin typeface="Calibri" pitchFamily="34" charset="0"/>
                <a:ea typeface="Calibri" pitchFamily="34" charset="-122"/>
                <a:cs typeface="Calibri" pitchFamily="34" charset="-120"/>
              </a:rPr>
              <a:t>Ten people, six votes, one document — and only one of them writes it</a:t>
            </a:r>
            <a:endParaRPr lang="en-US" sz="1050" dirty="0"/>
          </a:p>
        </p:txBody>
      </p:sp>
      <p:sp>
        <p:nvSpPr>
          <p:cNvPr id="4" name="Text 2"/>
          <p:cNvSpPr txBox="1"/>
          <p:nvPr/>
        </p:nvSpPr>
        <p:spPr>
          <a:xfrm>
            <a:off x="8138160" y="274320"/>
            <a:ext cx="3566160" cy="219456"/>
          </a:xfrm>
          <a:prstGeom prst="rect">
            <a:avLst/>
          </a:prstGeom>
          <a:noFill/>
          <a:ln/>
        </p:spPr>
        <p:txBody>
          <a:bodyPr wrap="square" lIns="0" tIns="0" rIns="0" bIns="0" rtlCol="0" anchor="ctr"/>
          <a:lstStyle/>
          <a:p>
            <a:pPr algn="r" indent="0" marL="0">
              <a:buNone/>
            </a:pPr>
            <a:r>
              <a:rPr lang="en-US" sz="850" b="1" spc="80" kern="0" dirty="0">
                <a:solidFill>
                  <a:srgbClr val="F2A33C"/>
                </a:solidFill>
                <a:latin typeface="Calibri" pitchFamily="34" charset="0"/>
                <a:ea typeface="Calibri" pitchFamily="34" charset="-122"/>
                <a:cs typeface="Calibri" pitchFamily="34" charset="-120"/>
              </a:rPr>
              <a:t>TASKS 3, 4 &amp; 5  ·  BUYING CENTRE, MENTOR, PLAN</a:t>
            </a:r>
            <a:endParaRPr lang="en-US" sz="850" dirty="0"/>
          </a:p>
        </p:txBody>
      </p:sp>
      <p:sp>
        <p:nvSpPr>
          <p:cNvPr id="5" name="Text 3"/>
          <p:cNvSpPr txBox="1"/>
          <p:nvPr/>
        </p:nvSpPr>
        <p:spPr>
          <a:xfrm>
            <a:off x="8138160" y="530352"/>
            <a:ext cx="3566160" cy="219456"/>
          </a:xfrm>
          <a:prstGeom prst="rect">
            <a:avLst/>
          </a:prstGeom>
          <a:noFill/>
          <a:ln/>
        </p:spPr>
        <p:txBody>
          <a:bodyPr wrap="square" lIns="0" tIns="0" rIns="0" bIns="0" rtlCol="0" anchor="ctr"/>
          <a:lstStyle/>
          <a:p>
            <a:pPr algn="r" indent="0" marL="0">
              <a:buNone/>
            </a:pPr>
            <a:r>
              <a:rPr lang="en-US" sz="800" dirty="0">
                <a:solidFill>
                  <a:srgbClr val="8FB4BE"/>
                </a:solidFill>
                <a:latin typeface="Calibri" pitchFamily="34" charset="0"/>
                <a:ea typeface="Calibri" pitchFamily="34" charset="-122"/>
                <a:cs typeface="Calibri" pitchFamily="34" charset="-120"/>
              </a:rPr>
              <a:t>MERIDIAN COLD CHAIN SOLUTIONS  ·  M2 NDC, EMLV  ·  2 / 2</a:t>
            </a:r>
            <a:endParaRPr lang="en-US" sz="800" dirty="0"/>
          </a:p>
        </p:txBody>
      </p:sp>
      <p:sp>
        <p:nvSpPr>
          <p:cNvPr id="6" name="Shape 4"/>
          <p:cNvSpPr/>
          <p:nvPr/>
        </p:nvSpPr>
        <p:spPr>
          <a:xfrm>
            <a:off x="502920" y="1188720"/>
            <a:ext cx="6446520" cy="3291840"/>
          </a:xfrm>
          <a:prstGeom prst="roundRect">
            <a:avLst>
              <a:gd name="adj" fmla="val 2500"/>
            </a:avLst>
          </a:prstGeom>
          <a:solidFill>
            <a:srgbClr val="123C48"/>
          </a:solidFill>
          <a:ln w="12700">
            <a:solidFill>
              <a:srgbClr val="123C48"/>
            </a:solidFill>
            <a:prstDash val="solid"/>
          </a:ln>
        </p:spPr>
      </p:sp>
      <p:sp>
        <p:nvSpPr>
          <p:cNvPr id="7" name="Shape 5"/>
          <p:cNvSpPr/>
          <p:nvPr/>
        </p:nvSpPr>
        <p:spPr>
          <a:xfrm>
            <a:off x="685800" y="1325880"/>
            <a:ext cx="292608" cy="292608"/>
          </a:xfrm>
          <a:prstGeom prst="ellipse">
            <a:avLst/>
          </a:prstGeom>
          <a:solidFill>
            <a:srgbClr val="F2A33C"/>
          </a:solidFill>
          <a:ln w="12700">
            <a:solidFill>
              <a:srgbClr val="F2A33C"/>
            </a:solidFill>
            <a:prstDash val="solid"/>
          </a:ln>
        </p:spPr>
      </p:sp>
      <p:sp>
        <p:nvSpPr>
          <p:cNvPr id="8" name="Text 6"/>
          <p:cNvSpPr txBox="1"/>
          <p:nvPr/>
        </p:nvSpPr>
        <p:spPr>
          <a:xfrm>
            <a:off x="685800" y="1325880"/>
            <a:ext cx="292608" cy="292608"/>
          </a:xfrm>
          <a:prstGeom prst="rect">
            <a:avLst/>
          </a:prstGeom>
          <a:noFill/>
          <a:ln/>
        </p:spPr>
        <p:txBody>
          <a:bodyPr wrap="square" lIns="0" tIns="0" rIns="0" bIns="0" rtlCol="0" anchor="ctr"/>
          <a:lstStyle/>
          <a:p>
            <a:pPr algn="ctr" indent="0" marL="0">
              <a:buNone/>
            </a:pPr>
            <a:r>
              <a:rPr lang="en-US" sz="1300" b="1" dirty="0">
                <a:solidFill>
                  <a:srgbClr val="0B2B33"/>
                </a:solidFill>
                <a:latin typeface="Calibri" pitchFamily="34" charset="0"/>
                <a:ea typeface="Calibri" pitchFamily="34" charset="-122"/>
                <a:cs typeface="Calibri" pitchFamily="34" charset="-120"/>
              </a:rPr>
              <a:t>4</a:t>
            </a:r>
            <a:endParaRPr lang="en-US" sz="1300" dirty="0"/>
          </a:p>
        </p:txBody>
      </p:sp>
      <p:sp>
        <p:nvSpPr>
          <p:cNvPr id="9" name="Text 7"/>
          <p:cNvSpPr txBox="1"/>
          <p:nvPr/>
        </p:nvSpPr>
        <p:spPr>
          <a:xfrm>
            <a:off x="1088136" y="1307592"/>
            <a:ext cx="2468880" cy="329184"/>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THE BUYING CENTRE</a:t>
            </a:r>
            <a:endParaRPr lang="en-US" sz="1450" dirty="0"/>
          </a:p>
        </p:txBody>
      </p:sp>
      <p:sp>
        <p:nvSpPr>
          <p:cNvPr id="10" name="Text 8"/>
          <p:cNvSpPr txBox="1"/>
          <p:nvPr/>
        </p:nvSpPr>
        <p:spPr>
          <a:xfrm>
            <a:off x="3593592" y="1307592"/>
            <a:ext cx="548640" cy="329184"/>
          </a:xfrm>
          <a:prstGeom prst="rect">
            <a:avLst/>
          </a:prstGeom>
          <a:noFill/>
          <a:ln/>
        </p:spPr>
        <p:txBody>
          <a:bodyPr wrap="square" lIns="0" tIns="0" rIns="0" bIns="0" rtlCol="0" anchor="ctr"/>
          <a:lstStyle/>
          <a:p>
            <a:pPr algn="l" indent="0" marL="0">
              <a:buNone/>
            </a:pPr>
            <a:r>
              <a:rPr lang="en-US" sz="950" dirty="0">
                <a:solidFill>
                  <a:srgbClr val="8FB4BE"/>
                </a:solidFill>
                <a:latin typeface="Calibri" pitchFamily="34" charset="0"/>
                <a:ea typeface="Calibri" pitchFamily="34" charset="-122"/>
                <a:cs typeface="Calibri" pitchFamily="34" charset="-120"/>
              </a:rPr>
              <a:t>70 s</a:t>
            </a:r>
            <a:endParaRPr lang="en-US" sz="950" dirty="0"/>
          </a:p>
        </p:txBody>
      </p:sp>
      <p:sp>
        <p:nvSpPr>
          <p:cNvPr id="11" name="Text 9"/>
          <p:cNvSpPr txBox="1"/>
          <p:nvPr/>
        </p:nvSpPr>
        <p:spPr>
          <a:xfrm rot="16200000">
            <a:off x="73152" y="2542032"/>
            <a:ext cx="1463040" cy="219456"/>
          </a:xfrm>
          <a:prstGeom prst="rect">
            <a:avLst/>
          </a:prstGeom>
          <a:noFill/>
          <a:ln/>
        </p:spPr>
        <p:txBody>
          <a:bodyPr wrap="square" lIns="0" tIns="0" rIns="0" bIns="0" rtlCol="0" anchor="ctr"/>
          <a:lstStyle/>
          <a:p>
            <a:pPr algn="ctr" indent="0" marL="0">
              <a:buNone/>
            </a:pPr>
            <a:r>
              <a:rPr lang="en-US" sz="800" b="1" spc="80" kern="0" dirty="0">
                <a:solidFill>
                  <a:srgbClr val="8FB4BE"/>
                </a:solidFill>
                <a:latin typeface="Calibri" pitchFamily="34" charset="0"/>
                <a:ea typeface="Calibri" pitchFamily="34" charset="-122"/>
                <a:cs typeface="Calibri" pitchFamily="34" charset="-120"/>
              </a:rPr>
              <a:t>POWER →</a:t>
            </a:r>
            <a:endParaRPr lang="en-US" sz="800" dirty="0"/>
          </a:p>
        </p:txBody>
      </p:sp>
      <p:sp>
        <p:nvSpPr>
          <p:cNvPr id="12" name="Shape 10"/>
          <p:cNvSpPr/>
          <p:nvPr/>
        </p:nvSpPr>
        <p:spPr>
          <a:xfrm>
            <a:off x="1005840" y="1664208"/>
            <a:ext cx="2788920" cy="905256"/>
          </a:xfrm>
          <a:prstGeom prst="roundRect">
            <a:avLst>
              <a:gd name="adj" fmla="val 9091"/>
            </a:avLst>
          </a:prstGeom>
          <a:solidFill>
            <a:srgbClr val="0E3641"/>
          </a:solidFill>
          <a:ln w="12700">
            <a:solidFill>
              <a:srgbClr val="0E3641"/>
            </a:solidFill>
            <a:prstDash val="solid"/>
          </a:ln>
        </p:spPr>
      </p:sp>
      <p:sp>
        <p:nvSpPr>
          <p:cNvPr id="13" name="Text 11"/>
          <p:cNvSpPr txBox="1"/>
          <p:nvPr/>
        </p:nvSpPr>
        <p:spPr>
          <a:xfrm>
            <a:off x="1133856" y="1737360"/>
            <a:ext cx="2532888" cy="146304"/>
          </a:xfrm>
          <a:prstGeom prst="rect">
            <a:avLst/>
          </a:prstGeom>
          <a:noFill/>
          <a:ln/>
        </p:spPr>
        <p:txBody>
          <a:bodyPr wrap="square" lIns="0" tIns="0" rIns="0" bIns="0" rtlCol="0" anchor="ctr"/>
          <a:lstStyle/>
          <a:p>
            <a:pPr indent="0" marL="0">
              <a:buNone/>
            </a:pPr>
            <a:r>
              <a:rPr lang="en-US" sz="750" b="1" spc="60" kern="0" dirty="0">
                <a:solidFill>
                  <a:srgbClr val="F0736C"/>
                </a:solidFill>
                <a:latin typeface="Calibri" pitchFamily="34" charset="0"/>
                <a:ea typeface="Calibri" pitchFamily="34" charset="-122"/>
                <a:cs typeface="Calibri" pitchFamily="34" charset="-120"/>
              </a:rPr>
              <a:t>HIGH POWER  ·  LOW INTEREST</a:t>
            </a:r>
            <a:endParaRPr lang="en-US" sz="750" dirty="0"/>
          </a:p>
        </p:txBody>
      </p:sp>
      <p:sp>
        <p:nvSpPr>
          <p:cNvPr id="14" name="Text 12"/>
          <p:cNvSpPr txBox="1"/>
          <p:nvPr/>
        </p:nvSpPr>
        <p:spPr>
          <a:xfrm>
            <a:off x="1133856" y="1920240"/>
            <a:ext cx="2532888" cy="576072"/>
          </a:xfrm>
          <a:prstGeom prst="rect">
            <a:avLst/>
          </a:prstGeom>
          <a:noFill/>
          <a:ln/>
        </p:spPr>
        <p:txBody>
          <a:bodyPr wrap="square" lIns="0" tIns="0" rIns="0" bIns="0" rtlCol="0" anchor="t"/>
          <a:lstStyle/>
          <a:p>
            <a:pPr indent="0" marL="0">
              <a:lnSpc>
                <a:spcPct val="104000"/>
              </a:lnSpc>
              <a:spcAft>
                <a:spcPts val="200"/>
              </a:spcAft>
              <a:buNone/>
            </a:pPr>
            <a:r>
              <a:rPr lang="en-US" sz="900" b="1" dirty="0">
                <a:solidFill>
                  <a:srgbClr val="FFFFFF"/>
                </a:solidFill>
                <a:latin typeface="Calibri" pitchFamily="34" charset="0"/>
                <a:ea typeface="Calibri" pitchFamily="34" charset="-122"/>
                <a:cs typeface="Calibri" pitchFamily="34" charset="-120"/>
              </a:rPr>
              <a:t>Marchand</a:t>
            </a:r>
            <a:pPr indent="0" marL="0">
              <a:lnSpc>
                <a:spcPct val="104000"/>
              </a:lnSpc>
              <a:spcAft>
                <a:spcPts val="200"/>
              </a:spcAft>
              <a:buNone/>
            </a:pPr>
            <a:r>
              <a:rPr lang="en-US" sz="900" dirty="0">
                <a:solidFill>
                  <a:srgbClr val="C9E2E8"/>
                </a:solidFill>
                <a:latin typeface="Calibri" pitchFamily="34" charset="0"/>
                <a:ea typeface="Calibri" pitchFamily="34" charset="-122"/>
                <a:cs typeface="Calibri" pitchFamily="34" charset="-120"/>
              </a:rPr>
              <a:t> — chairs it; chose Frostline in 2019</a:t>
            </a:r>
            <a:endParaRPr lang="en-US" sz="900" dirty="0"/>
          </a:p>
          <a:p>
            <a:pPr indent="0" marL="0">
              <a:lnSpc>
                <a:spcPct val="104000"/>
              </a:lnSpc>
              <a:spcAft>
                <a:spcPts val="200"/>
              </a:spcAft>
              <a:buNone/>
            </a:pPr>
            <a:r>
              <a:rPr lang="en-US" sz="900" b="1" dirty="0">
                <a:solidFill>
                  <a:srgbClr val="FFFFFF"/>
                </a:solidFill>
                <a:latin typeface="Calibri" pitchFamily="34" charset="0"/>
                <a:ea typeface="Calibri" pitchFamily="34" charset="-122"/>
                <a:cs typeface="Calibri" pitchFamily="34" charset="-120"/>
              </a:rPr>
              <a:t>Rousseau</a:t>
            </a:r>
            <a:pPr indent="0" marL="0">
              <a:lnSpc>
                <a:spcPct val="104000"/>
              </a:lnSpc>
              <a:spcAft>
                <a:spcPts val="200"/>
              </a:spcAft>
              <a:buNone/>
            </a:pPr>
            <a:r>
              <a:rPr lang="en-US" sz="900" dirty="0">
                <a:solidFill>
                  <a:srgbClr val="C9E2E8"/>
                </a:solidFill>
                <a:latin typeface="Calibri" pitchFamily="34" charset="0"/>
                <a:ea typeface="Calibri" pitchFamily="34" charset="-122"/>
                <a:cs typeface="Calibri" pitchFamily="34" charset="-120"/>
              </a:rPr>
              <a:t> — 400 technicians; “it works fine”</a:t>
            </a:r>
            <a:endParaRPr lang="en-US" sz="900" dirty="0"/>
          </a:p>
          <a:p>
            <a:pPr indent="0" marL="0">
              <a:lnSpc>
                <a:spcPct val="104000"/>
              </a:lnSpc>
              <a:spcAft>
                <a:spcPts val="200"/>
              </a:spcAft>
              <a:buNone/>
            </a:pPr>
            <a:r>
              <a:rPr lang="en-US" sz="900" b="1" dirty="0">
                <a:solidFill>
                  <a:srgbClr val="FFFFFF"/>
                </a:solidFill>
                <a:latin typeface="Calibri" pitchFamily="34" charset="0"/>
                <a:ea typeface="Calibri" pitchFamily="34" charset="-122"/>
                <a:cs typeface="Calibri" pitchFamily="34" charset="-120"/>
              </a:rPr>
              <a:t>Fontaine</a:t>
            </a:r>
            <a:pPr indent="0" marL="0">
              <a:lnSpc>
                <a:spcPct val="104000"/>
              </a:lnSpc>
              <a:spcAft>
                <a:spcPts val="200"/>
              </a:spcAft>
              <a:buNone/>
            </a:pPr>
            <a:r>
              <a:rPr lang="en-US" sz="900" dirty="0">
                <a:solidFill>
                  <a:srgbClr val="C9E2E8"/>
                </a:solidFill>
                <a:latin typeface="Calibri" pitchFamily="34" charset="0"/>
                <a:ea typeface="Calibri" pitchFamily="34" charset="-122"/>
                <a:cs typeface="Calibri" pitchFamily="34" charset="-120"/>
              </a:rPr>
              <a:t> — signs once, at the very end</a:t>
            </a:r>
            <a:endParaRPr lang="en-US" sz="900" dirty="0"/>
          </a:p>
        </p:txBody>
      </p:sp>
      <p:sp>
        <p:nvSpPr>
          <p:cNvPr id="15" name="Shape 13"/>
          <p:cNvSpPr/>
          <p:nvPr/>
        </p:nvSpPr>
        <p:spPr>
          <a:xfrm>
            <a:off x="3977640" y="1664208"/>
            <a:ext cx="2788920" cy="905256"/>
          </a:xfrm>
          <a:prstGeom prst="roundRect">
            <a:avLst>
              <a:gd name="adj" fmla="val 9091"/>
            </a:avLst>
          </a:prstGeom>
          <a:solidFill>
            <a:srgbClr val="0E3641"/>
          </a:solidFill>
          <a:ln w="12700">
            <a:solidFill>
              <a:srgbClr val="0E3641"/>
            </a:solidFill>
            <a:prstDash val="solid"/>
          </a:ln>
        </p:spPr>
      </p:sp>
      <p:sp>
        <p:nvSpPr>
          <p:cNvPr id="16" name="Text 14"/>
          <p:cNvSpPr txBox="1"/>
          <p:nvPr/>
        </p:nvSpPr>
        <p:spPr>
          <a:xfrm>
            <a:off x="4105656" y="1737360"/>
            <a:ext cx="2532888" cy="146304"/>
          </a:xfrm>
          <a:prstGeom prst="rect">
            <a:avLst/>
          </a:prstGeom>
          <a:noFill/>
          <a:ln/>
        </p:spPr>
        <p:txBody>
          <a:bodyPr wrap="square" lIns="0" tIns="0" rIns="0" bIns="0" rtlCol="0" anchor="ctr"/>
          <a:lstStyle/>
          <a:p>
            <a:pPr indent="0" marL="0">
              <a:buNone/>
            </a:pPr>
            <a:r>
              <a:rPr lang="en-US" sz="750" b="1" spc="60" kern="0" dirty="0">
                <a:solidFill>
                  <a:srgbClr val="5AD9B3"/>
                </a:solidFill>
                <a:latin typeface="Calibri" pitchFamily="34" charset="0"/>
                <a:ea typeface="Calibri" pitchFamily="34" charset="-122"/>
                <a:cs typeface="Calibri" pitchFamily="34" charset="-120"/>
              </a:rPr>
              <a:t>HIGH POWER  ·  HIGH INTEREST</a:t>
            </a:r>
            <a:endParaRPr lang="en-US" sz="750" dirty="0"/>
          </a:p>
        </p:txBody>
      </p:sp>
      <p:sp>
        <p:nvSpPr>
          <p:cNvPr id="17" name="Text 15"/>
          <p:cNvSpPr txBox="1"/>
          <p:nvPr/>
        </p:nvSpPr>
        <p:spPr>
          <a:xfrm>
            <a:off x="4105656" y="1920240"/>
            <a:ext cx="2532888" cy="576072"/>
          </a:xfrm>
          <a:prstGeom prst="rect">
            <a:avLst/>
          </a:prstGeom>
          <a:noFill/>
          <a:ln/>
        </p:spPr>
        <p:txBody>
          <a:bodyPr wrap="square" lIns="0" tIns="0" rIns="0" bIns="0" rtlCol="0" anchor="t"/>
          <a:lstStyle/>
          <a:p>
            <a:pPr indent="0" marL="0">
              <a:lnSpc>
                <a:spcPct val="104000"/>
              </a:lnSpc>
              <a:spcAft>
                <a:spcPts val="200"/>
              </a:spcAft>
              <a:buNone/>
            </a:pPr>
            <a:r>
              <a:rPr lang="en-US" sz="900" b="1" dirty="0">
                <a:solidFill>
                  <a:srgbClr val="FFFFFF"/>
                </a:solidFill>
                <a:latin typeface="Calibri" pitchFamily="34" charset="0"/>
                <a:ea typeface="Calibri" pitchFamily="34" charset="-122"/>
                <a:cs typeface="Calibri" pitchFamily="34" charset="-120"/>
              </a:rPr>
              <a:t>Beck</a:t>
            </a:r>
            <a:pPr indent="0" marL="0">
              <a:lnSpc>
                <a:spcPct val="104000"/>
              </a:lnSpc>
              <a:spcAft>
                <a:spcPts val="200"/>
              </a:spcAft>
              <a:buNone/>
            </a:pPr>
            <a:r>
              <a:rPr lang="en-US" sz="900" dirty="0">
                <a:solidFill>
                  <a:srgbClr val="C9E2E8"/>
                </a:solidFill>
                <a:latin typeface="Calibri" pitchFamily="34" charset="0"/>
                <a:ea typeface="Calibri" pitchFamily="34" charset="-122"/>
                <a:cs typeface="Calibri" pitchFamily="34" charset="-120"/>
              </a:rPr>
              <a:t> — owns the budget, no view yet</a:t>
            </a:r>
            <a:endParaRPr lang="en-US" sz="900" dirty="0"/>
          </a:p>
          <a:p>
            <a:pPr indent="0" marL="0">
              <a:lnSpc>
                <a:spcPct val="104000"/>
              </a:lnSpc>
              <a:spcAft>
                <a:spcPts val="200"/>
              </a:spcAft>
              <a:buNone/>
            </a:pPr>
            <a:r>
              <a:rPr lang="en-US" sz="900" b="1" dirty="0">
                <a:solidFill>
                  <a:srgbClr val="FFFFFF"/>
                </a:solidFill>
                <a:latin typeface="Calibri" pitchFamily="34" charset="0"/>
                <a:ea typeface="Calibri" pitchFamily="34" charset="-122"/>
                <a:cs typeface="Calibri" pitchFamily="34" charset="-120"/>
              </a:rPr>
              <a:t>Diallo</a:t>
            </a:r>
            <a:pPr indent="0" marL="0">
              <a:lnSpc>
                <a:spcPct val="104000"/>
              </a:lnSpc>
              <a:spcAft>
                <a:spcPts val="200"/>
              </a:spcAft>
              <a:buNone/>
            </a:pPr>
            <a:r>
              <a:rPr lang="en-US" sz="900" dirty="0">
                <a:solidFill>
                  <a:srgbClr val="C9E2E8"/>
                </a:solidFill>
                <a:latin typeface="Calibri" pitchFamily="34" charset="0"/>
                <a:ea typeface="Calibri" pitchFamily="34" charset="-122"/>
                <a:cs typeface="Calibri" pitchFamily="34" charset="-120"/>
              </a:rPr>
              <a:t> — board mandate; no budget, no vote</a:t>
            </a:r>
            <a:endParaRPr lang="en-US" sz="900" dirty="0"/>
          </a:p>
          <a:p>
            <a:pPr indent="0" marL="0">
              <a:lnSpc>
                <a:spcPct val="104000"/>
              </a:lnSpc>
              <a:spcAft>
                <a:spcPts val="200"/>
              </a:spcAft>
              <a:buNone/>
            </a:pPr>
            <a:r>
              <a:rPr lang="en-US" sz="900" b="1" dirty="0">
                <a:solidFill>
                  <a:srgbClr val="FFFFFF"/>
                </a:solidFill>
                <a:latin typeface="Calibri" pitchFamily="34" charset="0"/>
                <a:ea typeface="Calibri" pitchFamily="34" charset="-122"/>
                <a:cs typeface="Calibri" pitchFamily="34" charset="-120"/>
              </a:rPr>
              <a:t>Sanchez</a:t>
            </a:r>
            <a:pPr indent="0" marL="0">
              <a:lnSpc>
                <a:spcPct val="104000"/>
              </a:lnSpc>
              <a:spcAft>
                <a:spcPts val="200"/>
              </a:spcAft>
              <a:buNone/>
            </a:pPr>
            <a:r>
              <a:rPr lang="en-US" sz="900" dirty="0">
                <a:solidFill>
                  <a:srgbClr val="C9E2E8"/>
                </a:solidFill>
                <a:latin typeface="Calibri" pitchFamily="34" charset="0"/>
                <a:ea typeface="Calibri" pitchFamily="34" charset="-122"/>
                <a:cs typeface="Calibri" pitchFamily="34" charset="-120"/>
              </a:rPr>
              <a:t> — writes the RFP and the bidder list</a:t>
            </a:r>
            <a:endParaRPr lang="en-US" sz="900" dirty="0"/>
          </a:p>
        </p:txBody>
      </p:sp>
      <p:sp>
        <p:nvSpPr>
          <p:cNvPr id="18" name="Shape 16"/>
          <p:cNvSpPr/>
          <p:nvPr/>
        </p:nvSpPr>
        <p:spPr>
          <a:xfrm>
            <a:off x="1005840" y="2651760"/>
            <a:ext cx="2788920" cy="905256"/>
          </a:xfrm>
          <a:prstGeom prst="roundRect">
            <a:avLst>
              <a:gd name="adj" fmla="val 9091"/>
            </a:avLst>
          </a:prstGeom>
          <a:solidFill>
            <a:srgbClr val="0E3641"/>
          </a:solidFill>
          <a:ln w="12700">
            <a:solidFill>
              <a:srgbClr val="0E3641"/>
            </a:solidFill>
            <a:prstDash val="solid"/>
          </a:ln>
        </p:spPr>
      </p:sp>
      <p:sp>
        <p:nvSpPr>
          <p:cNvPr id="19" name="Text 17"/>
          <p:cNvSpPr txBox="1"/>
          <p:nvPr/>
        </p:nvSpPr>
        <p:spPr>
          <a:xfrm>
            <a:off x="1133856" y="2724912"/>
            <a:ext cx="2532888" cy="146304"/>
          </a:xfrm>
          <a:prstGeom prst="rect">
            <a:avLst/>
          </a:prstGeom>
          <a:noFill/>
          <a:ln/>
        </p:spPr>
        <p:txBody>
          <a:bodyPr wrap="square" lIns="0" tIns="0" rIns="0" bIns="0" rtlCol="0" anchor="ctr"/>
          <a:lstStyle/>
          <a:p>
            <a:pPr indent="0" marL="0">
              <a:buNone/>
            </a:pPr>
            <a:r>
              <a:rPr lang="en-US" sz="750" b="1" spc="60" kern="0" dirty="0">
                <a:solidFill>
                  <a:srgbClr val="8FB4BE"/>
                </a:solidFill>
                <a:latin typeface="Calibri" pitchFamily="34" charset="0"/>
                <a:ea typeface="Calibri" pitchFamily="34" charset="-122"/>
                <a:cs typeface="Calibri" pitchFamily="34" charset="-120"/>
              </a:rPr>
              <a:t>LOW POWER  ·  LOW INTEREST</a:t>
            </a:r>
            <a:endParaRPr lang="en-US" sz="750" dirty="0"/>
          </a:p>
        </p:txBody>
      </p:sp>
      <p:sp>
        <p:nvSpPr>
          <p:cNvPr id="20" name="Text 18"/>
          <p:cNvSpPr txBox="1"/>
          <p:nvPr/>
        </p:nvSpPr>
        <p:spPr>
          <a:xfrm>
            <a:off x="1133856" y="2907792"/>
            <a:ext cx="2532888" cy="576072"/>
          </a:xfrm>
          <a:prstGeom prst="rect">
            <a:avLst/>
          </a:prstGeom>
          <a:noFill/>
          <a:ln/>
        </p:spPr>
        <p:txBody>
          <a:bodyPr wrap="square" lIns="0" tIns="0" rIns="0" bIns="0" rtlCol="0" anchor="t"/>
          <a:lstStyle/>
          <a:p>
            <a:pPr indent="0" marL="0">
              <a:lnSpc>
                <a:spcPct val="104000"/>
              </a:lnSpc>
              <a:spcAft>
                <a:spcPts val="200"/>
              </a:spcAft>
              <a:buNone/>
            </a:pPr>
            <a:r>
              <a:rPr lang="en-US" sz="900" b="1" dirty="0">
                <a:solidFill>
                  <a:srgbClr val="FFFFFF"/>
                </a:solidFill>
                <a:latin typeface="Calibri" pitchFamily="34" charset="0"/>
                <a:ea typeface="Calibri" pitchFamily="34" charset="-122"/>
                <a:cs typeface="Calibri" pitchFamily="34" charset="-120"/>
              </a:rPr>
              <a:t>Haddad</a:t>
            </a:r>
            <a:pPr indent="0" marL="0">
              <a:lnSpc>
                <a:spcPct val="104000"/>
              </a:lnSpc>
              <a:spcAft>
                <a:spcPts val="200"/>
              </a:spcAft>
              <a:buNone/>
            </a:pPr>
            <a:r>
              <a:rPr lang="en-US" sz="900" dirty="0">
                <a:solidFill>
                  <a:srgbClr val="C9E2E8"/>
                </a:solidFill>
                <a:latin typeface="Calibri" pitchFamily="34" charset="0"/>
                <a:ea typeface="Calibri" pitchFamily="34" charset="-122"/>
                <a:cs typeface="Calibri" pitchFamily="34" charset="-120"/>
              </a:rPr>
              <a:t> — data terms; a late veto</a:t>
            </a:r>
            <a:endParaRPr lang="en-US" sz="900" dirty="0"/>
          </a:p>
          <a:p>
            <a:pPr indent="0" marL="0">
              <a:lnSpc>
                <a:spcPct val="104000"/>
              </a:lnSpc>
              <a:spcAft>
                <a:spcPts val="200"/>
              </a:spcAft>
              <a:buNone/>
            </a:pPr>
            <a:r>
              <a:rPr lang="en-US" sz="900" b="1" dirty="0">
                <a:solidFill>
                  <a:srgbClr val="FFFFFF"/>
                </a:solidFill>
                <a:latin typeface="Calibri" pitchFamily="34" charset="0"/>
                <a:ea typeface="Calibri" pitchFamily="34" charset="-122"/>
                <a:cs typeface="Calibri" pitchFamily="34" charset="-120"/>
              </a:rPr>
              <a:t>Franchisor</a:t>
            </a:r>
            <a:pPr indent="0" marL="0">
              <a:lnSpc>
                <a:spcPct val="104000"/>
              </a:lnSpc>
              <a:spcAft>
                <a:spcPts val="200"/>
              </a:spcAft>
              <a:buNone/>
            </a:pPr>
            <a:r>
              <a:rPr lang="en-US" sz="900" dirty="0">
                <a:solidFill>
                  <a:srgbClr val="C9E2E8"/>
                </a:solidFill>
                <a:latin typeface="Calibri" pitchFamily="34" charset="0"/>
                <a:ea typeface="Calibri" pitchFamily="34" charset="-122"/>
                <a:cs typeface="Calibri" pitchFamily="34" charset="-120"/>
              </a:rPr>
              <a:t> — no vote, absolute veto</a:t>
            </a:r>
            <a:endParaRPr lang="en-US" sz="900" dirty="0"/>
          </a:p>
        </p:txBody>
      </p:sp>
      <p:sp>
        <p:nvSpPr>
          <p:cNvPr id="21" name="Shape 19"/>
          <p:cNvSpPr/>
          <p:nvPr/>
        </p:nvSpPr>
        <p:spPr>
          <a:xfrm>
            <a:off x="3977640" y="2651760"/>
            <a:ext cx="2788920" cy="905256"/>
          </a:xfrm>
          <a:prstGeom prst="roundRect">
            <a:avLst>
              <a:gd name="adj" fmla="val 9091"/>
            </a:avLst>
          </a:prstGeom>
          <a:solidFill>
            <a:srgbClr val="0E3641"/>
          </a:solidFill>
          <a:ln w="12700">
            <a:solidFill>
              <a:srgbClr val="0E3641"/>
            </a:solidFill>
            <a:prstDash val="solid"/>
          </a:ln>
        </p:spPr>
      </p:sp>
      <p:sp>
        <p:nvSpPr>
          <p:cNvPr id="22" name="Text 20"/>
          <p:cNvSpPr txBox="1"/>
          <p:nvPr/>
        </p:nvSpPr>
        <p:spPr>
          <a:xfrm>
            <a:off x="4105656" y="2724912"/>
            <a:ext cx="2532888" cy="146304"/>
          </a:xfrm>
          <a:prstGeom prst="rect">
            <a:avLst/>
          </a:prstGeom>
          <a:noFill/>
          <a:ln/>
        </p:spPr>
        <p:txBody>
          <a:bodyPr wrap="square" lIns="0" tIns="0" rIns="0" bIns="0" rtlCol="0" anchor="ctr"/>
          <a:lstStyle/>
          <a:p>
            <a:pPr indent="0" marL="0">
              <a:buNone/>
            </a:pPr>
            <a:r>
              <a:rPr lang="en-US" sz="750" b="1" spc="60" kern="0" dirty="0">
                <a:solidFill>
                  <a:srgbClr val="F2A33C"/>
                </a:solidFill>
                <a:latin typeface="Calibri" pitchFamily="34" charset="0"/>
                <a:ea typeface="Calibri" pitchFamily="34" charset="-122"/>
                <a:cs typeface="Calibri" pitchFamily="34" charset="-120"/>
              </a:rPr>
              <a:t>LOW POWER  ·  HIGH INTEREST</a:t>
            </a:r>
            <a:endParaRPr lang="en-US" sz="750" dirty="0"/>
          </a:p>
        </p:txBody>
      </p:sp>
      <p:sp>
        <p:nvSpPr>
          <p:cNvPr id="23" name="Text 21"/>
          <p:cNvSpPr txBox="1"/>
          <p:nvPr/>
        </p:nvSpPr>
        <p:spPr>
          <a:xfrm>
            <a:off x="4105656" y="2907792"/>
            <a:ext cx="2532888" cy="576072"/>
          </a:xfrm>
          <a:prstGeom prst="rect">
            <a:avLst/>
          </a:prstGeom>
          <a:noFill/>
          <a:ln/>
        </p:spPr>
        <p:txBody>
          <a:bodyPr wrap="square" lIns="0" tIns="0" rIns="0" bIns="0" rtlCol="0" anchor="t"/>
          <a:lstStyle/>
          <a:p>
            <a:pPr indent="0" marL="0">
              <a:lnSpc>
                <a:spcPct val="104000"/>
              </a:lnSpc>
              <a:spcAft>
                <a:spcPts val="200"/>
              </a:spcAft>
              <a:buNone/>
            </a:pPr>
            <a:r>
              <a:rPr lang="en-US" sz="900" b="1" dirty="0">
                <a:solidFill>
                  <a:srgbClr val="FFFFFF"/>
                </a:solidFill>
                <a:latin typeface="Calibri" pitchFamily="34" charset="0"/>
                <a:ea typeface="Calibri" pitchFamily="34" charset="-122"/>
                <a:cs typeface="Calibri" pitchFamily="34" charset="-120"/>
              </a:rPr>
              <a:t>Kovač</a:t>
            </a:r>
            <a:pPr indent="0" marL="0">
              <a:lnSpc>
                <a:spcPct val="104000"/>
              </a:lnSpc>
              <a:spcAft>
                <a:spcPts val="200"/>
              </a:spcAft>
              <a:buNone/>
            </a:pPr>
            <a:r>
              <a:rPr lang="en-US" sz="900" dirty="0">
                <a:solidFill>
                  <a:srgbClr val="C9E2E8"/>
                </a:solidFill>
                <a:latin typeface="Calibri" pitchFamily="34" charset="0"/>
                <a:ea typeface="Calibri" pitchFamily="34" charset="-122"/>
                <a:cs typeface="Calibri" pitchFamily="34" charset="-120"/>
              </a:rPr>
              <a:t> — pilot budget only; 14 months in</a:t>
            </a:r>
            <a:endParaRPr lang="en-US" sz="900" dirty="0"/>
          </a:p>
          <a:p>
            <a:pPr indent="0" marL="0">
              <a:lnSpc>
                <a:spcPct val="104000"/>
              </a:lnSpc>
              <a:spcAft>
                <a:spcPts val="200"/>
              </a:spcAft>
              <a:buNone/>
            </a:pPr>
            <a:r>
              <a:rPr lang="en-US" sz="900" b="1" dirty="0">
                <a:solidFill>
                  <a:srgbClr val="FFFFFF"/>
                </a:solidFill>
                <a:latin typeface="Calibri" pitchFamily="34" charset="0"/>
                <a:ea typeface="Calibri" pitchFamily="34" charset="-122"/>
                <a:cs typeface="Calibri" pitchFamily="34" charset="-120"/>
              </a:rPr>
              <a:t>Lefebvre</a:t>
            </a:r>
            <a:pPr indent="0" marL="0">
              <a:lnSpc>
                <a:spcPct val="104000"/>
              </a:lnSpc>
              <a:spcAft>
                <a:spcPts val="200"/>
              </a:spcAft>
              <a:buNone/>
            </a:pPr>
            <a:r>
              <a:rPr lang="en-US" sz="900" dirty="0">
                <a:solidFill>
                  <a:srgbClr val="C9E2E8"/>
                </a:solidFill>
                <a:latin typeface="Calibri" pitchFamily="34" charset="0"/>
                <a:ea typeface="Calibri" pitchFamily="34" charset="-122"/>
                <a:cs typeface="Calibri" pitchFamily="34" charset="-120"/>
              </a:rPr>
              <a:t> — the Friday-in-July problem</a:t>
            </a:r>
            <a:endParaRPr lang="en-US" sz="900" dirty="0"/>
          </a:p>
        </p:txBody>
      </p:sp>
      <p:sp>
        <p:nvSpPr>
          <p:cNvPr id="24" name="Text 22"/>
          <p:cNvSpPr txBox="1"/>
          <p:nvPr/>
        </p:nvSpPr>
        <p:spPr>
          <a:xfrm>
            <a:off x="1005840" y="3621024"/>
            <a:ext cx="5760720" cy="164592"/>
          </a:xfrm>
          <a:prstGeom prst="rect">
            <a:avLst/>
          </a:prstGeom>
          <a:noFill/>
          <a:ln/>
        </p:spPr>
        <p:txBody>
          <a:bodyPr wrap="square" lIns="0" tIns="0" rIns="0" bIns="0" rtlCol="0" anchor="ctr"/>
          <a:lstStyle/>
          <a:p>
            <a:pPr algn="ctr" indent="0" marL="0">
              <a:buNone/>
            </a:pPr>
            <a:r>
              <a:rPr lang="en-US" sz="800" b="1" spc="80" kern="0" dirty="0">
                <a:solidFill>
                  <a:srgbClr val="8FB4BE"/>
                </a:solidFill>
                <a:latin typeface="Calibri" pitchFamily="34" charset="0"/>
                <a:ea typeface="Calibri" pitchFamily="34" charset="-122"/>
                <a:cs typeface="Calibri" pitchFamily="34" charset="-120"/>
              </a:rPr>
              <a:t>INTEREST IN CHANGING THE CURRENT ARRANGEMENT →</a:t>
            </a:r>
            <a:endParaRPr lang="en-US" sz="800" dirty="0"/>
          </a:p>
        </p:txBody>
      </p:sp>
      <p:sp>
        <p:nvSpPr>
          <p:cNvPr id="25" name="Text 23"/>
          <p:cNvSpPr txBox="1"/>
          <p:nvPr/>
        </p:nvSpPr>
        <p:spPr>
          <a:xfrm>
            <a:off x="685800" y="3877056"/>
            <a:ext cx="6080760" cy="164592"/>
          </a:xfrm>
          <a:prstGeom prst="rect">
            <a:avLst/>
          </a:prstGeom>
          <a:noFill/>
          <a:ln/>
        </p:spPr>
        <p:txBody>
          <a:bodyPr wrap="square" lIns="0" tIns="0" rIns="0" bIns="0" rtlCol="0" anchor="ctr"/>
          <a:lstStyle/>
          <a:p>
            <a:pPr indent="0" marL="0">
              <a:buNone/>
            </a:pPr>
            <a:r>
              <a:rPr lang="en-US" sz="850" b="1" spc="90" kern="0" dirty="0">
                <a:solidFill>
                  <a:srgbClr val="F2A33C"/>
                </a:solidFill>
                <a:latin typeface="Calibri" pitchFamily="34" charset="0"/>
                <a:ea typeface="Calibri" pitchFamily="34" charset="-122"/>
                <a:cs typeface="Calibri" pitchFamily="34" charset="-120"/>
              </a:rPr>
              <a:t>WHERE THE ORG CHART AND THE MAP DISAGREE</a:t>
            </a:r>
            <a:endParaRPr lang="en-US" sz="850" dirty="0"/>
          </a:p>
        </p:txBody>
      </p:sp>
      <p:sp>
        <p:nvSpPr>
          <p:cNvPr id="26" name="Text 24"/>
          <p:cNvSpPr txBox="1"/>
          <p:nvPr/>
        </p:nvSpPr>
        <p:spPr>
          <a:xfrm>
            <a:off x="685800" y="4078224"/>
            <a:ext cx="6080760" cy="310896"/>
          </a:xfrm>
          <a:prstGeom prst="rect">
            <a:avLst/>
          </a:prstGeom>
          <a:noFill/>
          <a:ln/>
        </p:spPr>
        <p:txBody>
          <a:bodyPr wrap="square" lIns="0" tIns="0" rIns="0" bIns="0" rtlCol="0" anchor="t"/>
          <a:lstStyle/>
          <a:p>
            <a:pPr indent="0" marL="0">
              <a:lnSpc>
                <a:spcPct val="103000"/>
              </a:lnSpc>
              <a:buNone/>
            </a:pPr>
            <a:r>
              <a:rPr lang="en-US" sz="950" b="1" dirty="0">
                <a:solidFill>
                  <a:srgbClr val="FFFFFF"/>
                </a:solidFill>
                <a:latin typeface="Calibri" pitchFamily="34" charset="0"/>
                <a:ea typeface="Calibri" pitchFamily="34" charset="-122"/>
                <a:cs typeface="Calibri" pitchFamily="34" charset="-120"/>
              </a:rPr>
              <a:t>Sanchez</a:t>
            </a:r>
            <a:pPr indent="0" marL="0">
              <a:lnSpc>
                <a:spcPct val="103000"/>
              </a:lnSpc>
              <a:buNone/>
            </a:pPr>
            <a:r>
              <a:rPr lang="en-US" sz="950" dirty="0">
                <a:solidFill>
                  <a:srgbClr val="C9E2E8"/>
                </a:solidFill>
                <a:latin typeface="Calibri" pitchFamily="34" charset="0"/>
                <a:ea typeface="Calibri" pitchFamily="34" charset="-122"/>
                <a:cs typeface="Calibri" pitchFamily="34" charset="-120"/>
              </a:rPr>
              <a:t> writes the requirement, four levels down.   </a:t>
            </a:r>
            <a:pPr indent="0" marL="0">
              <a:lnSpc>
                <a:spcPct val="103000"/>
              </a:lnSpc>
              <a:buNone/>
            </a:pPr>
            <a:r>
              <a:rPr lang="en-US" sz="950" b="1" dirty="0">
                <a:solidFill>
                  <a:srgbClr val="FFFFFF"/>
                </a:solidFill>
                <a:latin typeface="Calibri" pitchFamily="34" charset="0"/>
                <a:ea typeface="Calibri" pitchFamily="34" charset="-122"/>
                <a:cs typeface="Calibri" pitchFamily="34" charset="-120"/>
              </a:rPr>
              <a:t>Rousseau</a:t>
            </a:r>
            <a:pPr indent="0" marL="0">
              <a:lnSpc>
                <a:spcPct val="103000"/>
              </a:lnSpc>
              <a:buNone/>
            </a:pPr>
            <a:r>
              <a:rPr lang="en-US" sz="950" dirty="0">
                <a:solidFill>
                  <a:srgbClr val="C9E2E8"/>
                </a:solidFill>
                <a:latin typeface="Calibri" pitchFamily="34" charset="0"/>
                <a:ea typeface="Calibri" pitchFamily="34" charset="-122"/>
                <a:cs typeface="Calibri" pitchFamily="34" charset="-120"/>
              </a:rPr>
              <a:t> has no budget and can still kill the winner.   </a:t>
            </a:r>
            <a:pPr indent="0" marL="0">
              <a:lnSpc>
                <a:spcPct val="103000"/>
              </a:lnSpc>
              <a:buNone/>
            </a:pPr>
            <a:r>
              <a:rPr lang="en-US" sz="950" b="1" dirty="0">
                <a:solidFill>
                  <a:srgbClr val="FFFFFF"/>
                </a:solidFill>
                <a:latin typeface="Calibri" pitchFamily="34" charset="0"/>
                <a:ea typeface="Calibri" pitchFamily="34" charset="-122"/>
                <a:cs typeface="Calibri" pitchFamily="34" charset="-120"/>
              </a:rPr>
              <a:t>Diallo</a:t>
            </a:r>
            <a:pPr indent="0" marL="0">
              <a:lnSpc>
                <a:spcPct val="103000"/>
              </a:lnSpc>
              <a:buNone/>
            </a:pPr>
            <a:r>
              <a:rPr lang="en-US" sz="950" dirty="0">
                <a:solidFill>
                  <a:srgbClr val="C9E2E8"/>
                </a:solidFill>
                <a:latin typeface="Calibri" pitchFamily="34" charset="0"/>
                <a:ea typeface="Calibri" pitchFamily="34" charset="-122"/>
                <a:cs typeface="Calibri" pitchFamily="34" charset="-120"/>
              </a:rPr>
              <a:t> has no vote and is the reason the programme exists.</a:t>
            </a:r>
            <a:endParaRPr lang="en-US" sz="950" dirty="0"/>
          </a:p>
        </p:txBody>
      </p:sp>
      <p:sp>
        <p:nvSpPr>
          <p:cNvPr id="27" name="Shape 25"/>
          <p:cNvSpPr/>
          <p:nvPr/>
        </p:nvSpPr>
        <p:spPr>
          <a:xfrm>
            <a:off x="7132320" y="1188720"/>
            <a:ext cx="4572000" cy="3291840"/>
          </a:xfrm>
          <a:prstGeom prst="roundRect">
            <a:avLst>
              <a:gd name="adj" fmla="val 2500"/>
            </a:avLst>
          </a:prstGeom>
          <a:solidFill>
            <a:srgbClr val="123C48"/>
          </a:solidFill>
          <a:ln w="12700">
            <a:solidFill>
              <a:srgbClr val="123C48"/>
            </a:solidFill>
            <a:prstDash val="solid"/>
          </a:ln>
        </p:spPr>
      </p:sp>
      <p:sp>
        <p:nvSpPr>
          <p:cNvPr id="28" name="Shape 26"/>
          <p:cNvSpPr/>
          <p:nvPr/>
        </p:nvSpPr>
        <p:spPr>
          <a:xfrm>
            <a:off x="7315200" y="1325880"/>
            <a:ext cx="292608" cy="292608"/>
          </a:xfrm>
          <a:prstGeom prst="ellipse">
            <a:avLst/>
          </a:prstGeom>
          <a:solidFill>
            <a:srgbClr val="F2A33C"/>
          </a:solidFill>
          <a:ln w="12700">
            <a:solidFill>
              <a:srgbClr val="F2A33C"/>
            </a:solidFill>
            <a:prstDash val="solid"/>
          </a:ln>
        </p:spPr>
      </p:sp>
      <p:sp>
        <p:nvSpPr>
          <p:cNvPr id="29" name="Text 27"/>
          <p:cNvSpPr txBox="1"/>
          <p:nvPr/>
        </p:nvSpPr>
        <p:spPr>
          <a:xfrm>
            <a:off x="7315200" y="1325880"/>
            <a:ext cx="292608" cy="292608"/>
          </a:xfrm>
          <a:prstGeom prst="rect">
            <a:avLst/>
          </a:prstGeom>
          <a:noFill/>
          <a:ln/>
        </p:spPr>
        <p:txBody>
          <a:bodyPr wrap="square" lIns="0" tIns="0" rIns="0" bIns="0" rtlCol="0" anchor="ctr"/>
          <a:lstStyle/>
          <a:p>
            <a:pPr algn="ctr" indent="0" marL="0">
              <a:buNone/>
            </a:pPr>
            <a:r>
              <a:rPr lang="en-US" sz="1300" b="1" dirty="0">
                <a:solidFill>
                  <a:srgbClr val="0B2B33"/>
                </a:solidFill>
                <a:latin typeface="Calibri" pitchFamily="34" charset="0"/>
                <a:ea typeface="Calibri" pitchFamily="34" charset="-122"/>
                <a:cs typeface="Calibri" pitchFamily="34" charset="-120"/>
              </a:rPr>
              <a:t>5</a:t>
            </a:r>
            <a:endParaRPr lang="en-US" sz="1300" dirty="0"/>
          </a:p>
        </p:txBody>
      </p:sp>
      <p:sp>
        <p:nvSpPr>
          <p:cNvPr id="30" name="Text 28"/>
          <p:cNvSpPr txBox="1"/>
          <p:nvPr/>
        </p:nvSpPr>
        <p:spPr>
          <a:xfrm>
            <a:off x="7717536" y="1307592"/>
            <a:ext cx="1554480" cy="329184"/>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OUR MENTOR</a:t>
            </a:r>
            <a:endParaRPr lang="en-US" sz="1450" dirty="0"/>
          </a:p>
        </p:txBody>
      </p:sp>
      <p:sp>
        <p:nvSpPr>
          <p:cNvPr id="31" name="Text 29"/>
          <p:cNvSpPr txBox="1"/>
          <p:nvPr/>
        </p:nvSpPr>
        <p:spPr>
          <a:xfrm>
            <a:off x="9308592" y="1307592"/>
            <a:ext cx="548640" cy="329184"/>
          </a:xfrm>
          <a:prstGeom prst="rect">
            <a:avLst/>
          </a:prstGeom>
          <a:noFill/>
          <a:ln/>
        </p:spPr>
        <p:txBody>
          <a:bodyPr wrap="square" lIns="0" tIns="0" rIns="0" bIns="0" rtlCol="0" anchor="ctr"/>
          <a:lstStyle/>
          <a:p>
            <a:pPr algn="l" indent="0" marL="0">
              <a:buNone/>
            </a:pPr>
            <a:r>
              <a:rPr lang="en-US" sz="950" dirty="0">
                <a:solidFill>
                  <a:srgbClr val="8FB4BE"/>
                </a:solidFill>
                <a:latin typeface="Calibri" pitchFamily="34" charset="0"/>
                <a:ea typeface="Calibri" pitchFamily="34" charset="-122"/>
                <a:cs typeface="Calibri" pitchFamily="34" charset="-120"/>
              </a:rPr>
              <a:t>70 s</a:t>
            </a:r>
            <a:endParaRPr lang="en-US" sz="950" dirty="0"/>
          </a:p>
        </p:txBody>
      </p:sp>
      <p:sp>
        <p:nvSpPr>
          <p:cNvPr id="32" name="Text 30"/>
          <p:cNvSpPr txBox="1"/>
          <p:nvPr/>
        </p:nvSpPr>
        <p:spPr>
          <a:xfrm>
            <a:off x="7315200" y="1755648"/>
            <a:ext cx="4206240" cy="256032"/>
          </a:xfrm>
          <a:prstGeom prst="rect">
            <a:avLst/>
          </a:prstGeom>
          <a:noFill/>
          <a:ln/>
        </p:spPr>
        <p:txBody>
          <a:bodyPr wrap="square" lIns="0" tIns="0" rIns="0" bIns="0" rtlCol="0" anchor="ctr"/>
          <a:lstStyle/>
          <a:p>
            <a:pPr indent="0" marL="0">
              <a:buNone/>
            </a:pPr>
            <a:r>
              <a:rPr lang="en-US" sz="1400" b="1" dirty="0">
                <a:solidFill>
                  <a:srgbClr val="F2A33C"/>
                </a:solidFill>
                <a:latin typeface="Cambria" pitchFamily="34" charset="0"/>
                <a:ea typeface="Cambria" pitchFamily="34" charset="-122"/>
                <a:cs typeface="Cambria" pitchFamily="34" charset="-120"/>
              </a:rPr>
              <a:t>AMARA DIALLO</a:t>
            </a:r>
            <a:pPr indent="0" marL="0">
              <a:buNone/>
            </a:pPr>
            <a:r>
              <a:rPr lang="en-US" sz="950" dirty="0">
                <a:solidFill>
                  <a:srgbClr val="8FB4BE"/>
                </a:solidFill>
                <a:latin typeface="Calibri" pitchFamily="34" charset="0"/>
                <a:ea typeface="Calibri" pitchFamily="34" charset="-122"/>
                <a:cs typeface="Calibri" pitchFamily="34" charset="-120"/>
              </a:rPr>
              <a:t>   Sustainability &amp; ESG</a:t>
            </a:r>
            <a:endParaRPr lang="en-US" sz="1400" dirty="0"/>
          </a:p>
        </p:txBody>
      </p:sp>
      <p:sp>
        <p:nvSpPr>
          <p:cNvPr id="33" name="Text 31"/>
          <p:cNvSpPr txBox="1"/>
          <p:nvPr/>
        </p:nvSpPr>
        <p:spPr>
          <a:xfrm>
            <a:off x="7315200" y="2066544"/>
            <a:ext cx="4206240" cy="365760"/>
          </a:xfrm>
          <a:prstGeom prst="rect">
            <a:avLst/>
          </a:prstGeom>
          <a:noFill/>
          <a:ln/>
        </p:spPr>
        <p:txBody>
          <a:bodyPr wrap="square" lIns="0" tIns="0" rIns="0" bIns="0" rtlCol="0" anchor="t"/>
          <a:lstStyle/>
          <a:p>
            <a:pPr indent="0" marL="0">
              <a:lnSpc>
                <a:spcPct val="103000"/>
              </a:lnSpc>
              <a:buNone/>
            </a:pPr>
            <a:r>
              <a:rPr lang="en-US" sz="1000" b="1" dirty="0">
                <a:solidFill>
                  <a:srgbClr val="F2A33C"/>
                </a:solidFill>
                <a:latin typeface="Calibri" pitchFamily="34" charset="0"/>
                <a:ea typeface="Calibri" pitchFamily="34" charset="-122"/>
                <a:cs typeface="Calibri" pitchFamily="34" charset="-120"/>
              </a:rPr>
              <a:t>Wants, cannot get — </a:t>
            </a:r>
            <a:pPr indent="0" marL="0">
              <a:lnSpc>
                <a:spcPct val="103000"/>
              </a:lnSpc>
              <a:buNone/>
            </a:pPr>
            <a:r>
              <a:rPr lang="en-US" sz="1000" dirty="0">
                <a:solidFill>
                  <a:srgbClr val="C9E2E8"/>
                </a:solidFill>
                <a:latin typeface="Calibri" pitchFamily="34" charset="0"/>
                <a:ea typeface="Calibri" pitchFamily="34" charset="-122"/>
                <a:cs typeface="Calibri" pitchFamily="34" charset="-120"/>
              </a:rPr>
              <a:t>a costed path to the 2030 target. She owns the outcome and holds no budget and no vote.</a:t>
            </a:r>
            <a:endParaRPr lang="en-US" sz="1000" dirty="0"/>
          </a:p>
        </p:txBody>
      </p:sp>
      <p:sp>
        <p:nvSpPr>
          <p:cNvPr id="34" name="Text 32"/>
          <p:cNvSpPr txBox="1"/>
          <p:nvPr/>
        </p:nvSpPr>
        <p:spPr>
          <a:xfrm>
            <a:off x="7315200" y="2487168"/>
            <a:ext cx="4206240" cy="365760"/>
          </a:xfrm>
          <a:prstGeom prst="rect">
            <a:avLst/>
          </a:prstGeom>
          <a:noFill/>
          <a:ln/>
        </p:spPr>
        <p:txBody>
          <a:bodyPr wrap="square" lIns="0" tIns="0" rIns="0" bIns="0" rtlCol="0" anchor="t"/>
          <a:lstStyle/>
          <a:p>
            <a:pPr indent="0" marL="0">
              <a:lnSpc>
                <a:spcPct val="103000"/>
              </a:lnSpc>
              <a:buNone/>
            </a:pPr>
            <a:r>
              <a:rPr lang="en-US" sz="1000" b="1" dirty="0">
                <a:solidFill>
                  <a:srgbClr val="F2A33C"/>
                </a:solidFill>
                <a:latin typeface="Calibri" pitchFamily="34" charset="0"/>
                <a:ea typeface="Calibri" pitchFamily="34" charset="-122"/>
                <a:cs typeface="Calibri" pitchFamily="34" charset="-120"/>
              </a:rPr>
              <a:t>We ask for — </a:t>
            </a:r>
            <a:pPr indent="0" marL="0">
              <a:lnSpc>
                <a:spcPct val="103000"/>
              </a:lnSpc>
              <a:buNone/>
            </a:pPr>
            <a:r>
              <a:rPr lang="en-US" sz="1000" dirty="0">
                <a:solidFill>
                  <a:srgbClr val="C9E2E8"/>
                </a:solidFill>
                <a:latin typeface="Calibri" pitchFamily="34" charset="0"/>
                <a:ea typeface="Calibri" pitchFamily="34" charset="-122"/>
                <a:cs typeface="Calibri" pitchFamily="34" charset="-120"/>
              </a:rPr>
              <a:t>two criteria in the document: refrigerant compliance and measured emissions. And an introduction to Beck.</a:t>
            </a:r>
            <a:endParaRPr lang="en-US" sz="1000" dirty="0"/>
          </a:p>
        </p:txBody>
      </p:sp>
      <p:sp>
        <p:nvSpPr>
          <p:cNvPr id="35" name="Text 33"/>
          <p:cNvSpPr txBox="1"/>
          <p:nvPr/>
        </p:nvSpPr>
        <p:spPr>
          <a:xfrm>
            <a:off x="7315200" y="2907792"/>
            <a:ext cx="4206240" cy="219456"/>
          </a:xfrm>
          <a:prstGeom prst="rect">
            <a:avLst/>
          </a:prstGeom>
          <a:noFill/>
          <a:ln/>
        </p:spPr>
        <p:txBody>
          <a:bodyPr wrap="square" lIns="0" tIns="0" rIns="0" bIns="0" rtlCol="0" anchor="t"/>
          <a:lstStyle/>
          <a:p>
            <a:pPr indent="0" marL="0">
              <a:lnSpc>
                <a:spcPct val="103000"/>
              </a:lnSpc>
              <a:buNone/>
            </a:pPr>
            <a:r>
              <a:rPr lang="en-US" sz="1000" b="1" dirty="0">
                <a:solidFill>
                  <a:srgbClr val="F2A33C"/>
                </a:solidFill>
                <a:latin typeface="Calibri" pitchFamily="34" charset="0"/>
                <a:ea typeface="Calibri" pitchFamily="34" charset="-122"/>
                <a:cs typeface="Calibri" pitchFamily="34" charset="-120"/>
              </a:rPr>
              <a:t>We give — </a:t>
            </a:r>
            <a:pPr indent="0" marL="0">
              <a:lnSpc>
                <a:spcPct val="103000"/>
              </a:lnSpc>
              <a:buNone/>
            </a:pPr>
            <a:r>
              <a:rPr lang="en-US" sz="1000" dirty="0">
                <a:solidFill>
                  <a:srgbClr val="C9E2E8"/>
                </a:solidFill>
                <a:latin typeface="Calibri" pitchFamily="34" charset="0"/>
                <a:ea typeface="Calibri" pitchFamily="34" charset="-122"/>
                <a:cs typeface="Calibri" pitchFamily="34" charset="-120"/>
              </a:rPr>
              <a:t>an F-gas cost model she tables in her own name.</a:t>
            </a:r>
            <a:endParaRPr lang="en-US" sz="1000" dirty="0"/>
          </a:p>
        </p:txBody>
      </p:sp>
      <p:sp>
        <p:nvSpPr>
          <p:cNvPr id="36" name="Shape 34"/>
          <p:cNvSpPr/>
          <p:nvPr/>
        </p:nvSpPr>
        <p:spPr>
          <a:xfrm>
            <a:off x="7315200" y="3236976"/>
            <a:ext cx="4206240" cy="1152144"/>
          </a:xfrm>
          <a:prstGeom prst="roundRect">
            <a:avLst>
              <a:gd name="adj" fmla="val 7143"/>
            </a:avLst>
          </a:prstGeom>
          <a:solidFill>
            <a:srgbClr val="0E3641"/>
          </a:solidFill>
          <a:ln w="12700">
            <a:solidFill>
              <a:srgbClr val="0E3641"/>
            </a:solidFill>
            <a:prstDash val="solid"/>
          </a:ln>
        </p:spPr>
      </p:sp>
      <p:sp>
        <p:nvSpPr>
          <p:cNvPr id="37" name="Text 35"/>
          <p:cNvSpPr txBox="1"/>
          <p:nvPr/>
        </p:nvSpPr>
        <p:spPr>
          <a:xfrm>
            <a:off x="7461504" y="3346704"/>
            <a:ext cx="3913632" cy="164592"/>
          </a:xfrm>
          <a:prstGeom prst="rect">
            <a:avLst/>
          </a:prstGeom>
          <a:noFill/>
          <a:ln/>
        </p:spPr>
        <p:txBody>
          <a:bodyPr wrap="square" lIns="0" tIns="0" rIns="0" bIns="0" rtlCol="0" anchor="ctr"/>
          <a:lstStyle/>
          <a:p>
            <a:pPr indent="0" marL="0">
              <a:buNone/>
            </a:pPr>
            <a:r>
              <a:rPr lang="en-US" sz="850" b="1" spc="90" kern="0" dirty="0">
                <a:solidFill>
                  <a:srgbClr val="F0736C"/>
                </a:solidFill>
                <a:latin typeface="Calibri" pitchFamily="34" charset="0"/>
                <a:ea typeface="Calibri" pitchFamily="34" charset="-122"/>
                <a:cs typeface="Calibri" pitchFamily="34" charset="-120"/>
              </a:rPr>
              <a:t>LOOKS LIKE A MENTOR AND IS NOT  ·  ELENA KOVAČ</a:t>
            </a:r>
            <a:endParaRPr lang="en-US" sz="850" dirty="0"/>
          </a:p>
        </p:txBody>
      </p:sp>
      <p:sp>
        <p:nvSpPr>
          <p:cNvPr id="38" name="Text 36"/>
          <p:cNvSpPr txBox="1"/>
          <p:nvPr/>
        </p:nvSpPr>
        <p:spPr>
          <a:xfrm>
            <a:off x="7461504" y="3547872"/>
            <a:ext cx="3913632" cy="768096"/>
          </a:xfrm>
          <a:prstGeom prst="rect">
            <a:avLst/>
          </a:prstGeom>
          <a:noFill/>
          <a:ln/>
        </p:spPr>
        <p:txBody>
          <a:bodyPr wrap="square" lIns="0" tIns="0" rIns="0" bIns="0" rtlCol="0" anchor="t"/>
          <a:lstStyle/>
          <a:p>
            <a:pPr indent="0" marL="0">
              <a:lnSpc>
                <a:spcPct val="104000"/>
              </a:lnSpc>
              <a:spcAft>
                <a:spcPts val="400"/>
              </a:spcAft>
              <a:buNone/>
            </a:pPr>
            <a:r>
              <a:rPr lang="en-US" sz="950" dirty="0">
                <a:solidFill>
                  <a:srgbClr val="C9E2E8"/>
                </a:solidFill>
                <a:latin typeface="Calibri" pitchFamily="34" charset="0"/>
                <a:ea typeface="Calibri" pitchFamily="34" charset="-122"/>
                <a:cs typeface="Calibri" pitchFamily="34" charset="-120"/>
              </a:rPr>
              <a:t>Pilot budget only, 14 months in, and she has never raised telemetry with procurement.</a:t>
            </a:r>
            <a:endParaRPr lang="en-US" sz="950" dirty="0"/>
          </a:p>
          <a:p>
            <a:pPr indent="0" marL="0">
              <a:lnSpc>
                <a:spcPct val="104000"/>
              </a:lnSpc>
              <a:spcAft>
                <a:spcPts val="400"/>
              </a:spcAft>
              <a:buNone/>
            </a:pPr>
            <a:r>
              <a:rPr lang="en-US" sz="950" i="1" dirty="0">
                <a:solidFill>
                  <a:srgbClr val="FFFFFF"/>
                </a:solidFill>
                <a:latin typeface="Calibri" pitchFamily="34" charset="0"/>
                <a:ea typeface="Calibri" pitchFamily="34" charset="-122"/>
                <a:cs typeface="Calibri" pitchFamily="34" charset="-120"/>
              </a:rPr>
              <a:t>The test: a mentor puts the requirements to Sanchez in writing. A fan gives you a meeting.</a:t>
            </a:r>
            <a:endParaRPr lang="en-US" sz="950" dirty="0"/>
          </a:p>
        </p:txBody>
      </p:sp>
      <p:sp>
        <p:nvSpPr>
          <p:cNvPr id="39" name="Shape 37"/>
          <p:cNvSpPr/>
          <p:nvPr/>
        </p:nvSpPr>
        <p:spPr>
          <a:xfrm>
            <a:off x="502920" y="4608576"/>
            <a:ext cx="11201400" cy="1828800"/>
          </a:xfrm>
          <a:prstGeom prst="roundRect">
            <a:avLst>
              <a:gd name="adj" fmla="val 4500"/>
            </a:avLst>
          </a:prstGeom>
          <a:solidFill>
            <a:srgbClr val="123C48"/>
          </a:solidFill>
          <a:ln w="12700">
            <a:solidFill>
              <a:srgbClr val="123C48"/>
            </a:solidFill>
            <a:prstDash val="solid"/>
          </a:ln>
        </p:spPr>
      </p:sp>
      <p:sp>
        <p:nvSpPr>
          <p:cNvPr id="40" name="Shape 38"/>
          <p:cNvSpPr/>
          <p:nvPr/>
        </p:nvSpPr>
        <p:spPr>
          <a:xfrm>
            <a:off x="685800" y="4681728"/>
            <a:ext cx="292608" cy="292608"/>
          </a:xfrm>
          <a:prstGeom prst="ellipse">
            <a:avLst/>
          </a:prstGeom>
          <a:solidFill>
            <a:srgbClr val="F2A33C"/>
          </a:solidFill>
          <a:ln w="12700">
            <a:solidFill>
              <a:srgbClr val="F2A33C"/>
            </a:solidFill>
            <a:prstDash val="solid"/>
          </a:ln>
        </p:spPr>
      </p:sp>
      <p:sp>
        <p:nvSpPr>
          <p:cNvPr id="41" name="Text 39"/>
          <p:cNvSpPr txBox="1"/>
          <p:nvPr/>
        </p:nvSpPr>
        <p:spPr>
          <a:xfrm>
            <a:off x="685800" y="4681728"/>
            <a:ext cx="292608" cy="292608"/>
          </a:xfrm>
          <a:prstGeom prst="rect">
            <a:avLst/>
          </a:prstGeom>
          <a:noFill/>
          <a:ln/>
        </p:spPr>
        <p:txBody>
          <a:bodyPr wrap="square" lIns="0" tIns="0" rIns="0" bIns="0" rtlCol="0" anchor="ctr"/>
          <a:lstStyle/>
          <a:p>
            <a:pPr algn="ctr" indent="0" marL="0">
              <a:buNone/>
            </a:pPr>
            <a:r>
              <a:rPr lang="en-US" sz="1300" b="1" dirty="0">
                <a:solidFill>
                  <a:srgbClr val="0B2B33"/>
                </a:solidFill>
                <a:latin typeface="Calibri" pitchFamily="34" charset="0"/>
                <a:ea typeface="Calibri" pitchFamily="34" charset="-122"/>
                <a:cs typeface="Calibri" pitchFamily="34" charset="-120"/>
              </a:rPr>
              <a:t>6</a:t>
            </a:r>
            <a:endParaRPr lang="en-US" sz="1300" dirty="0"/>
          </a:p>
        </p:txBody>
      </p:sp>
      <p:sp>
        <p:nvSpPr>
          <p:cNvPr id="42" name="Text 40"/>
          <p:cNvSpPr txBox="1"/>
          <p:nvPr/>
        </p:nvSpPr>
        <p:spPr>
          <a:xfrm>
            <a:off x="1088136" y="4663440"/>
            <a:ext cx="3520440" cy="329184"/>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THE EIGHT WEEKS BEFORE THE RFP</a:t>
            </a:r>
            <a:endParaRPr lang="en-US" sz="1450" dirty="0"/>
          </a:p>
        </p:txBody>
      </p:sp>
      <p:sp>
        <p:nvSpPr>
          <p:cNvPr id="43" name="Text 41"/>
          <p:cNvSpPr txBox="1"/>
          <p:nvPr/>
        </p:nvSpPr>
        <p:spPr>
          <a:xfrm>
            <a:off x="4645152" y="4663440"/>
            <a:ext cx="548640" cy="329184"/>
          </a:xfrm>
          <a:prstGeom prst="rect">
            <a:avLst/>
          </a:prstGeom>
          <a:noFill/>
          <a:ln/>
        </p:spPr>
        <p:txBody>
          <a:bodyPr wrap="square" lIns="0" tIns="0" rIns="0" bIns="0" rtlCol="0" anchor="ctr"/>
          <a:lstStyle/>
          <a:p>
            <a:pPr algn="l" indent="0" marL="0">
              <a:buNone/>
            </a:pPr>
            <a:r>
              <a:rPr lang="en-US" sz="950" dirty="0">
                <a:solidFill>
                  <a:srgbClr val="8FB4BE"/>
                </a:solidFill>
                <a:latin typeface="Calibri" pitchFamily="34" charset="0"/>
                <a:ea typeface="Calibri" pitchFamily="34" charset="-122"/>
                <a:cs typeface="Calibri" pitchFamily="34" charset="-120"/>
              </a:rPr>
              <a:t>70 s</a:t>
            </a:r>
            <a:endParaRPr lang="en-US" sz="950" dirty="0"/>
          </a:p>
        </p:txBody>
      </p:sp>
      <p:sp>
        <p:nvSpPr>
          <p:cNvPr id="44" name="Text 42"/>
          <p:cNvSpPr txBox="1"/>
          <p:nvPr/>
        </p:nvSpPr>
        <p:spPr>
          <a:xfrm>
            <a:off x="6583680" y="4663440"/>
            <a:ext cx="4937760" cy="274320"/>
          </a:xfrm>
          <a:prstGeom prst="rect">
            <a:avLst/>
          </a:prstGeom>
          <a:noFill/>
          <a:ln/>
        </p:spPr>
        <p:txBody>
          <a:bodyPr wrap="square" lIns="0" tIns="0" rIns="0" bIns="0" rtlCol="0" anchor="ctr"/>
          <a:lstStyle/>
          <a:p>
            <a:pPr algn="r" indent="0" marL="0">
              <a:buNone/>
            </a:pPr>
            <a:r>
              <a:rPr lang="en-US" sz="900" i="1" dirty="0">
                <a:solidFill>
                  <a:srgbClr val="8FB4BE"/>
                </a:solidFill>
                <a:latin typeface="Calibri" pitchFamily="34" charset="0"/>
                <a:ea typeface="Calibri" pitchFamily="34" charset="-122"/>
                <a:cs typeface="Calibri" pitchFamily="34" charset="-120"/>
              </a:rPr>
              <a:t>Anything that does not change the document is time we have to justify.</a:t>
            </a:r>
            <a:endParaRPr lang="en-US" sz="900" dirty="0"/>
          </a:p>
        </p:txBody>
      </p:sp>
      <p:sp>
        <p:nvSpPr>
          <p:cNvPr id="45" name="Text 43"/>
          <p:cNvSpPr txBox="1"/>
          <p:nvPr/>
        </p:nvSpPr>
        <p:spPr>
          <a:xfrm>
            <a:off x="685800" y="5029200"/>
            <a:ext cx="256032" cy="237744"/>
          </a:xfrm>
          <a:prstGeom prst="rect">
            <a:avLst/>
          </a:prstGeom>
          <a:noFill/>
          <a:ln/>
        </p:spPr>
        <p:txBody>
          <a:bodyPr wrap="square" lIns="0" tIns="0" rIns="0" bIns="0" rtlCol="0" anchor="ctr"/>
          <a:lstStyle/>
          <a:p>
            <a:pPr indent="0" marL="0">
              <a:buNone/>
            </a:pPr>
            <a:r>
              <a:rPr lang="en-US" sz="1600" b="1" dirty="0">
                <a:solidFill>
                  <a:srgbClr val="F2A33C"/>
                </a:solidFill>
                <a:latin typeface="Cambria" pitchFamily="34" charset="0"/>
                <a:ea typeface="Cambria" pitchFamily="34" charset="-122"/>
                <a:cs typeface="Cambria" pitchFamily="34" charset="-120"/>
              </a:rPr>
              <a:t>1</a:t>
            </a:r>
            <a:endParaRPr lang="en-US" sz="1600" dirty="0"/>
          </a:p>
        </p:txBody>
      </p:sp>
      <p:sp>
        <p:nvSpPr>
          <p:cNvPr id="46" name="Text 44"/>
          <p:cNvSpPr txBox="1"/>
          <p:nvPr/>
        </p:nvSpPr>
        <p:spPr>
          <a:xfrm>
            <a:off x="978408" y="5029200"/>
            <a:ext cx="1764792" cy="237744"/>
          </a:xfrm>
          <a:prstGeom prst="rect">
            <a:avLst/>
          </a:prstGeom>
          <a:noFill/>
          <a:ln/>
        </p:spPr>
        <p:txBody>
          <a:bodyPr wrap="square" lIns="0" tIns="0" rIns="0" bIns="0" rtlCol="0" anchor="ctr"/>
          <a:lstStyle/>
          <a:p>
            <a:pPr indent="0" marL="0">
              <a:buNone/>
            </a:pPr>
            <a:r>
              <a:rPr lang="en-US" sz="800" b="1" spc="60" kern="0" dirty="0">
                <a:solidFill>
                  <a:srgbClr val="8FB4BE"/>
                </a:solidFill>
                <a:latin typeface="Calibri" pitchFamily="34" charset="0"/>
                <a:ea typeface="Calibri" pitchFamily="34" charset="-122"/>
                <a:cs typeface="Calibri" pitchFamily="34" charset="-120"/>
              </a:rPr>
              <a:t>WEEKS 1–2</a:t>
            </a:r>
            <a:endParaRPr lang="en-US" sz="800" dirty="0"/>
          </a:p>
        </p:txBody>
      </p:sp>
      <p:sp>
        <p:nvSpPr>
          <p:cNvPr id="47" name="Text 45"/>
          <p:cNvSpPr txBox="1"/>
          <p:nvPr/>
        </p:nvSpPr>
        <p:spPr>
          <a:xfrm>
            <a:off x="685800" y="5303520"/>
            <a:ext cx="2057400" cy="21945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Diallo first</a:t>
            </a:r>
            <a:endParaRPr lang="en-US" sz="1050" dirty="0"/>
          </a:p>
        </p:txBody>
      </p:sp>
      <p:sp>
        <p:nvSpPr>
          <p:cNvPr id="48" name="Text 46"/>
          <p:cNvSpPr txBox="1"/>
          <p:nvPr/>
        </p:nvSpPr>
        <p:spPr>
          <a:xfrm>
            <a:off x="685800" y="5559552"/>
            <a:ext cx="2057400" cy="457200"/>
          </a:xfrm>
          <a:prstGeom prst="rect">
            <a:avLst/>
          </a:prstGeom>
          <a:noFill/>
          <a:ln/>
        </p:spPr>
        <p:txBody>
          <a:bodyPr wrap="square" lIns="0" tIns="0" rIns="0" bIns="0" rtlCol="0" anchor="t"/>
          <a:lstStyle/>
          <a:p>
            <a:pPr indent="0" marL="0">
              <a:lnSpc>
                <a:spcPct val="103000"/>
              </a:lnSpc>
              <a:buNone/>
            </a:pPr>
            <a:r>
              <a:rPr lang="en-US" sz="900" dirty="0">
                <a:solidFill>
                  <a:srgbClr val="C9E2E8"/>
                </a:solidFill>
                <a:latin typeface="Calibri" pitchFamily="34" charset="0"/>
                <a:ea typeface="Calibri" pitchFamily="34" charset="-122"/>
                <a:cs typeface="Calibri" pitchFamily="34" charset="-120"/>
              </a:rPr>
              <a:t>Build the F-gas cost-of-inaction model, in her name.</a:t>
            </a:r>
            <a:endParaRPr lang="en-US" sz="900" dirty="0"/>
          </a:p>
        </p:txBody>
      </p:sp>
      <p:sp>
        <p:nvSpPr>
          <p:cNvPr id="49" name="Text 47"/>
          <p:cNvSpPr txBox="1"/>
          <p:nvPr/>
        </p:nvSpPr>
        <p:spPr>
          <a:xfrm>
            <a:off x="685800" y="6053328"/>
            <a:ext cx="2057400" cy="292608"/>
          </a:xfrm>
          <a:prstGeom prst="rect">
            <a:avLst/>
          </a:prstGeom>
          <a:noFill/>
          <a:ln/>
        </p:spPr>
        <p:txBody>
          <a:bodyPr wrap="square" lIns="0" tIns="0" rIns="0" bIns="0" rtlCol="0" anchor="t"/>
          <a:lstStyle/>
          <a:p>
            <a:pPr indent="0" marL="0">
              <a:lnSpc>
                <a:spcPct val="100000"/>
              </a:lnSpc>
              <a:buNone/>
            </a:pPr>
            <a:r>
              <a:rPr lang="en-US" sz="750" b="1" dirty="0">
                <a:solidFill>
                  <a:srgbClr val="5AD9B3"/>
                </a:solidFill>
                <a:latin typeface="Calibri" pitchFamily="34" charset="0"/>
                <a:ea typeface="Calibri" pitchFamily="34" charset="-122"/>
                <a:cs typeface="Calibri" pitchFamily="34" charset="-120"/>
              </a:rPr>
              <a:t>→ MAKES COMPLIANCE A SCORED CRITERION</a:t>
            </a:r>
            <a:endParaRPr lang="en-US" sz="750" dirty="0"/>
          </a:p>
        </p:txBody>
      </p:sp>
      <p:sp>
        <p:nvSpPr>
          <p:cNvPr id="50" name="Text 48"/>
          <p:cNvSpPr txBox="1"/>
          <p:nvPr/>
        </p:nvSpPr>
        <p:spPr>
          <a:xfrm>
            <a:off x="2880360" y="5029200"/>
            <a:ext cx="256032" cy="237744"/>
          </a:xfrm>
          <a:prstGeom prst="rect">
            <a:avLst/>
          </a:prstGeom>
          <a:noFill/>
          <a:ln/>
        </p:spPr>
        <p:txBody>
          <a:bodyPr wrap="square" lIns="0" tIns="0" rIns="0" bIns="0" rtlCol="0" anchor="ctr"/>
          <a:lstStyle/>
          <a:p>
            <a:pPr indent="0" marL="0">
              <a:buNone/>
            </a:pPr>
            <a:r>
              <a:rPr lang="en-US" sz="1600" b="1" dirty="0">
                <a:solidFill>
                  <a:srgbClr val="F2A33C"/>
                </a:solidFill>
                <a:latin typeface="Cambria" pitchFamily="34" charset="0"/>
                <a:ea typeface="Cambria" pitchFamily="34" charset="-122"/>
                <a:cs typeface="Cambria" pitchFamily="34" charset="-120"/>
              </a:rPr>
              <a:t>2</a:t>
            </a:r>
            <a:endParaRPr lang="en-US" sz="1600" dirty="0"/>
          </a:p>
        </p:txBody>
      </p:sp>
      <p:sp>
        <p:nvSpPr>
          <p:cNvPr id="51" name="Text 49"/>
          <p:cNvSpPr txBox="1"/>
          <p:nvPr/>
        </p:nvSpPr>
        <p:spPr>
          <a:xfrm>
            <a:off x="3172968" y="5029200"/>
            <a:ext cx="1764792" cy="237744"/>
          </a:xfrm>
          <a:prstGeom prst="rect">
            <a:avLst/>
          </a:prstGeom>
          <a:noFill/>
          <a:ln/>
        </p:spPr>
        <p:txBody>
          <a:bodyPr wrap="square" lIns="0" tIns="0" rIns="0" bIns="0" rtlCol="0" anchor="ctr"/>
          <a:lstStyle/>
          <a:p>
            <a:pPr indent="0" marL="0">
              <a:buNone/>
            </a:pPr>
            <a:r>
              <a:rPr lang="en-US" sz="800" b="1" spc="60" kern="0" dirty="0">
                <a:solidFill>
                  <a:srgbClr val="8FB4BE"/>
                </a:solidFill>
                <a:latin typeface="Calibri" pitchFamily="34" charset="0"/>
                <a:ea typeface="Calibri" pitchFamily="34" charset="-122"/>
                <a:cs typeface="Calibri" pitchFamily="34" charset="-120"/>
              </a:rPr>
              <a:t>WEEKS 2–3</a:t>
            </a:r>
            <a:endParaRPr lang="en-US" sz="800" dirty="0"/>
          </a:p>
        </p:txBody>
      </p:sp>
      <p:sp>
        <p:nvSpPr>
          <p:cNvPr id="52" name="Text 50"/>
          <p:cNvSpPr txBox="1"/>
          <p:nvPr/>
        </p:nvSpPr>
        <p:spPr>
          <a:xfrm>
            <a:off x="2880360" y="5303520"/>
            <a:ext cx="2057400" cy="21945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Test Kovač, then use her</a:t>
            </a:r>
            <a:endParaRPr lang="en-US" sz="1050" dirty="0"/>
          </a:p>
        </p:txBody>
      </p:sp>
      <p:sp>
        <p:nvSpPr>
          <p:cNvPr id="53" name="Text 51"/>
          <p:cNvSpPr txBox="1"/>
          <p:nvPr/>
        </p:nvSpPr>
        <p:spPr>
          <a:xfrm>
            <a:off x="2880360" y="5559552"/>
            <a:ext cx="2057400" cy="457200"/>
          </a:xfrm>
          <a:prstGeom prst="rect">
            <a:avLst/>
          </a:prstGeom>
          <a:noFill/>
          <a:ln/>
        </p:spPr>
        <p:txBody>
          <a:bodyPr wrap="square" lIns="0" tIns="0" rIns="0" bIns="0" rtlCol="0" anchor="t"/>
          <a:lstStyle/>
          <a:p>
            <a:pPr indent="0" marL="0">
              <a:lnSpc>
                <a:spcPct val="103000"/>
              </a:lnSpc>
              <a:buNone/>
            </a:pPr>
            <a:r>
              <a:rPr lang="en-US" sz="900" dirty="0">
                <a:solidFill>
                  <a:srgbClr val="C9E2E8"/>
                </a:solidFill>
                <a:latin typeface="Calibri" pitchFamily="34" charset="0"/>
                <a:ea typeface="Calibri" pitchFamily="34" charset="-122"/>
                <a:cs typeface="Calibri" pitchFamily="34" charset="-120"/>
              </a:rPr>
              <a:t>Co-author the data spec: open API, door-open events.</a:t>
            </a:r>
            <a:endParaRPr lang="en-US" sz="900" dirty="0"/>
          </a:p>
        </p:txBody>
      </p:sp>
      <p:sp>
        <p:nvSpPr>
          <p:cNvPr id="54" name="Text 52"/>
          <p:cNvSpPr txBox="1"/>
          <p:nvPr/>
        </p:nvSpPr>
        <p:spPr>
          <a:xfrm>
            <a:off x="2880360" y="6053328"/>
            <a:ext cx="2057400" cy="292608"/>
          </a:xfrm>
          <a:prstGeom prst="rect">
            <a:avLst/>
          </a:prstGeom>
          <a:noFill/>
          <a:ln/>
        </p:spPr>
        <p:txBody>
          <a:bodyPr wrap="square" lIns="0" tIns="0" rIns="0" bIns="0" rtlCol="0" anchor="t"/>
          <a:lstStyle/>
          <a:p>
            <a:pPr indent="0" marL="0">
              <a:lnSpc>
                <a:spcPct val="100000"/>
              </a:lnSpc>
              <a:buNone/>
            </a:pPr>
            <a:r>
              <a:rPr lang="en-US" sz="750" b="1" dirty="0">
                <a:solidFill>
                  <a:srgbClr val="5AD9B3"/>
                </a:solidFill>
                <a:latin typeface="Calibri" pitchFamily="34" charset="0"/>
                <a:ea typeface="Calibri" pitchFamily="34" charset="-122"/>
                <a:cs typeface="Calibri" pitchFamily="34" charset="-120"/>
              </a:rPr>
              <a:t>→ WRITES IN WHAT AN ALARM CONTACT CANNOT MEET</a:t>
            </a:r>
            <a:endParaRPr lang="en-US" sz="750" dirty="0"/>
          </a:p>
        </p:txBody>
      </p:sp>
      <p:sp>
        <p:nvSpPr>
          <p:cNvPr id="55" name="Text 53"/>
          <p:cNvSpPr txBox="1"/>
          <p:nvPr/>
        </p:nvSpPr>
        <p:spPr>
          <a:xfrm>
            <a:off x="5074920" y="5029200"/>
            <a:ext cx="256032" cy="237744"/>
          </a:xfrm>
          <a:prstGeom prst="rect">
            <a:avLst/>
          </a:prstGeom>
          <a:noFill/>
          <a:ln/>
        </p:spPr>
        <p:txBody>
          <a:bodyPr wrap="square" lIns="0" tIns="0" rIns="0" bIns="0" rtlCol="0" anchor="ctr"/>
          <a:lstStyle/>
          <a:p>
            <a:pPr indent="0" marL="0">
              <a:buNone/>
            </a:pPr>
            <a:r>
              <a:rPr lang="en-US" sz="1600" b="1" dirty="0">
                <a:solidFill>
                  <a:srgbClr val="F2A33C"/>
                </a:solidFill>
                <a:latin typeface="Cambria" pitchFamily="34" charset="0"/>
                <a:ea typeface="Cambria" pitchFamily="34" charset="-122"/>
                <a:cs typeface="Cambria" pitchFamily="34" charset="-120"/>
              </a:rPr>
              <a:t>3</a:t>
            </a:r>
            <a:endParaRPr lang="en-US" sz="1600" dirty="0"/>
          </a:p>
        </p:txBody>
      </p:sp>
      <p:sp>
        <p:nvSpPr>
          <p:cNvPr id="56" name="Text 54"/>
          <p:cNvSpPr txBox="1"/>
          <p:nvPr/>
        </p:nvSpPr>
        <p:spPr>
          <a:xfrm>
            <a:off x="5367528" y="5029200"/>
            <a:ext cx="1764792" cy="237744"/>
          </a:xfrm>
          <a:prstGeom prst="rect">
            <a:avLst/>
          </a:prstGeom>
          <a:noFill/>
          <a:ln/>
        </p:spPr>
        <p:txBody>
          <a:bodyPr wrap="square" lIns="0" tIns="0" rIns="0" bIns="0" rtlCol="0" anchor="ctr"/>
          <a:lstStyle/>
          <a:p>
            <a:pPr indent="0" marL="0">
              <a:buNone/>
            </a:pPr>
            <a:r>
              <a:rPr lang="en-US" sz="800" b="1" spc="60" kern="0" dirty="0">
                <a:solidFill>
                  <a:srgbClr val="8FB4BE"/>
                </a:solidFill>
                <a:latin typeface="Calibri" pitchFamily="34" charset="0"/>
                <a:ea typeface="Calibri" pitchFamily="34" charset="-122"/>
                <a:cs typeface="Calibri" pitchFamily="34" charset="-120"/>
              </a:rPr>
              <a:t>WEEKS 3–5</a:t>
            </a:r>
            <a:endParaRPr lang="en-US" sz="800" dirty="0"/>
          </a:p>
        </p:txBody>
      </p:sp>
      <p:sp>
        <p:nvSpPr>
          <p:cNvPr id="57" name="Text 55"/>
          <p:cNvSpPr txBox="1"/>
          <p:nvPr/>
        </p:nvSpPr>
        <p:spPr>
          <a:xfrm>
            <a:off x="5074920" y="5303520"/>
            <a:ext cx="2057400" cy="21945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Neutralise Rousseau</a:t>
            </a:r>
            <a:endParaRPr lang="en-US" sz="1050" dirty="0"/>
          </a:p>
        </p:txBody>
      </p:sp>
      <p:sp>
        <p:nvSpPr>
          <p:cNvPr id="58" name="Text 56"/>
          <p:cNvSpPr txBox="1"/>
          <p:nvPr/>
        </p:nvSpPr>
        <p:spPr>
          <a:xfrm>
            <a:off x="5074920" y="5559552"/>
            <a:ext cx="2057400" cy="457200"/>
          </a:xfrm>
          <a:prstGeom prst="rect">
            <a:avLst/>
          </a:prstGeom>
          <a:noFill/>
          <a:ln/>
        </p:spPr>
        <p:txBody>
          <a:bodyPr wrap="square" lIns="0" tIns="0" rIns="0" bIns="0" rtlCol="0" anchor="t"/>
          <a:lstStyle/>
          <a:p>
            <a:pPr indent="0" marL="0">
              <a:lnSpc>
                <a:spcPct val="103000"/>
              </a:lnSpc>
              <a:buNone/>
            </a:pPr>
            <a:r>
              <a:rPr lang="en-US" sz="900" dirty="0">
                <a:solidFill>
                  <a:srgbClr val="C9E2E8"/>
                </a:solidFill>
                <a:latin typeface="Calibri" pitchFamily="34" charset="0"/>
                <a:ea typeface="Calibri" pitchFamily="34" charset="-122"/>
                <a:cs typeface="Calibri" pitchFamily="34" charset="-120"/>
              </a:rPr>
              <a:t>His technicians, our uptime record, on his terms.</a:t>
            </a:r>
            <a:endParaRPr lang="en-US" sz="900" dirty="0"/>
          </a:p>
        </p:txBody>
      </p:sp>
      <p:sp>
        <p:nvSpPr>
          <p:cNvPr id="59" name="Text 57"/>
          <p:cNvSpPr txBox="1"/>
          <p:nvPr/>
        </p:nvSpPr>
        <p:spPr>
          <a:xfrm>
            <a:off x="5074920" y="6053328"/>
            <a:ext cx="2057400" cy="292608"/>
          </a:xfrm>
          <a:prstGeom prst="rect">
            <a:avLst/>
          </a:prstGeom>
          <a:noFill/>
          <a:ln/>
        </p:spPr>
        <p:txBody>
          <a:bodyPr wrap="square" lIns="0" tIns="0" rIns="0" bIns="0" rtlCol="0" anchor="t"/>
          <a:lstStyle/>
          <a:p>
            <a:pPr indent="0" marL="0">
              <a:lnSpc>
                <a:spcPct val="100000"/>
              </a:lnSpc>
              <a:buNone/>
            </a:pPr>
            <a:r>
              <a:rPr lang="en-US" sz="750" b="1" dirty="0">
                <a:solidFill>
                  <a:srgbClr val="F0736C"/>
                </a:solidFill>
                <a:latin typeface="Calibri" pitchFamily="34" charset="0"/>
                <a:ea typeface="Calibri" pitchFamily="34" charset="-122"/>
                <a:cs typeface="Calibri" pitchFamily="34" charset="-120"/>
              </a:rPr>
              <a:t>→ CHANGES NO TEXT — IT PROTECTS THE OTHER FOUR</a:t>
            </a:r>
            <a:endParaRPr lang="en-US" sz="750" dirty="0"/>
          </a:p>
        </p:txBody>
      </p:sp>
      <p:sp>
        <p:nvSpPr>
          <p:cNvPr id="60" name="Text 58"/>
          <p:cNvSpPr txBox="1"/>
          <p:nvPr/>
        </p:nvSpPr>
        <p:spPr>
          <a:xfrm>
            <a:off x="7269480" y="5029200"/>
            <a:ext cx="256032" cy="237744"/>
          </a:xfrm>
          <a:prstGeom prst="rect">
            <a:avLst/>
          </a:prstGeom>
          <a:noFill/>
          <a:ln/>
        </p:spPr>
        <p:txBody>
          <a:bodyPr wrap="square" lIns="0" tIns="0" rIns="0" bIns="0" rtlCol="0" anchor="ctr"/>
          <a:lstStyle/>
          <a:p>
            <a:pPr indent="0" marL="0">
              <a:buNone/>
            </a:pPr>
            <a:r>
              <a:rPr lang="en-US" sz="1600" b="1" dirty="0">
                <a:solidFill>
                  <a:srgbClr val="F2A33C"/>
                </a:solidFill>
                <a:latin typeface="Cambria" pitchFamily="34" charset="0"/>
                <a:ea typeface="Cambria" pitchFamily="34" charset="-122"/>
                <a:cs typeface="Cambria" pitchFamily="34" charset="-120"/>
              </a:rPr>
              <a:t>4</a:t>
            </a:r>
            <a:endParaRPr lang="en-US" sz="1600" dirty="0"/>
          </a:p>
        </p:txBody>
      </p:sp>
      <p:sp>
        <p:nvSpPr>
          <p:cNvPr id="61" name="Text 59"/>
          <p:cNvSpPr txBox="1"/>
          <p:nvPr/>
        </p:nvSpPr>
        <p:spPr>
          <a:xfrm>
            <a:off x="7562088" y="5029200"/>
            <a:ext cx="1764792" cy="237744"/>
          </a:xfrm>
          <a:prstGeom prst="rect">
            <a:avLst/>
          </a:prstGeom>
          <a:noFill/>
          <a:ln/>
        </p:spPr>
        <p:txBody>
          <a:bodyPr wrap="square" lIns="0" tIns="0" rIns="0" bIns="0" rtlCol="0" anchor="ctr"/>
          <a:lstStyle/>
          <a:p>
            <a:pPr indent="0" marL="0">
              <a:buNone/>
            </a:pPr>
            <a:r>
              <a:rPr lang="en-US" sz="800" b="1" spc="60" kern="0" dirty="0">
                <a:solidFill>
                  <a:srgbClr val="8FB4BE"/>
                </a:solidFill>
                <a:latin typeface="Calibri" pitchFamily="34" charset="0"/>
                <a:ea typeface="Calibri" pitchFamily="34" charset="-122"/>
                <a:cs typeface="Calibri" pitchFamily="34" charset="-120"/>
              </a:rPr>
              <a:t>WEEKS 4–6</a:t>
            </a:r>
            <a:endParaRPr lang="en-US" sz="800" dirty="0"/>
          </a:p>
        </p:txBody>
      </p:sp>
      <p:sp>
        <p:nvSpPr>
          <p:cNvPr id="62" name="Text 60"/>
          <p:cNvSpPr txBox="1"/>
          <p:nvPr/>
        </p:nvSpPr>
        <p:spPr>
          <a:xfrm>
            <a:off x="7269480" y="5303520"/>
            <a:ext cx="2057400" cy="21945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Re-base Beck’s economics</a:t>
            </a:r>
            <a:endParaRPr lang="en-US" sz="1050" dirty="0"/>
          </a:p>
        </p:txBody>
      </p:sp>
      <p:sp>
        <p:nvSpPr>
          <p:cNvPr id="63" name="Text 61"/>
          <p:cNvSpPr txBox="1"/>
          <p:nvPr/>
        </p:nvSpPr>
        <p:spPr>
          <a:xfrm>
            <a:off x="7269480" y="5559552"/>
            <a:ext cx="2057400" cy="457200"/>
          </a:xfrm>
          <a:prstGeom prst="rect">
            <a:avLst/>
          </a:prstGeom>
          <a:noFill/>
          <a:ln/>
        </p:spPr>
        <p:txBody>
          <a:bodyPr wrap="square" lIns="0" tIns="0" rIns="0" bIns="0" rtlCol="0" anchor="t"/>
          <a:lstStyle/>
          <a:p>
            <a:pPr indent="0" marL="0">
              <a:lnSpc>
                <a:spcPct val="103000"/>
              </a:lnSpc>
              <a:buNone/>
            </a:pPr>
            <a:r>
              <a:rPr lang="en-US" sz="900" dirty="0">
                <a:solidFill>
                  <a:srgbClr val="C9E2E8"/>
                </a:solidFill>
                <a:latin typeface="Calibri" pitchFamily="34" charset="0"/>
                <a:ea typeface="Calibri" pitchFamily="34" charset="-122"/>
                <a:cs typeface="Calibri" pitchFamily="34" charset="-120"/>
              </a:rPr>
              <a:t>Cost per outlet-day over five years, not price per unit.</a:t>
            </a:r>
            <a:endParaRPr lang="en-US" sz="900" dirty="0"/>
          </a:p>
        </p:txBody>
      </p:sp>
      <p:sp>
        <p:nvSpPr>
          <p:cNvPr id="64" name="Text 62"/>
          <p:cNvSpPr txBox="1"/>
          <p:nvPr/>
        </p:nvSpPr>
        <p:spPr>
          <a:xfrm>
            <a:off x="7269480" y="6053328"/>
            <a:ext cx="2057400" cy="292608"/>
          </a:xfrm>
          <a:prstGeom prst="rect">
            <a:avLst/>
          </a:prstGeom>
          <a:noFill/>
          <a:ln/>
        </p:spPr>
        <p:txBody>
          <a:bodyPr wrap="square" lIns="0" tIns="0" rIns="0" bIns="0" rtlCol="0" anchor="t"/>
          <a:lstStyle/>
          <a:p>
            <a:pPr indent="0" marL="0">
              <a:lnSpc>
                <a:spcPct val="100000"/>
              </a:lnSpc>
              <a:buNone/>
            </a:pPr>
            <a:r>
              <a:rPr lang="en-US" sz="750" b="1" dirty="0">
                <a:solidFill>
                  <a:srgbClr val="5AD9B3"/>
                </a:solidFill>
                <a:latin typeface="Calibri" pitchFamily="34" charset="0"/>
                <a:ea typeface="Calibri" pitchFamily="34" charset="-122"/>
                <a:cs typeface="Calibri" pitchFamily="34" charset="-120"/>
              </a:rPr>
              <a:t>→ MOVES THE EVALUATION TO FIVE-YEAR COST</a:t>
            </a:r>
            <a:endParaRPr lang="en-US" sz="750" dirty="0"/>
          </a:p>
        </p:txBody>
      </p:sp>
      <p:sp>
        <p:nvSpPr>
          <p:cNvPr id="65" name="Text 63"/>
          <p:cNvSpPr txBox="1"/>
          <p:nvPr/>
        </p:nvSpPr>
        <p:spPr>
          <a:xfrm>
            <a:off x="9464040" y="5029200"/>
            <a:ext cx="256032" cy="237744"/>
          </a:xfrm>
          <a:prstGeom prst="rect">
            <a:avLst/>
          </a:prstGeom>
          <a:noFill/>
          <a:ln/>
        </p:spPr>
        <p:txBody>
          <a:bodyPr wrap="square" lIns="0" tIns="0" rIns="0" bIns="0" rtlCol="0" anchor="ctr"/>
          <a:lstStyle/>
          <a:p>
            <a:pPr indent="0" marL="0">
              <a:buNone/>
            </a:pPr>
            <a:r>
              <a:rPr lang="en-US" sz="1600" b="1" dirty="0">
                <a:solidFill>
                  <a:srgbClr val="F2A33C"/>
                </a:solidFill>
                <a:latin typeface="Cambria" pitchFamily="34" charset="0"/>
                <a:ea typeface="Cambria" pitchFamily="34" charset="-122"/>
                <a:cs typeface="Cambria" pitchFamily="34" charset="-120"/>
              </a:rPr>
              <a:t>5</a:t>
            </a:r>
            <a:endParaRPr lang="en-US" sz="1600" dirty="0"/>
          </a:p>
        </p:txBody>
      </p:sp>
      <p:sp>
        <p:nvSpPr>
          <p:cNvPr id="66" name="Text 64"/>
          <p:cNvSpPr txBox="1"/>
          <p:nvPr/>
        </p:nvSpPr>
        <p:spPr>
          <a:xfrm>
            <a:off x="9756648" y="5029200"/>
            <a:ext cx="1764792" cy="237744"/>
          </a:xfrm>
          <a:prstGeom prst="rect">
            <a:avLst/>
          </a:prstGeom>
          <a:noFill/>
          <a:ln/>
        </p:spPr>
        <p:txBody>
          <a:bodyPr wrap="square" lIns="0" tIns="0" rIns="0" bIns="0" rtlCol="0" anchor="ctr"/>
          <a:lstStyle/>
          <a:p>
            <a:pPr indent="0" marL="0">
              <a:buNone/>
            </a:pPr>
            <a:r>
              <a:rPr lang="en-US" sz="800" b="1" spc="60" kern="0" dirty="0">
                <a:solidFill>
                  <a:srgbClr val="8FB4BE"/>
                </a:solidFill>
                <a:latin typeface="Calibri" pitchFamily="34" charset="0"/>
                <a:ea typeface="Calibri" pitchFamily="34" charset="-122"/>
                <a:cs typeface="Calibri" pitchFamily="34" charset="-120"/>
              </a:rPr>
              <a:t>WEEKS 6–8</a:t>
            </a:r>
            <a:endParaRPr lang="en-US" sz="800" dirty="0"/>
          </a:p>
        </p:txBody>
      </p:sp>
      <p:sp>
        <p:nvSpPr>
          <p:cNvPr id="67" name="Text 65"/>
          <p:cNvSpPr txBox="1"/>
          <p:nvPr/>
        </p:nvSpPr>
        <p:spPr>
          <a:xfrm>
            <a:off x="9464040" y="5303520"/>
            <a:ext cx="2057400" cy="21945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Sanchez, and Haddad early</a:t>
            </a:r>
            <a:endParaRPr lang="en-US" sz="1050" dirty="0"/>
          </a:p>
        </p:txBody>
      </p:sp>
      <p:sp>
        <p:nvSpPr>
          <p:cNvPr id="68" name="Text 66"/>
          <p:cNvSpPr txBox="1"/>
          <p:nvPr/>
        </p:nvSpPr>
        <p:spPr>
          <a:xfrm>
            <a:off x="9464040" y="5559552"/>
            <a:ext cx="2057400" cy="457200"/>
          </a:xfrm>
          <a:prstGeom prst="rect">
            <a:avLst/>
          </a:prstGeom>
          <a:noFill/>
          <a:ln/>
        </p:spPr>
        <p:txBody>
          <a:bodyPr wrap="square" lIns="0" tIns="0" rIns="0" bIns="0" rtlCol="0" anchor="t"/>
          <a:lstStyle/>
          <a:p>
            <a:pPr indent="0" marL="0">
              <a:lnSpc>
                <a:spcPct val="103000"/>
              </a:lnSpc>
              <a:buNone/>
            </a:pPr>
            <a:r>
              <a:rPr lang="en-US" sz="900" dirty="0">
                <a:solidFill>
                  <a:srgbClr val="C9E2E8"/>
                </a:solidFill>
                <a:latin typeface="Calibri" pitchFamily="34" charset="0"/>
                <a:ea typeface="Calibri" pitchFamily="34" charset="-122"/>
                <a:cs typeface="Calibri" pitchFamily="34" charset="-120"/>
              </a:rPr>
              <a:t>Bidder list, Q&amp;A rules, data terms before Legal blocks.</a:t>
            </a:r>
            <a:endParaRPr lang="en-US" sz="900" dirty="0"/>
          </a:p>
        </p:txBody>
      </p:sp>
      <p:sp>
        <p:nvSpPr>
          <p:cNvPr id="69" name="Text 67"/>
          <p:cNvSpPr txBox="1"/>
          <p:nvPr/>
        </p:nvSpPr>
        <p:spPr>
          <a:xfrm>
            <a:off x="9464040" y="6053328"/>
            <a:ext cx="2057400" cy="292608"/>
          </a:xfrm>
          <a:prstGeom prst="rect">
            <a:avLst/>
          </a:prstGeom>
          <a:noFill/>
          <a:ln/>
        </p:spPr>
        <p:txBody>
          <a:bodyPr wrap="square" lIns="0" tIns="0" rIns="0" bIns="0" rtlCol="0" anchor="t"/>
          <a:lstStyle/>
          <a:p>
            <a:pPr indent="0" marL="0">
              <a:lnSpc>
                <a:spcPct val="100000"/>
              </a:lnSpc>
              <a:buNone/>
            </a:pPr>
            <a:r>
              <a:rPr lang="en-US" sz="750" b="1" dirty="0">
                <a:solidFill>
                  <a:srgbClr val="5AD9B3"/>
                </a:solidFill>
                <a:latin typeface="Calibri" pitchFamily="34" charset="0"/>
                <a:ea typeface="Calibri" pitchFamily="34" charset="-122"/>
                <a:cs typeface="Calibri" pitchFamily="34" charset="-120"/>
              </a:rPr>
              <a:t>→ THE TEXT, THE WEIGHTS, AND WHO ANSWERS</a:t>
            </a:r>
            <a:endParaRPr lang="en-US" sz="750" dirty="0"/>
          </a:p>
        </p:txBody>
      </p:sp>
      <p:sp>
        <p:nvSpPr>
          <p:cNvPr id="70" name="Text 68"/>
          <p:cNvSpPr txBox="1"/>
          <p:nvPr/>
        </p:nvSpPr>
        <p:spPr>
          <a:xfrm>
            <a:off x="502920" y="6510528"/>
            <a:ext cx="11201400" cy="201168"/>
          </a:xfrm>
          <a:prstGeom prst="rect">
            <a:avLst/>
          </a:prstGeom>
          <a:noFill/>
          <a:ln/>
        </p:spPr>
        <p:txBody>
          <a:bodyPr wrap="square" lIns="0" tIns="0" rIns="0" bIns="0" rtlCol="0" anchor="ctr"/>
          <a:lstStyle/>
          <a:p>
            <a:pPr indent="0" marL="0">
              <a:buNone/>
            </a:pPr>
            <a:r>
              <a:rPr lang="en-US" sz="700" dirty="0">
                <a:solidFill>
                  <a:srgbClr val="8FB4BE"/>
                </a:solidFill>
                <a:latin typeface="Calibri" pitchFamily="34" charset="0"/>
                <a:ea typeface="Calibri" pitchFamily="34" charset="-122"/>
                <a:cs typeface="Calibri" pitchFamily="34" charset="-120"/>
              </a:rPr>
              <a:t>Porter (1980) · Chen (1996) · Zahra &amp; Chaples (1993) · Webster &amp; Wind (1972) · Kohli (1989) · Ronchetto, Hutt &amp; Reingen (1989) · Mitchell, Agle &amp; Wood (1997)</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ABP Project — Complex Sales</dc:title>
  <dc:subject>PptxGenJS Presentation</dc:subject>
  <dc:creator>M2 NDC — EMLV</dc:creator>
  <cp:lastModifiedBy>M2 NDC — EMLV</cp:lastModifiedBy>
  <cp:revision>1</cp:revision>
  <dcterms:created xsi:type="dcterms:W3CDTF">2026-09-09T15:12:14Z</dcterms:created>
  <dcterms:modified xsi:type="dcterms:W3CDTF">2026-09-09T15:12:14Z</dcterms:modified>
</cp:coreProperties>
</file>